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1AC8FF-7A0B-68BE-C4D3-9A1FC2793254}" v="16" dt="2026-10-26T16:35:40.6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rnandez Luis, Eduardo" userId="S::ehernandezluis@deloitte.es::0a99f274-68c5-4121-9942-fd1fd512d02c" providerId="AD" clId="Web-{371AC8FF-7A0B-68BE-C4D3-9A1FC2793254}"/>
    <pc:docChg chg="modSld">
      <pc:chgData name="Hernandez Luis, Eduardo" userId="S::ehernandezluis@deloitte.es::0a99f274-68c5-4121-9942-fd1fd512d02c" providerId="AD" clId="Web-{371AC8FF-7A0B-68BE-C4D3-9A1FC2793254}" dt="2026-10-26T16:35:40.606" v="15" actId="20577"/>
      <pc:docMkLst>
        <pc:docMk/>
      </pc:docMkLst>
      <pc:sldChg chg="modSp">
        <pc:chgData name="Hernandez Luis, Eduardo" userId="S::ehernandezluis@deloitte.es::0a99f274-68c5-4121-9942-fd1fd512d02c" providerId="AD" clId="Web-{371AC8FF-7A0B-68BE-C4D3-9A1FC2793254}" dt="2026-10-26T16:35:40.606" v="15" actId="20577"/>
        <pc:sldMkLst>
          <pc:docMk/>
          <pc:sldMk cId="0" sldId="260"/>
        </pc:sldMkLst>
        <pc:spChg chg="mod">
          <ac:chgData name="Hernandez Luis, Eduardo" userId="S::ehernandezluis@deloitte.es::0a99f274-68c5-4121-9942-fd1fd512d02c" providerId="AD" clId="Web-{371AC8FF-7A0B-68BE-C4D3-9A1FC2793254}" dt="2026-10-26T16:35:40.606" v="15" actId="20577"/>
          <ac:spMkLst>
            <pc:docMk/>
            <pc:sldMk cId="0" sldId="260"/>
            <ac:spMk id="2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6510528"/>
            <a:ext cx="11356848" cy="0"/>
          </a:xfrm>
          <a:prstGeom prst="line">
            <a:avLst/>
          </a:prstGeom>
          <a:noFill/>
          <a:ln w="7620">
            <a:solidFill>
              <a:srgbClr val="D9D9D9"/>
            </a:solidFill>
            <a:prstDash val="solid"/>
          </a:ln>
        </p:spPr>
      </p:sp>
      <p:sp>
        <p:nvSpPr>
          <p:cNvPr id="3" name="Text 1"/>
          <p:cNvSpPr/>
          <p:nvPr/>
        </p:nvSpPr>
        <p:spPr>
          <a:xfrm>
            <a:off x="502920" y="6565392"/>
            <a:ext cx="4114800" cy="164592"/>
          </a:xfrm>
          <a:prstGeom prst="rect">
            <a:avLst/>
          </a:prstGeom>
          <a:noFill/>
          <a:ln/>
        </p:spPr>
        <p:txBody>
          <a:bodyPr wrap="square" lIns="0" tIns="0" rIns="0" bIns="0" rtlCol="0" anchor="ctr"/>
          <a:lstStyle/>
          <a:p>
            <a:pPr marL="0" indent="0">
              <a:buNone/>
            </a:pPr>
            <a:r>
              <a:rPr lang="en-US" sz="750" dirty="0">
                <a:solidFill>
                  <a:srgbClr val="666666"/>
                </a:solidFill>
                <a:latin typeface="Aptos" pitchFamily="34" charset="0"/>
                <a:ea typeface="Aptos" pitchFamily="34" charset="-122"/>
                <a:cs typeface="Aptos" pitchFamily="34" charset="-120"/>
              </a:rPr>
              <a:t>Finance Maturity Assessment</a:t>
            </a:r>
            <a:endParaRPr lang="en-US" sz="750" dirty="0"/>
          </a:p>
        </p:txBody>
      </p:sp>
      <p:sp>
        <p:nvSpPr>
          <p:cNvPr id="4" name="Text 2"/>
          <p:cNvSpPr/>
          <p:nvPr/>
        </p:nvSpPr>
        <p:spPr>
          <a:xfrm>
            <a:off x="9875520" y="6565392"/>
            <a:ext cx="1600200" cy="164592"/>
          </a:xfrm>
          <a:prstGeom prst="rect">
            <a:avLst/>
          </a:prstGeom>
          <a:noFill/>
          <a:ln/>
        </p:spPr>
        <p:txBody>
          <a:bodyPr wrap="square" lIns="0" tIns="0" rIns="0" bIns="0" rtlCol="0" anchor="ctr"/>
          <a:lstStyle/>
          <a:p>
            <a:pPr marL="0" indent="0" algn="r">
              <a:buNone/>
            </a:pPr>
            <a:r>
              <a:rPr lang="en-US" sz="750" dirty="0">
                <a:solidFill>
                  <a:srgbClr val="666666"/>
                </a:solidFill>
                <a:latin typeface="Aptos" pitchFamily="34" charset="0"/>
                <a:ea typeface="Aptos" pitchFamily="34" charset="-122"/>
                <a:cs typeface="Aptos" pitchFamily="34" charset="-120"/>
              </a:rPr>
              <a:t>Finance Strategy</a:t>
            </a:r>
            <a:endParaRPr lang="en-US" sz="750" dirty="0"/>
          </a:p>
        </p:txBody>
      </p:sp>
      <p:sp>
        <p:nvSpPr>
          <p:cNvPr id="25" name="Slide Number Placeholder 0"/>
          <p:cNvSpPr>
            <a:spLocks noGrp="1"/>
          </p:cNvSpPr>
          <p:nvPr>
            <p:ph type="sldNum" sz="quarter" idx="4294967295"/>
          </p:nvPr>
        </p:nvSpPr>
        <p:spPr>
          <a:xfrm>
            <a:off x="11686032" y="6537960"/>
            <a:ext cx="201168"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66666"/>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537960"/>
            <a:ext cx="201168"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66666"/>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201168" cy="6858000"/>
          </a:xfrm>
          <a:prstGeom prst="rect">
            <a:avLst/>
          </a:prstGeom>
          <a:solidFill>
            <a:srgbClr val="86BC25"/>
          </a:solidFill>
          <a:ln w="12700">
            <a:solidFill>
              <a:srgbClr val="86BC25"/>
            </a:solidFill>
            <a:prstDash val="solid"/>
          </a:ln>
        </p:spPr>
      </p:sp>
      <p:sp>
        <p:nvSpPr>
          <p:cNvPr id="3" name="Text 1"/>
          <p:cNvSpPr/>
          <p:nvPr/>
        </p:nvSpPr>
        <p:spPr>
          <a:xfrm>
            <a:off x="685800" y="704088"/>
            <a:ext cx="4297680" cy="228600"/>
          </a:xfrm>
          <a:prstGeom prst="rect">
            <a:avLst/>
          </a:prstGeom>
          <a:noFill/>
          <a:ln/>
        </p:spPr>
        <p:txBody>
          <a:bodyPr wrap="square" lIns="0" tIns="0" rIns="0" bIns="0" rtlCol="0" anchor="ctr"/>
          <a:lstStyle/>
          <a:p>
            <a:pPr marL="0" indent="0">
              <a:buNone/>
            </a:pPr>
            <a:r>
              <a:rPr lang="en-US" sz="1200" b="1" kern="0" spc="120" dirty="0">
                <a:solidFill>
                  <a:srgbClr val="86BC25"/>
                </a:solidFill>
              </a:rPr>
              <a:t>FINANCE MATURITY ASSESSMENT</a:t>
            </a:r>
            <a:endParaRPr lang="en-US" sz="1200" dirty="0"/>
          </a:p>
        </p:txBody>
      </p:sp>
      <p:sp>
        <p:nvSpPr>
          <p:cNvPr id="4" name="Text 2"/>
          <p:cNvSpPr/>
          <p:nvPr/>
        </p:nvSpPr>
        <p:spPr>
          <a:xfrm>
            <a:off x="685800" y="1170432"/>
            <a:ext cx="6766560" cy="1005840"/>
          </a:xfrm>
          <a:prstGeom prst="rect">
            <a:avLst/>
          </a:prstGeom>
          <a:noFill/>
          <a:ln/>
        </p:spPr>
        <p:txBody>
          <a:bodyPr wrap="square" lIns="0" tIns="0" rIns="0" bIns="0" rtlCol="0" anchor="ctr">
            <a:normAutofit/>
          </a:bodyPr>
          <a:lstStyle/>
          <a:p>
            <a:pPr marL="0" indent="0">
              <a:buNone/>
            </a:pPr>
            <a:r>
              <a:rPr lang="en-US" sz="3100" b="1" dirty="0">
                <a:solidFill>
                  <a:srgbClr val="1F1F1F"/>
                </a:solidFill>
                <a:latin typeface="Aptos Display" pitchFamily="34" charset="0"/>
                <a:ea typeface="Aptos Display" pitchFamily="34" charset="-122"/>
                <a:cs typeface="Aptos Display" pitchFamily="34" charset="-120"/>
              </a:rPr>
              <a:t>Enfoque metodológico para las sesiones de assessment</a:t>
            </a:r>
            <a:endParaRPr lang="en-US" sz="3100" dirty="0"/>
          </a:p>
        </p:txBody>
      </p:sp>
      <p:sp>
        <p:nvSpPr>
          <p:cNvPr id="5" name="Text 3"/>
          <p:cNvSpPr/>
          <p:nvPr/>
        </p:nvSpPr>
        <p:spPr>
          <a:xfrm>
            <a:off x="694944" y="2395728"/>
            <a:ext cx="6309360" cy="640080"/>
          </a:xfrm>
          <a:prstGeom prst="rect">
            <a:avLst/>
          </a:prstGeom>
          <a:noFill/>
          <a:ln/>
        </p:spPr>
        <p:txBody>
          <a:bodyPr wrap="square" lIns="0" tIns="0" rIns="0" bIns="0" rtlCol="0" anchor="ctr"/>
          <a:lstStyle/>
          <a:p>
            <a:pPr marL="0" indent="0">
              <a:buNone/>
            </a:pPr>
            <a:r>
              <a:rPr lang="en-US" sz="1700" dirty="0">
                <a:solidFill>
                  <a:srgbClr val="666666"/>
                </a:solidFill>
              </a:rPr>
              <a:t>Preparación informada, scoring consensuado en sesión y formalización posterior</a:t>
            </a:r>
            <a:endParaRPr lang="en-US" sz="1700" dirty="0"/>
          </a:p>
        </p:txBody>
      </p:sp>
      <p:sp>
        <p:nvSpPr>
          <p:cNvPr id="6" name="Shape 4"/>
          <p:cNvSpPr/>
          <p:nvPr/>
        </p:nvSpPr>
        <p:spPr>
          <a:xfrm>
            <a:off x="822960" y="3675888"/>
            <a:ext cx="2788920" cy="1572768"/>
          </a:xfrm>
          <a:prstGeom prst="roundRect">
            <a:avLst>
              <a:gd name="adj" fmla="val 3488"/>
            </a:avLst>
          </a:prstGeom>
          <a:solidFill>
            <a:srgbClr val="F7F7F7"/>
          </a:solidFill>
          <a:ln w="10160">
            <a:solidFill>
              <a:srgbClr val="D9D9D9"/>
            </a:solidFill>
            <a:prstDash val="solid"/>
          </a:ln>
          <a:effectLst>
            <a:outerShdw blurRad="19050" dist="9525" dir="2700000" algn="bl" rotWithShape="0">
              <a:srgbClr val="000000">
                <a:alpha val="14000"/>
              </a:srgbClr>
            </a:outerShdw>
          </a:effectLst>
        </p:spPr>
      </p:sp>
      <p:sp>
        <p:nvSpPr>
          <p:cNvPr id="7" name="Text 5"/>
          <p:cNvSpPr/>
          <p:nvPr/>
        </p:nvSpPr>
        <p:spPr>
          <a:xfrm>
            <a:off x="1051560" y="3877056"/>
            <a:ext cx="2331720" cy="228600"/>
          </a:xfrm>
          <a:prstGeom prst="rect">
            <a:avLst/>
          </a:prstGeom>
          <a:noFill/>
          <a:ln/>
        </p:spPr>
        <p:txBody>
          <a:bodyPr wrap="square" lIns="0" tIns="0" rIns="0" bIns="0" rtlCol="0" anchor="ctr"/>
          <a:lstStyle/>
          <a:p>
            <a:pPr marL="0" indent="0" algn="ctr">
              <a:buNone/>
            </a:pPr>
            <a:r>
              <a:rPr lang="en-US" sz="1300" b="1" dirty="0">
                <a:solidFill>
                  <a:srgbClr val="1F1F1F"/>
                </a:solidFill>
              </a:rPr>
              <a:t>PRE-WORK</a:t>
            </a:r>
            <a:endParaRPr lang="en-US" sz="1300" dirty="0"/>
          </a:p>
        </p:txBody>
      </p:sp>
      <p:sp>
        <p:nvSpPr>
          <p:cNvPr id="8" name="Text 6"/>
          <p:cNvSpPr/>
          <p:nvPr/>
        </p:nvSpPr>
        <p:spPr>
          <a:xfrm>
            <a:off x="1051560" y="4242816"/>
            <a:ext cx="2331720" cy="713232"/>
          </a:xfrm>
          <a:prstGeom prst="rect">
            <a:avLst/>
          </a:prstGeom>
          <a:noFill/>
          <a:ln/>
        </p:spPr>
        <p:txBody>
          <a:bodyPr wrap="square" lIns="0" tIns="0" rIns="0" bIns="0" rtlCol="0" anchor="ctr"/>
          <a:lstStyle/>
          <a:p>
            <a:pPr marL="0" indent="0" algn="ctr">
              <a:buNone/>
            </a:pPr>
            <a:r>
              <a:rPr lang="en-US" sz="1040" dirty="0">
                <a:solidFill>
                  <a:srgbClr val="666666"/>
                </a:solidFill>
              </a:rPr>
              <a:t>Solicitar y estudiar documentación del cliente para construir una hipótesis informada y una guía orientativa de tiempos.</a:t>
            </a:r>
            <a:endParaRPr lang="en-US" sz="1040" dirty="0"/>
          </a:p>
        </p:txBody>
      </p:sp>
      <p:sp>
        <p:nvSpPr>
          <p:cNvPr id="9" name="Shape 7"/>
          <p:cNvSpPr/>
          <p:nvPr/>
        </p:nvSpPr>
        <p:spPr>
          <a:xfrm>
            <a:off x="3794760" y="4279392"/>
            <a:ext cx="502920" cy="347472"/>
          </a:xfrm>
          <a:prstGeom prst="chevron">
            <a:avLst/>
          </a:prstGeom>
          <a:solidFill>
            <a:srgbClr val="86BC25"/>
          </a:solidFill>
          <a:ln w="12700">
            <a:solidFill>
              <a:srgbClr val="86BC25"/>
            </a:solidFill>
            <a:prstDash val="solid"/>
          </a:ln>
        </p:spPr>
      </p:sp>
      <p:sp>
        <p:nvSpPr>
          <p:cNvPr id="10" name="Shape 8"/>
          <p:cNvSpPr/>
          <p:nvPr/>
        </p:nvSpPr>
        <p:spPr>
          <a:xfrm>
            <a:off x="4297680" y="3675888"/>
            <a:ext cx="2788920" cy="1572768"/>
          </a:xfrm>
          <a:prstGeom prst="roundRect">
            <a:avLst>
              <a:gd name="adj" fmla="val 3488"/>
            </a:avLst>
          </a:prstGeom>
          <a:solidFill>
            <a:srgbClr val="F2F7E9"/>
          </a:solidFill>
          <a:ln w="20320">
            <a:solidFill>
              <a:srgbClr val="86BC25"/>
            </a:solidFill>
            <a:prstDash val="solid"/>
          </a:ln>
          <a:effectLst/>
        </p:spPr>
      </p:sp>
      <p:sp>
        <p:nvSpPr>
          <p:cNvPr id="11" name="Text 9"/>
          <p:cNvSpPr/>
          <p:nvPr/>
        </p:nvSpPr>
        <p:spPr>
          <a:xfrm>
            <a:off x="4526280" y="3877056"/>
            <a:ext cx="2331720" cy="228600"/>
          </a:xfrm>
          <a:prstGeom prst="rect">
            <a:avLst/>
          </a:prstGeom>
          <a:noFill/>
          <a:ln/>
        </p:spPr>
        <p:txBody>
          <a:bodyPr wrap="square" lIns="0" tIns="0" rIns="0" bIns="0" rtlCol="0" anchor="ctr"/>
          <a:lstStyle/>
          <a:p>
            <a:pPr marL="0" indent="0" algn="ctr">
              <a:buNone/>
            </a:pPr>
            <a:r>
              <a:rPr lang="en-US" sz="1300" b="1" dirty="0">
                <a:solidFill>
                  <a:srgbClr val="86BC25"/>
                </a:solidFill>
              </a:rPr>
              <a:t>SESIÓN</a:t>
            </a:r>
            <a:endParaRPr lang="en-US" sz="1300" dirty="0"/>
          </a:p>
        </p:txBody>
      </p:sp>
      <p:sp>
        <p:nvSpPr>
          <p:cNvPr id="12" name="Text 10"/>
          <p:cNvSpPr/>
          <p:nvPr/>
        </p:nvSpPr>
        <p:spPr>
          <a:xfrm>
            <a:off x="4526280" y="4242816"/>
            <a:ext cx="2331720" cy="713232"/>
          </a:xfrm>
          <a:prstGeom prst="rect">
            <a:avLst/>
          </a:prstGeom>
          <a:noFill/>
          <a:ln/>
        </p:spPr>
        <p:txBody>
          <a:bodyPr wrap="square" lIns="0" tIns="0" rIns="0" bIns="0" rtlCol="0" anchor="ctr"/>
          <a:lstStyle/>
          <a:p>
            <a:pPr marL="0" indent="0" algn="ctr">
              <a:buNone/>
            </a:pPr>
            <a:r>
              <a:rPr lang="en-US" sz="1040" dirty="0">
                <a:solidFill>
                  <a:srgbClr val="666666"/>
                </a:solidFill>
              </a:rPr>
              <a:t>Utilizar el acelerador para discutir y puntuar cada subcapacidad con criterios, evidencias y consenso.</a:t>
            </a:r>
            <a:endParaRPr lang="en-US" sz="1040" dirty="0"/>
          </a:p>
        </p:txBody>
      </p:sp>
      <p:sp>
        <p:nvSpPr>
          <p:cNvPr id="13" name="Shape 11"/>
          <p:cNvSpPr/>
          <p:nvPr/>
        </p:nvSpPr>
        <p:spPr>
          <a:xfrm>
            <a:off x="7269480" y="4279392"/>
            <a:ext cx="502920" cy="347472"/>
          </a:xfrm>
          <a:prstGeom prst="chevron">
            <a:avLst/>
          </a:prstGeom>
          <a:solidFill>
            <a:srgbClr val="86BC25"/>
          </a:solidFill>
          <a:ln w="12700">
            <a:solidFill>
              <a:srgbClr val="86BC25"/>
            </a:solidFill>
            <a:prstDash val="solid"/>
          </a:ln>
        </p:spPr>
      </p:sp>
      <p:sp>
        <p:nvSpPr>
          <p:cNvPr id="14" name="Shape 12"/>
          <p:cNvSpPr/>
          <p:nvPr/>
        </p:nvSpPr>
        <p:spPr>
          <a:xfrm>
            <a:off x="7772400" y="3675888"/>
            <a:ext cx="2788920" cy="1572768"/>
          </a:xfrm>
          <a:prstGeom prst="roundRect">
            <a:avLst>
              <a:gd name="adj" fmla="val 3488"/>
            </a:avLst>
          </a:prstGeom>
          <a:solidFill>
            <a:srgbClr val="F7F7F7"/>
          </a:solidFill>
          <a:ln w="10160">
            <a:solidFill>
              <a:srgbClr val="D9D9D9"/>
            </a:solidFill>
            <a:prstDash val="solid"/>
          </a:ln>
          <a:effectLst/>
        </p:spPr>
      </p:sp>
      <p:sp>
        <p:nvSpPr>
          <p:cNvPr id="15" name="Text 13"/>
          <p:cNvSpPr/>
          <p:nvPr/>
        </p:nvSpPr>
        <p:spPr>
          <a:xfrm>
            <a:off x="8001000" y="3877056"/>
            <a:ext cx="2331720" cy="228600"/>
          </a:xfrm>
          <a:prstGeom prst="rect">
            <a:avLst/>
          </a:prstGeom>
          <a:noFill/>
          <a:ln/>
        </p:spPr>
        <p:txBody>
          <a:bodyPr wrap="square" lIns="0" tIns="0" rIns="0" bIns="0" rtlCol="0" anchor="ctr"/>
          <a:lstStyle/>
          <a:p>
            <a:pPr marL="0" indent="0" algn="ctr">
              <a:buNone/>
            </a:pPr>
            <a:r>
              <a:rPr lang="en-US" sz="1300" b="1" dirty="0">
                <a:solidFill>
                  <a:srgbClr val="1F1F1F"/>
                </a:solidFill>
              </a:rPr>
              <a:t>POST-WORK</a:t>
            </a:r>
            <a:endParaRPr lang="en-US" sz="1300" dirty="0"/>
          </a:p>
        </p:txBody>
      </p:sp>
      <p:sp>
        <p:nvSpPr>
          <p:cNvPr id="16" name="Text 14"/>
          <p:cNvSpPr/>
          <p:nvPr/>
        </p:nvSpPr>
        <p:spPr>
          <a:xfrm>
            <a:off x="8001000" y="4242816"/>
            <a:ext cx="2331720" cy="713232"/>
          </a:xfrm>
          <a:prstGeom prst="rect">
            <a:avLst/>
          </a:prstGeom>
          <a:noFill/>
          <a:ln/>
        </p:spPr>
        <p:txBody>
          <a:bodyPr wrap="square" lIns="0" tIns="0" rIns="0" bIns="0" rtlCol="0" anchor="ctr"/>
          <a:lstStyle/>
          <a:p>
            <a:pPr marL="0" indent="0" algn="ctr">
              <a:buNone/>
            </a:pPr>
            <a:r>
              <a:rPr lang="en-US" sz="1040" dirty="0">
                <a:solidFill>
                  <a:srgbClr val="666666"/>
                </a:solidFill>
              </a:rPr>
              <a:t>Formalizar los scores acordados, completar la trazabilidad y preparar el read-out y los próximos pasos.</a:t>
            </a:r>
            <a:endParaRPr lang="en-US" sz="1040" dirty="0"/>
          </a:p>
        </p:txBody>
      </p:sp>
      <p:sp>
        <p:nvSpPr>
          <p:cNvPr id="17" name="Text 15"/>
          <p:cNvSpPr/>
          <p:nvPr/>
        </p:nvSpPr>
        <p:spPr>
          <a:xfrm>
            <a:off x="694944" y="6126480"/>
            <a:ext cx="4389120" cy="228600"/>
          </a:xfrm>
          <a:prstGeom prst="rect">
            <a:avLst/>
          </a:prstGeom>
          <a:noFill/>
          <a:ln/>
        </p:spPr>
        <p:txBody>
          <a:bodyPr wrap="square" lIns="0" tIns="0" rIns="0" bIns="0" rtlCol="0" anchor="ctr"/>
          <a:lstStyle/>
          <a:p>
            <a:pPr marL="0" indent="0">
              <a:buNone/>
            </a:pPr>
            <a:r>
              <a:rPr lang="en-US" sz="1150" i="1" dirty="0">
                <a:solidFill>
                  <a:srgbClr val="666666"/>
                </a:solidFill>
              </a:rPr>
              <a:t>Propuesta de trabajo para discusión interna</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02920" y="310896"/>
            <a:ext cx="11064240" cy="384048"/>
          </a:xfrm>
          <a:prstGeom prst="rect">
            <a:avLst/>
          </a:prstGeom>
          <a:noFill/>
          <a:ln/>
        </p:spPr>
        <p:txBody>
          <a:bodyPr wrap="square" lIns="0" tIns="0" rIns="0" bIns="0" rtlCol="0" anchor="ctr"/>
          <a:lstStyle/>
          <a:p>
            <a:pPr marL="0" indent="0">
              <a:buNone/>
            </a:pPr>
            <a:r>
              <a:rPr lang="en-US" sz="2500" b="1" dirty="0">
                <a:solidFill>
                  <a:srgbClr val="1F1F1F"/>
                </a:solidFill>
                <a:latin typeface="Aptos Display" pitchFamily="34" charset="0"/>
                <a:ea typeface="Aptos Display" pitchFamily="34" charset="-122"/>
                <a:cs typeface="Aptos Display" pitchFamily="34" charset="-120"/>
              </a:rPr>
              <a:t>Recomendación ejecutiva</a:t>
            </a:r>
            <a:endParaRPr lang="en-US" sz="2500" dirty="0"/>
          </a:p>
        </p:txBody>
      </p:sp>
      <p:sp>
        <p:nvSpPr>
          <p:cNvPr id="3" name="Shape 1"/>
          <p:cNvSpPr/>
          <p:nvPr/>
        </p:nvSpPr>
        <p:spPr>
          <a:xfrm>
            <a:off x="502920" y="795528"/>
            <a:ext cx="594360" cy="1"/>
          </a:xfrm>
          <a:prstGeom prst="line">
            <a:avLst/>
          </a:prstGeom>
          <a:noFill/>
          <a:ln w="50800">
            <a:solidFill>
              <a:srgbClr val="86BC25"/>
            </a:solidFill>
            <a:prstDash val="solid"/>
          </a:ln>
        </p:spPr>
      </p:sp>
      <p:sp>
        <p:nvSpPr>
          <p:cNvPr id="4" name="Text 2"/>
          <p:cNvSpPr/>
          <p:nvPr/>
        </p:nvSpPr>
        <p:spPr>
          <a:xfrm>
            <a:off x="1207008" y="704088"/>
            <a:ext cx="10149840" cy="228600"/>
          </a:xfrm>
          <a:prstGeom prst="rect">
            <a:avLst/>
          </a:prstGeom>
          <a:noFill/>
          <a:ln/>
        </p:spPr>
        <p:txBody>
          <a:bodyPr wrap="square" lIns="0" tIns="0" rIns="0" bIns="0" rtlCol="0" anchor="ctr"/>
          <a:lstStyle/>
          <a:p>
            <a:pPr marL="0" indent="0">
              <a:buNone/>
            </a:pPr>
            <a:r>
              <a:rPr lang="en-US" sz="1200" dirty="0">
                <a:solidFill>
                  <a:srgbClr val="666666"/>
                </a:solidFill>
              </a:rPr>
              <a:t>Un proceso ligero para el cliente, con robustez metodológica en el back-end</a:t>
            </a:r>
            <a:endParaRPr lang="en-US" sz="1200" dirty="0"/>
          </a:p>
        </p:txBody>
      </p:sp>
      <p:sp>
        <p:nvSpPr>
          <p:cNvPr id="5" name="Shape 3"/>
          <p:cNvSpPr/>
          <p:nvPr/>
        </p:nvSpPr>
        <p:spPr>
          <a:xfrm>
            <a:off x="594360" y="1325880"/>
            <a:ext cx="3429000" cy="4069080"/>
          </a:xfrm>
          <a:prstGeom prst="roundRect">
            <a:avLst>
              <a:gd name="adj" fmla="val 1600"/>
            </a:avLst>
          </a:prstGeom>
          <a:solidFill>
            <a:srgbClr val="FFFFFF"/>
          </a:solidFill>
          <a:ln w="10160">
            <a:solidFill>
              <a:srgbClr val="D9D9D9"/>
            </a:solidFill>
            <a:prstDash val="solid"/>
          </a:ln>
          <a:effectLst/>
        </p:spPr>
      </p:sp>
      <p:sp>
        <p:nvSpPr>
          <p:cNvPr id="6" name="Text 4"/>
          <p:cNvSpPr/>
          <p:nvPr/>
        </p:nvSpPr>
        <p:spPr>
          <a:xfrm>
            <a:off x="822960" y="1600200"/>
            <a:ext cx="594360" cy="502920"/>
          </a:xfrm>
          <a:prstGeom prst="rect">
            <a:avLst/>
          </a:prstGeom>
          <a:noFill/>
          <a:ln/>
        </p:spPr>
        <p:txBody>
          <a:bodyPr wrap="square" lIns="0" tIns="0" rIns="0" bIns="0" rtlCol="0" anchor="ctr"/>
          <a:lstStyle/>
          <a:p>
            <a:pPr marL="0" indent="0">
              <a:buNone/>
            </a:pPr>
            <a:r>
              <a:rPr lang="en-US" sz="2600" b="1" dirty="0">
                <a:solidFill>
                  <a:srgbClr val="86BC25"/>
                </a:solidFill>
              </a:rPr>
              <a:t>01</a:t>
            </a:r>
            <a:endParaRPr lang="en-US" sz="2600" dirty="0"/>
          </a:p>
        </p:txBody>
      </p:sp>
      <p:sp>
        <p:nvSpPr>
          <p:cNvPr id="7" name="Text 5"/>
          <p:cNvSpPr/>
          <p:nvPr/>
        </p:nvSpPr>
        <p:spPr>
          <a:xfrm>
            <a:off x="1508760" y="1636776"/>
            <a:ext cx="2148840" cy="292608"/>
          </a:xfrm>
          <a:prstGeom prst="rect">
            <a:avLst/>
          </a:prstGeom>
          <a:noFill/>
          <a:ln/>
        </p:spPr>
        <p:txBody>
          <a:bodyPr wrap="square" lIns="0" tIns="0" rIns="0" bIns="0" rtlCol="0" anchor="ctr"/>
          <a:lstStyle/>
          <a:p>
            <a:pPr marL="0" indent="0">
              <a:buNone/>
            </a:pPr>
            <a:r>
              <a:rPr lang="en-US" sz="1900" b="1" dirty="0">
                <a:solidFill>
                  <a:srgbClr val="1F1F1F"/>
                </a:solidFill>
              </a:rPr>
              <a:t>Preparar</a:t>
            </a:r>
            <a:endParaRPr lang="en-US" sz="1900" dirty="0"/>
          </a:p>
        </p:txBody>
      </p:sp>
      <p:sp>
        <p:nvSpPr>
          <p:cNvPr id="8" name="Text 6"/>
          <p:cNvSpPr/>
          <p:nvPr/>
        </p:nvSpPr>
        <p:spPr>
          <a:xfrm>
            <a:off x="822960" y="2167128"/>
            <a:ext cx="2834640" cy="320040"/>
          </a:xfrm>
          <a:prstGeom prst="rect">
            <a:avLst/>
          </a:prstGeom>
          <a:noFill/>
          <a:ln/>
        </p:spPr>
        <p:txBody>
          <a:bodyPr wrap="square" lIns="0" tIns="0" rIns="0" bIns="0" rtlCol="0" anchor="ctr"/>
          <a:lstStyle/>
          <a:p>
            <a:pPr marL="0" indent="0">
              <a:buNone/>
            </a:pPr>
            <a:r>
              <a:rPr lang="en-US" sz="1200" dirty="0">
                <a:solidFill>
                  <a:srgbClr val="666666"/>
                </a:solidFill>
              </a:rPr>
              <a:t>Llegar con una lectura informada</a:t>
            </a:r>
            <a:endParaRPr lang="en-US" sz="1200" dirty="0"/>
          </a:p>
        </p:txBody>
      </p:sp>
      <p:sp>
        <p:nvSpPr>
          <p:cNvPr id="9" name="Shape 7"/>
          <p:cNvSpPr/>
          <p:nvPr/>
        </p:nvSpPr>
        <p:spPr>
          <a:xfrm>
            <a:off x="868680" y="2770632"/>
            <a:ext cx="164592" cy="164592"/>
          </a:xfrm>
          <a:prstGeom prst="ellipse">
            <a:avLst/>
          </a:prstGeom>
          <a:solidFill>
            <a:srgbClr val="86BC25"/>
          </a:solidFill>
          <a:ln w="12700">
            <a:solidFill>
              <a:srgbClr val="86BC25"/>
            </a:solidFill>
            <a:prstDash val="solid"/>
          </a:ln>
        </p:spPr>
      </p:sp>
      <p:sp>
        <p:nvSpPr>
          <p:cNvPr id="10" name="Text 8"/>
          <p:cNvSpPr/>
          <p:nvPr/>
        </p:nvSpPr>
        <p:spPr>
          <a:xfrm>
            <a:off x="1161288" y="2715768"/>
            <a:ext cx="2514600" cy="438912"/>
          </a:xfrm>
          <a:prstGeom prst="rect">
            <a:avLst/>
          </a:prstGeom>
          <a:noFill/>
          <a:ln/>
        </p:spPr>
        <p:txBody>
          <a:bodyPr wrap="square" lIns="0" tIns="0" rIns="0" bIns="0" rtlCol="0" anchor="ctr">
            <a:normAutofit/>
          </a:bodyPr>
          <a:lstStyle/>
          <a:p>
            <a:pPr marL="0" indent="0">
              <a:buNone/>
            </a:pPr>
            <a:r>
              <a:rPr lang="en-US" sz="1200" dirty="0">
                <a:solidFill>
                  <a:srgbClr val="1F1F1F"/>
                </a:solidFill>
              </a:rPr>
              <a:t>Definir la documentación útil para cada capacidad</a:t>
            </a:r>
            <a:endParaRPr lang="en-US" sz="1200" dirty="0"/>
          </a:p>
        </p:txBody>
      </p:sp>
      <p:sp>
        <p:nvSpPr>
          <p:cNvPr id="11" name="Shape 9"/>
          <p:cNvSpPr/>
          <p:nvPr/>
        </p:nvSpPr>
        <p:spPr>
          <a:xfrm>
            <a:off x="868680" y="3429000"/>
            <a:ext cx="164592" cy="164592"/>
          </a:xfrm>
          <a:prstGeom prst="ellipse">
            <a:avLst/>
          </a:prstGeom>
          <a:solidFill>
            <a:srgbClr val="86BC25"/>
          </a:solidFill>
          <a:ln w="12700">
            <a:solidFill>
              <a:srgbClr val="86BC25"/>
            </a:solidFill>
            <a:prstDash val="solid"/>
          </a:ln>
        </p:spPr>
      </p:sp>
      <p:sp>
        <p:nvSpPr>
          <p:cNvPr id="12" name="Text 10"/>
          <p:cNvSpPr/>
          <p:nvPr/>
        </p:nvSpPr>
        <p:spPr>
          <a:xfrm>
            <a:off x="1161288" y="3374136"/>
            <a:ext cx="2514600" cy="438912"/>
          </a:xfrm>
          <a:prstGeom prst="rect">
            <a:avLst/>
          </a:prstGeom>
          <a:noFill/>
          <a:ln/>
        </p:spPr>
        <p:txBody>
          <a:bodyPr wrap="square" lIns="0" tIns="0" rIns="0" bIns="0" rtlCol="0" anchor="ctr">
            <a:normAutofit/>
          </a:bodyPr>
          <a:lstStyle/>
          <a:p>
            <a:pPr marL="0" indent="0">
              <a:buNone/>
            </a:pPr>
            <a:r>
              <a:rPr lang="en-US" sz="1200" dirty="0">
                <a:solidFill>
                  <a:srgbClr val="1F1F1F"/>
                </a:solidFill>
              </a:rPr>
              <a:t>Revisar internamente la situación por subcapacidad</a:t>
            </a:r>
            <a:endParaRPr lang="en-US" sz="1200" dirty="0"/>
          </a:p>
        </p:txBody>
      </p:sp>
      <p:sp>
        <p:nvSpPr>
          <p:cNvPr id="13" name="Shape 11"/>
          <p:cNvSpPr/>
          <p:nvPr/>
        </p:nvSpPr>
        <p:spPr>
          <a:xfrm>
            <a:off x="868680" y="4087368"/>
            <a:ext cx="164592" cy="164592"/>
          </a:xfrm>
          <a:prstGeom prst="ellipse">
            <a:avLst/>
          </a:prstGeom>
          <a:solidFill>
            <a:srgbClr val="86BC25"/>
          </a:solidFill>
          <a:ln w="12700">
            <a:solidFill>
              <a:srgbClr val="86BC25"/>
            </a:solidFill>
            <a:prstDash val="solid"/>
          </a:ln>
        </p:spPr>
      </p:sp>
      <p:sp>
        <p:nvSpPr>
          <p:cNvPr id="14" name="Text 12"/>
          <p:cNvSpPr/>
          <p:nvPr/>
        </p:nvSpPr>
        <p:spPr>
          <a:xfrm>
            <a:off x="1161288" y="4032504"/>
            <a:ext cx="2514600" cy="438912"/>
          </a:xfrm>
          <a:prstGeom prst="rect">
            <a:avLst/>
          </a:prstGeom>
          <a:noFill/>
          <a:ln/>
        </p:spPr>
        <p:txBody>
          <a:bodyPr wrap="square" lIns="0" tIns="0" rIns="0" bIns="0" rtlCol="0" anchor="ctr">
            <a:normAutofit/>
          </a:bodyPr>
          <a:lstStyle/>
          <a:p>
            <a:pPr marL="0" indent="0">
              <a:buNone/>
            </a:pPr>
            <a:r>
              <a:rPr lang="en-US" sz="1200" dirty="0">
                <a:solidFill>
                  <a:srgbClr val="1F1F1F"/>
                </a:solidFill>
              </a:rPr>
              <a:t>Identificar información pendiente y criterios que diferencian niveles</a:t>
            </a:r>
            <a:endParaRPr lang="en-US" sz="1200" dirty="0"/>
          </a:p>
        </p:txBody>
      </p:sp>
      <p:sp>
        <p:nvSpPr>
          <p:cNvPr id="15" name="Shape 13"/>
          <p:cNvSpPr/>
          <p:nvPr/>
        </p:nvSpPr>
        <p:spPr>
          <a:xfrm>
            <a:off x="4389120" y="1325880"/>
            <a:ext cx="3429000" cy="4069080"/>
          </a:xfrm>
          <a:prstGeom prst="roundRect">
            <a:avLst>
              <a:gd name="adj" fmla="val 1600"/>
            </a:avLst>
          </a:prstGeom>
          <a:solidFill>
            <a:srgbClr val="FFFFFF"/>
          </a:solidFill>
          <a:ln w="10160">
            <a:solidFill>
              <a:srgbClr val="D9D9D9"/>
            </a:solidFill>
            <a:prstDash val="solid"/>
          </a:ln>
          <a:effectLst/>
        </p:spPr>
      </p:sp>
      <p:sp>
        <p:nvSpPr>
          <p:cNvPr id="16" name="Text 14"/>
          <p:cNvSpPr/>
          <p:nvPr/>
        </p:nvSpPr>
        <p:spPr>
          <a:xfrm>
            <a:off x="4617720" y="1600200"/>
            <a:ext cx="594360" cy="502920"/>
          </a:xfrm>
          <a:prstGeom prst="rect">
            <a:avLst/>
          </a:prstGeom>
          <a:noFill/>
          <a:ln/>
        </p:spPr>
        <p:txBody>
          <a:bodyPr wrap="square" lIns="0" tIns="0" rIns="0" bIns="0" rtlCol="0" anchor="ctr"/>
          <a:lstStyle/>
          <a:p>
            <a:pPr marL="0" indent="0">
              <a:buNone/>
            </a:pPr>
            <a:r>
              <a:rPr lang="en-US" sz="2600" b="1" dirty="0">
                <a:solidFill>
                  <a:srgbClr val="86BC25"/>
                </a:solidFill>
              </a:rPr>
              <a:t>02</a:t>
            </a:r>
            <a:endParaRPr lang="en-US" sz="2600" dirty="0"/>
          </a:p>
        </p:txBody>
      </p:sp>
      <p:sp>
        <p:nvSpPr>
          <p:cNvPr id="17" name="Text 15"/>
          <p:cNvSpPr/>
          <p:nvPr/>
        </p:nvSpPr>
        <p:spPr>
          <a:xfrm>
            <a:off x="5303520" y="1636776"/>
            <a:ext cx="2148840" cy="292608"/>
          </a:xfrm>
          <a:prstGeom prst="rect">
            <a:avLst/>
          </a:prstGeom>
          <a:noFill/>
          <a:ln/>
        </p:spPr>
        <p:txBody>
          <a:bodyPr wrap="square" lIns="0" tIns="0" rIns="0" bIns="0" rtlCol="0" anchor="ctr"/>
          <a:lstStyle/>
          <a:p>
            <a:pPr marL="0" indent="0">
              <a:buNone/>
            </a:pPr>
            <a:r>
              <a:rPr lang="en-US" sz="1900" b="1" dirty="0">
                <a:solidFill>
                  <a:srgbClr val="1F1F1F"/>
                </a:solidFill>
              </a:rPr>
              <a:t>Puntuar</a:t>
            </a:r>
            <a:endParaRPr lang="en-US" sz="1900" dirty="0"/>
          </a:p>
        </p:txBody>
      </p:sp>
      <p:sp>
        <p:nvSpPr>
          <p:cNvPr id="18" name="Text 16"/>
          <p:cNvSpPr/>
          <p:nvPr/>
        </p:nvSpPr>
        <p:spPr>
          <a:xfrm>
            <a:off x="4617720" y="2167128"/>
            <a:ext cx="2834640" cy="320040"/>
          </a:xfrm>
          <a:prstGeom prst="rect">
            <a:avLst/>
          </a:prstGeom>
          <a:noFill/>
          <a:ln/>
        </p:spPr>
        <p:txBody>
          <a:bodyPr wrap="square" lIns="0" tIns="0" rIns="0" bIns="0" rtlCol="0" anchor="ctr"/>
          <a:lstStyle/>
          <a:p>
            <a:pPr marL="0" indent="0">
              <a:buNone/>
            </a:pPr>
            <a:r>
              <a:rPr lang="en-US" sz="1200" dirty="0">
                <a:solidFill>
                  <a:srgbClr val="666666"/>
                </a:solidFill>
              </a:rPr>
              <a:t>Construir el score con el cliente</a:t>
            </a:r>
            <a:endParaRPr lang="en-US" sz="1200" dirty="0"/>
          </a:p>
        </p:txBody>
      </p:sp>
      <p:sp>
        <p:nvSpPr>
          <p:cNvPr id="19" name="Shape 17"/>
          <p:cNvSpPr/>
          <p:nvPr/>
        </p:nvSpPr>
        <p:spPr>
          <a:xfrm>
            <a:off x="4663440" y="2770632"/>
            <a:ext cx="164592" cy="164592"/>
          </a:xfrm>
          <a:prstGeom prst="ellipse">
            <a:avLst/>
          </a:prstGeom>
          <a:solidFill>
            <a:srgbClr val="86BC25"/>
          </a:solidFill>
          <a:ln w="12700">
            <a:solidFill>
              <a:srgbClr val="86BC25"/>
            </a:solidFill>
            <a:prstDash val="solid"/>
          </a:ln>
        </p:spPr>
      </p:sp>
      <p:sp>
        <p:nvSpPr>
          <p:cNvPr id="20" name="Text 18"/>
          <p:cNvSpPr/>
          <p:nvPr/>
        </p:nvSpPr>
        <p:spPr>
          <a:xfrm>
            <a:off x="4956048" y="2715768"/>
            <a:ext cx="2514600" cy="438912"/>
          </a:xfrm>
          <a:prstGeom prst="rect">
            <a:avLst/>
          </a:prstGeom>
          <a:noFill/>
          <a:ln/>
        </p:spPr>
        <p:txBody>
          <a:bodyPr wrap="square" lIns="0" tIns="0" rIns="0" bIns="0" rtlCol="0" anchor="ctr">
            <a:normAutofit/>
          </a:bodyPr>
          <a:lstStyle/>
          <a:p>
            <a:pPr marL="0" indent="0">
              <a:buNone/>
            </a:pPr>
            <a:r>
              <a:rPr lang="en-US" sz="1200" dirty="0">
                <a:solidFill>
                  <a:srgbClr val="1F1F1F"/>
                </a:solidFill>
              </a:rPr>
              <a:t>Conversación guiada con preguntas de apertura y profundización</a:t>
            </a:r>
            <a:endParaRPr lang="en-US" sz="1200" dirty="0"/>
          </a:p>
        </p:txBody>
      </p:sp>
      <p:sp>
        <p:nvSpPr>
          <p:cNvPr id="21" name="Shape 19"/>
          <p:cNvSpPr/>
          <p:nvPr/>
        </p:nvSpPr>
        <p:spPr>
          <a:xfrm>
            <a:off x="4663440" y="3429000"/>
            <a:ext cx="164592" cy="164592"/>
          </a:xfrm>
          <a:prstGeom prst="ellipse">
            <a:avLst/>
          </a:prstGeom>
          <a:solidFill>
            <a:srgbClr val="86BC25"/>
          </a:solidFill>
          <a:ln w="12700">
            <a:solidFill>
              <a:srgbClr val="86BC25"/>
            </a:solidFill>
            <a:prstDash val="solid"/>
          </a:ln>
        </p:spPr>
      </p:sp>
      <p:sp>
        <p:nvSpPr>
          <p:cNvPr id="22" name="Text 20"/>
          <p:cNvSpPr/>
          <p:nvPr/>
        </p:nvSpPr>
        <p:spPr>
          <a:xfrm>
            <a:off x="4956048" y="3374136"/>
            <a:ext cx="2514600" cy="438912"/>
          </a:xfrm>
          <a:prstGeom prst="rect">
            <a:avLst/>
          </a:prstGeom>
          <a:noFill/>
          <a:ln/>
        </p:spPr>
        <p:txBody>
          <a:bodyPr wrap="square" lIns="0" tIns="0" rIns="0" bIns="0" rtlCol="0" anchor="ctr">
            <a:normAutofit/>
          </a:bodyPr>
          <a:lstStyle/>
          <a:p>
            <a:pPr marL="0" indent="0">
              <a:buNone/>
            </a:pPr>
            <a:r>
              <a:rPr lang="en-US" sz="1200" dirty="0">
                <a:solidFill>
                  <a:srgbClr val="1F1F1F"/>
                </a:solidFill>
              </a:rPr>
              <a:t>Contraste con criterios y evidencias del acelerador</a:t>
            </a:r>
            <a:endParaRPr lang="en-US" sz="1200" dirty="0"/>
          </a:p>
        </p:txBody>
      </p:sp>
      <p:sp>
        <p:nvSpPr>
          <p:cNvPr id="23" name="Shape 21"/>
          <p:cNvSpPr/>
          <p:nvPr/>
        </p:nvSpPr>
        <p:spPr>
          <a:xfrm>
            <a:off x="4663440" y="4087368"/>
            <a:ext cx="164592" cy="164592"/>
          </a:xfrm>
          <a:prstGeom prst="ellipse">
            <a:avLst/>
          </a:prstGeom>
          <a:solidFill>
            <a:srgbClr val="86BC25"/>
          </a:solidFill>
          <a:ln w="12700">
            <a:solidFill>
              <a:srgbClr val="86BC25"/>
            </a:solidFill>
            <a:prstDash val="solid"/>
          </a:ln>
        </p:spPr>
      </p:sp>
      <p:sp>
        <p:nvSpPr>
          <p:cNvPr id="24" name="Text 22"/>
          <p:cNvSpPr/>
          <p:nvPr/>
        </p:nvSpPr>
        <p:spPr>
          <a:xfrm>
            <a:off x="4956048" y="4032504"/>
            <a:ext cx="2514600" cy="438912"/>
          </a:xfrm>
          <a:prstGeom prst="rect">
            <a:avLst/>
          </a:prstGeom>
          <a:noFill/>
          <a:ln/>
        </p:spPr>
        <p:txBody>
          <a:bodyPr wrap="square" lIns="0" tIns="0" rIns="0" bIns="0" rtlCol="0" anchor="ctr">
            <a:normAutofit/>
          </a:bodyPr>
          <a:lstStyle/>
          <a:p>
            <a:pPr marL="0" indent="0">
              <a:buNone/>
            </a:pPr>
            <a:r>
              <a:rPr lang="en-US" sz="1200" dirty="0">
                <a:solidFill>
                  <a:srgbClr val="1F1F1F"/>
                </a:solidFill>
              </a:rPr>
              <a:t>Votación, discusión de diferencias y score consensuado</a:t>
            </a:r>
            <a:endParaRPr lang="en-US" sz="1200" dirty="0"/>
          </a:p>
        </p:txBody>
      </p:sp>
      <p:sp>
        <p:nvSpPr>
          <p:cNvPr id="25" name="Shape 23"/>
          <p:cNvSpPr/>
          <p:nvPr/>
        </p:nvSpPr>
        <p:spPr>
          <a:xfrm>
            <a:off x="8183880" y="1325880"/>
            <a:ext cx="3429000" cy="4069080"/>
          </a:xfrm>
          <a:prstGeom prst="roundRect">
            <a:avLst>
              <a:gd name="adj" fmla="val 1600"/>
            </a:avLst>
          </a:prstGeom>
          <a:solidFill>
            <a:srgbClr val="FFFFFF"/>
          </a:solidFill>
          <a:ln w="10160">
            <a:solidFill>
              <a:srgbClr val="D9D9D9"/>
            </a:solidFill>
            <a:prstDash val="solid"/>
          </a:ln>
          <a:effectLst/>
        </p:spPr>
      </p:sp>
      <p:sp>
        <p:nvSpPr>
          <p:cNvPr id="26" name="Text 24"/>
          <p:cNvSpPr/>
          <p:nvPr/>
        </p:nvSpPr>
        <p:spPr>
          <a:xfrm>
            <a:off x="8412480" y="1600200"/>
            <a:ext cx="594360" cy="502920"/>
          </a:xfrm>
          <a:prstGeom prst="rect">
            <a:avLst/>
          </a:prstGeom>
          <a:noFill/>
          <a:ln/>
        </p:spPr>
        <p:txBody>
          <a:bodyPr wrap="square" lIns="0" tIns="0" rIns="0" bIns="0" rtlCol="0" anchor="ctr"/>
          <a:lstStyle/>
          <a:p>
            <a:pPr marL="0" indent="0">
              <a:buNone/>
            </a:pPr>
            <a:r>
              <a:rPr lang="en-US" sz="2600" b="1" dirty="0">
                <a:solidFill>
                  <a:srgbClr val="86BC25"/>
                </a:solidFill>
              </a:rPr>
              <a:t>03</a:t>
            </a:r>
            <a:endParaRPr lang="en-US" sz="2600" dirty="0"/>
          </a:p>
        </p:txBody>
      </p:sp>
      <p:sp>
        <p:nvSpPr>
          <p:cNvPr id="27" name="Text 25"/>
          <p:cNvSpPr/>
          <p:nvPr/>
        </p:nvSpPr>
        <p:spPr>
          <a:xfrm>
            <a:off x="9098280" y="1636776"/>
            <a:ext cx="2148840" cy="292608"/>
          </a:xfrm>
          <a:prstGeom prst="rect">
            <a:avLst/>
          </a:prstGeom>
          <a:noFill/>
          <a:ln/>
        </p:spPr>
        <p:txBody>
          <a:bodyPr wrap="square" lIns="0" tIns="0" rIns="0" bIns="0" rtlCol="0" anchor="ctr"/>
          <a:lstStyle/>
          <a:p>
            <a:pPr marL="0" indent="0">
              <a:buNone/>
            </a:pPr>
            <a:r>
              <a:rPr lang="en-US" sz="1900" b="1" dirty="0">
                <a:solidFill>
                  <a:srgbClr val="1F1F1F"/>
                </a:solidFill>
              </a:rPr>
              <a:t>Formalizar</a:t>
            </a:r>
            <a:endParaRPr lang="en-US" sz="1900" dirty="0"/>
          </a:p>
        </p:txBody>
      </p:sp>
      <p:sp>
        <p:nvSpPr>
          <p:cNvPr id="28" name="Text 26"/>
          <p:cNvSpPr/>
          <p:nvPr/>
        </p:nvSpPr>
        <p:spPr>
          <a:xfrm>
            <a:off x="8412480" y="2167128"/>
            <a:ext cx="2834640" cy="320040"/>
          </a:xfrm>
          <a:prstGeom prst="rect">
            <a:avLst/>
          </a:prstGeom>
          <a:noFill/>
          <a:ln/>
        </p:spPr>
        <p:txBody>
          <a:bodyPr wrap="square" lIns="0" tIns="0" rIns="0" bIns="0" rtlCol="0" anchor="ctr"/>
          <a:lstStyle/>
          <a:p>
            <a:pPr marL="0" indent="0">
              <a:buNone/>
            </a:pPr>
            <a:r>
              <a:rPr lang="en-US" sz="1200" dirty="0">
                <a:solidFill>
                  <a:srgbClr val="666666"/>
                </a:solidFill>
              </a:rPr>
              <a:t>Documentar lo acordado</a:t>
            </a:r>
            <a:endParaRPr lang="en-US" sz="1200" dirty="0"/>
          </a:p>
        </p:txBody>
      </p:sp>
      <p:sp>
        <p:nvSpPr>
          <p:cNvPr id="29" name="Shape 27"/>
          <p:cNvSpPr/>
          <p:nvPr/>
        </p:nvSpPr>
        <p:spPr>
          <a:xfrm>
            <a:off x="8458200" y="2770632"/>
            <a:ext cx="164592" cy="164592"/>
          </a:xfrm>
          <a:prstGeom prst="ellipse">
            <a:avLst/>
          </a:prstGeom>
          <a:solidFill>
            <a:srgbClr val="86BC25"/>
          </a:solidFill>
          <a:ln w="12700">
            <a:solidFill>
              <a:srgbClr val="86BC25"/>
            </a:solidFill>
            <a:prstDash val="solid"/>
          </a:ln>
        </p:spPr>
      </p:sp>
      <p:sp>
        <p:nvSpPr>
          <p:cNvPr id="30" name="Text 28"/>
          <p:cNvSpPr/>
          <p:nvPr/>
        </p:nvSpPr>
        <p:spPr>
          <a:xfrm>
            <a:off x="8750808" y="2715768"/>
            <a:ext cx="2514600" cy="438912"/>
          </a:xfrm>
          <a:prstGeom prst="rect">
            <a:avLst/>
          </a:prstGeom>
          <a:noFill/>
          <a:ln/>
        </p:spPr>
        <p:txBody>
          <a:bodyPr wrap="square" lIns="0" tIns="0" rIns="0" bIns="0" rtlCol="0" anchor="ctr">
            <a:normAutofit/>
          </a:bodyPr>
          <a:lstStyle/>
          <a:p>
            <a:pPr marL="0" indent="0">
              <a:buNone/>
            </a:pPr>
            <a:r>
              <a:rPr lang="en-US" sz="1200" dirty="0">
                <a:solidFill>
                  <a:srgbClr val="1F1F1F"/>
                </a:solidFill>
              </a:rPr>
              <a:t>Registrar scores, justificación del score y evidencias consideradas</a:t>
            </a:r>
            <a:endParaRPr lang="en-US" sz="1200" dirty="0"/>
          </a:p>
        </p:txBody>
      </p:sp>
      <p:sp>
        <p:nvSpPr>
          <p:cNvPr id="31" name="Shape 29"/>
          <p:cNvSpPr/>
          <p:nvPr/>
        </p:nvSpPr>
        <p:spPr>
          <a:xfrm>
            <a:off x="8458200" y="3429000"/>
            <a:ext cx="164592" cy="164592"/>
          </a:xfrm>
          <a:prstGeom prst="ellipse">
            <a:avLst/>
          </a:prstGeom>
          <a:solidFill>
            <a:srgbClr val="86BC25"/>
          </a:solidFill>
          <a:ln w="12700">
            <a:solidFill>
              <a:srgbClr val="86BC25"/>
            </a:solidFill>
            <a:prstDash val="solid"/>
          </a:ln>
        </p:spPr>
      </p:sp>
      <p:sp>
        <p:nvSpPr>
          <p:cNvPr id="32" name="Text 30"/>
          <p:cNvSpPr/>
          <p:nvPr/>
        </p:nvSpPr>
        <p:spPr>
          <a:xfrm>
            <a:off x="8750808" y="3374136"/>
            <a:ext cx="2514600" cy="438912"/>
          </a:xfrm>
          <a:prstGeom prst="rect">
            <a:avLst/>
          </a:prstGeom>
          <a:noFill/>
          <a:ln/>
        </p:spPr>
        <p:txBody>
          <a:bodyPr wrap="square" lIns="0" tIns="0" rIns="0" bIns="0" rtlCol="0" anchor="ctr">
            <a:normAutofit/>
          </a:bodyPr>
          <a:lstStyle/>
          <a:p>
            <a:pPr marL="0" indent="0">
              <a:buNone/>
            </a:pPr>
            <a:r>
              <a:rPr lang="en-US" sz="1200" dirty="0">
                <a:solidFill>
                  <a:srgbClr val="1F1F1F"/>
                </a:solidFill>
              </a:rPr>
              <a:t>Completar pendientes y excepciones sin reabrir el score</a:t>
            </a:r>
            <a:endParaRPr lang="en-US" sz="1200" dirty="0"/>
          </a:p>
        </p:txBody>
      </p:sp>
      <p:sp>
        <p:nvSpPr>
          <p:cNvPr id="33" name="Shape 31"/>
          <p:cNvSpPr/>
          <p:nvPr/>
        </p:nvSpPr>
        <p:spPr>
          <a:xfrm>
            <a:off x="8458200" y="4087368"/>
            <a:ext cx="164592" cy="164592"/>
          </a:xfrm>
          <a:prstGeom prst="ellipse">
            <a:avLst/>
          </a:prstGeom>
          <a:solidFill>
            <a:srgbClr val="86BC25"/>
          </a:solidFill>
          <a:ln w="12700">
            <a:solidFill>
              <a:srgbClr val="86BC25"/>
            </a:solidFill>
            <a:prstDash val="solid"/>
          </a:ln>
        </p:spPr>
      </p:sp>
      <p:sp>
        <p:nvSpPr>
          <p:cNvPr id="34" name="Text 32"/>
          <p:cNvSpPr/>
          <p:nvPr/>
        </p:nvSpPr>
        <p:spPr>
          <a:xfrm>
            <a:off x="8750808" y="4032504"/>
            <a:ext cx="2514600" cy="438912"/>
          </a:xfrm>
          <a:prstGeom prst="rect">
            <a:avLst/>
          </a:prstGeom>
          <a:noFill/>
          <a:ln/>
        </p:spPr>
        <p:txBody>
          <a:bodyPr wrap="square" lIns="0" tIns="0" rIns="0" bIns="0" rtlCol="0" anchor="ctr">
            <a:normAutofit/>
          </a:bodyPr>
          <a:lstStyle/>
          <a:p>
            <a:pPr marL="0" indent="0">
              <a:buNone/>
            </a:pPr>
            <a:r>
              <a:rPr lang="en-US" sz="1200" dirty="0">
                <a:solidFill>
                  <a:srgbClr val="1F1F1F"/>
                </a:solidFill>
              </a:rPr>
              <a:t>Preparar read-out, conclusiones y próximos pasos</a:t>
            </a:r>
            <a:endParaRPr lang="en-US" sz="1200" dirty="0"/>
          </a:p>
        </p:txBody>
      </p:sp>
      <p:sp>
        <p:nvSpPr>
          <p:cNvPr id="35" name="Shape 33"/>
          <p:cNvSpPr/>
          <p:nvPr/>
        </p:nvSpPr>
        <p:spPr>
          <a:xfrm>
            <a:off x="594360" y="5870448"/>
            <a:ext cx="10972800" cy="429768"/>
          </a:xfrm>
          <a:prstGeom prst="roundRect">
            <a:avLst>
              <a:gd name="adj" fmla="val 8511"/>
            </a:avLst>
          </a:prstGeom>
          <a:solidFill>
            <a:srgbClr val="1F1F1F"/>
          </a:solidFill>
          <a:ln w="12700">
            <a:solidFill>
              <a:srgbClr val="1F1F1F"/>
            </a:solidFill>
            <a:prstDash val="solid"/>
          </a:ln>
        </p:spPr>
      </p:sp>
      <p:sp>
        <p:nvSpPr>
          <p:cNvPr id="36" name="Text 34"/>
          <p:cNvSpPr/>
          <p:nvPr/>
        </p:nvSpPr>
        <p:spPr>
          <a:xfrm>
            <a:off x="868680" y="5980176"/>
            <a:ext cx="10424160" cy="182880"/>
          </a:xfrm>
          <a:prstGeom prst="rect">
            <a:avLst/>
          </a:prstGeom>
          <a:noFill/>
          <a:ln/>
        </p:spPr>
        <p:txBody>
          <a:bodyPr wrap="square" lIns="0" tIns="0" rIns="0" bIns="0" rtlCol="0" anchor="ctr">
            <a:normAutofit/>
          </a:bodyPr>
          <a:lstStyle/>
          <a:p>
            <a:pPr marL="0" indent="0" algn="ctr">
              <a:buNone/>
            </a:pPr>
            <a:r>
              <a:rPr lang="en-US" sz="1130" b="1" dirty="0">
                <a:solidFill>
                  <a:srgbClr val="FFFFFF"/>
                </a:solidFill>
              </a:rPr>
              <a:t>Principio rector: el score final se construye y acuerda en sesión, de forma transparente, utilizando los criterios y evidencias del acelerador.</a:t>
            </a:r>
            <a:endParaRPr lang="en-US" sz="1130" dirty="0"/>
          </a:p>
        </p:txBody>
      </p:sp>
      <p:sp>
        <p:nvSpPr>
          <p:cNvPr id="37" name="Slide Number Placeholder 0"/>
          <p:cNvSpPr>
            <a:spLocks noGrp="1"/>
          </p:cNvSpPr>
          <p:nvPr>
            <p:ph type="sldNum" sz="quarter" idx="4294967295"/>
          </p:nvPr>
        </p:nvSpPr>
        <p:spPr>
          <a:xfrm>
            <a:off x="11686032" y="6537960"/>
            <a:ext cx="201168"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66666"/>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02920" y="310896"/>
            <a:ext cx="11064240" cy="384048"/>
          </a:xfrm>
          <a:prstGeom prst="rect">
            <a:avLst/>
          </a:prstGeom>
          <a:noFill/>
          <a:ln/>
        </p:spPr>
        <p:txBody>
          <a:bodyPr wrap="square" lIns="0" tIns="0" rIns="0" bIns="0" rtlCol="0" anchor="ctr"/>
          <a:lstStyle/>
          <a:p>
            <a:pPr marL="0" indent="0">
              <a:buNone/>
            </a:pPr>
            <a:r>
              <a:rPr lang="en-US" sz="2500" b="1" dirty="0">
                <a:solidFill>
                  <a:srgbClr val="1F1F1F"/>
                </a:solidFill>
                <a:latin typeface="Aptos Display" pitchFamily="34" charset="0"/>
                <a:ea typeface="Aptos Display" pitchFamily="34" charset="-122"/>
                <a:cs typeface="Aptos Display" pitchFamily="34" charset="-120"/>
              </a:rPr>
              <a:t>La robustez se construye en tres capas</a:t>
            </a:r>
            <a:endParaRPr lang="en-US" sz="2500" dirty="0"/>
          </a:p>
        </p:txBody>
      </p:sp>
      <p:sp>
        <p:nvSpPr>
          <p:cNvPr id="3" name="Shape 1"/>
          <p:cNvSpPr/>
          <p:nvPr/>
        </p:nvSpPr>
        <p:spPr>
          <a:xfrm>
            <a:off x="502920" y="795528"/>
            <a:ext cx="594360" cy="1"/>
          </a:xfrm>
          <a:prstGeom prst="line">
            <a:avLst/>
          </a:prstGeom>
          <a:noFill/>
          <a:ln w="50800">
            <a:solidFill>
              <a:srgbClr val="86BC25"/>
            </a:solidFill>
            <a:prstDash val="solid"/>
          </a:ln>
        </p:spPr>
      </p:sp>
      <p:sp>
        <p:nvSpPr>
          <p:cNvPr id="4" name="Text 2"/>
          <p:cNvSpPr/>
          <p:nvPr/>
        </p:nvSpPr>
        <p:spPr>
          <a:xfrm>
            <a:off x="1207008" y="704088"/>
            <a:ext cx="10149840" cy="228600"/>
          </a:xfrm>
          <a:prstGeom prst="rect">
            <a:avLst/>
          </a:prstGeom>
          <a:noFill/>
          <a:ln/>
        </p:spPr>
        <p:txBody>
          <a:bodyPr wrap="square" lIns="0" tIns="0" rIns="0" bIns="0" rtlCol="0" anchor="ctr"/>
          <a:lstStyle/>
          <a:p>
            <a:pPr marL="0" indent="0">
              <a:buNone/>
            </a:pPr>
            <a:r>
              <a:rPr lang="en-US" sz="1200" dirty="0">
                <a:solidFill>
                  <a:srgbClr val="666666"/>
                </a:solidFill>
              </a:rPr>
              <a:t>El workshop no debe cargar con todo el trabajo de discovery y scoring</a:t>
            </a:r>
            <a:endParaRPr lang="en-US" sz="1200" dirty="0"/>
          </a:p>
        </p:txBody>
      </p:sp>
      <p:sp>
        <p:nvSpPr>
          <p:cNvPr id="5" name="Shape 3"/>
          <p:cNvSpPr/>
          <p:nvPr/>
        </p:nvSpPr>
        <p:spPr>
          <a:xfrm>
            <a:off x="777240" y="1234440"/>
            <a:ext cx="10561320" cy="841248"/>
          </a:xfrm>
          <a:prstGeom prst="roundRect">
            <a:avLst>
              <a:gd name="adj" fmla="val 5435"/>
            </a:avLst>
          </a:prstGeom>
          <a:solidFill>
            <a:srgbClr val="EAF3D8"/>
          </a:solidFill>
          <a:ln w="16510">
            <a:solidFill>
              <a:srgbClr val="86BC25"/>
            </a:solidFill>
            <a:prstDash val="solid"/>
          </a:ln>
        </p:spPr>
      </p:sp>
      <p:sp>
        <p:nvSpPr>
          <p:cNvPr id="6" name="Text 4"/>
          <p:cNvSpPr/>
          <p:nvPr/>
        </p:nvSpPr>
        <p:spPr>
          <a:xfrm>
            <a:off x="1051560" y="1417320"/>
            <a:ext cx="2423160" cy="219456"/>
          </a:xfrm>
          <a:prstGeom prst="rect">
            <a:avLst/>
          </a:prstGeom>
          <a:noFill/>
          <a:ln/>
        </p:spPr>
        <p:txBody>
          <a:bodyPr wrap="square" lIns="0" tIns="0" rIns="0" bIns="0" rtlCol="0" anchor="ctr"/>
          <a:lstStyle/>
          <a:p>
            <a:pPr marL="0" indent="0">
              <a:buNone/>
            </a:pPr>
            <a:r>
              <a:rPr lang="en-US" sz="1200" b="1" dirty="0">
                <a:solidFill>
                  <a:srgbClr val="527A12"/>
                </a:solidFill>
              </a:rPr>
              <a:t>1. EXPERIENCIA CLIENTE</a:t>
            </a:r>
            <a:endParaRPr lang="en-US" sz="1200" dirty="0"/>
          </a:p>
        </p:txBody>
      </p:sp>
      <p:sp>
        <p:nvSpPr>
          <p:cNvPr id="7" name="Text 5"/>
          <p:cNvSpPr/>
          <p:nvPr/>
        </p:nvSpPr>
        <p:spPr>
          <a:xfrm>
            <a:off x="3419856" y="1399032"/>
            <a:ext cx="7269480" cy="365760"/>
          </a:xfrm>
          <a:prstGeom prst="rect">
            <a:avLst/>
          </a:prstGeom>
          <a:noFill/>
          <a:ln/>
        </p:spPr>
        <p:txBody>
          <a:bodyPr wrap="square" lIns="0" tIns="0" rIns="0" bIns="0" rtlCol="0" anchor="ctr">
            <a:normAutofit/>
          </a:bodyPr>
          <a:lstStyle/>
          <a:p>
            <a:pPr marL="0" indent="0">
              <a:buNone/>
            </a:pPr>
            <a:r>
              <a:rPr lang="en-US" sz="1200" dirty="0">
                <a:solidFill>
                  <a:srgbClr val="1F1F1F"/>
                </a:solidFill>
              </a:rPr>
              <a:t>Conversación natural · lenguaje de negocio · cadencia ágil por subcapacidad · votación rápida cuando aporta valor</a:t>
            </a:r>
            <a:endParaRPr lang="en-US" sz="1200" dirty="0"/>
          </a:p>
        </p:txBody>
      </p:sp>
      <p:sp>
        <p:nvSpPr>
          <p:cNvPr id="8" name="Shape 6"/>
          <p:cNvSpPr/>
          <p:nvPr/>
        </p:nvSpPr>
        <p:spPr>
          <a:xfrm>
            <a:off x="1097280" y="2395728"/>
            <a:ext cx="9921240" cy="841248"/>
          </a:xfrm>
          <a:prstGeom prst="roundRect">
            <a:avLst>
              <a:gd name="adj" fmla="val 5435"/>
            </a:avLst>
          </a:prstGeom>
          <a:solidFill>
            <a:srgbClr val="F2F2F2"/>
          </a:solidFill>
          <a:ln w="10160">
            <a:solidFill>
              <a:srgbClr val="C8C8C8"/>
            </a:solidFill>
            <a:prstDash val="solid"/>
          </a:ln>
        </p:spPr>
      </p:sp>
      <p:sp>
        <p:nvSpPr>
          <p:cNvPr id="9" name="Text 7"/>
          <p:cNvSpPr/>
          <p:nvPr/>
        </p:nvSpPr>
        <p:spPr>
          <a:xfrm>
            <a:off x="1371600" y="2578608"/>
            <a:ext cx="2423160" cy="219456"/>
          </a:xfrm>
          <a:prstGeom prst="rect">
            <a:avLst/>
          </a:prstGeom>
          <a:noFill/>
          <a:ln/>
        </p:spPr>
        <p:txBody>
          <a:bodyPr wrap="square" lIns="0" tIns="0" rIns="0" bIns="0" rtlCol="0" anchor="ctr"/>
          <a:lstStyle/>
          <a:p>
            <a:pPr marL="0" indent="0">
              <a:buNone/>
            </a:pPr>
            <a:r>
              <a:rPr lang="en-US" sz="1200" b="1" dirty="0">
                <a:solidFill>
                  <a:srgbClr val="1F1F1F"/>
                </a:solidFill>
              </a:rPr>
              <a:t>2. MOTOR DIAGNÓSTICO</a:t>
            </a:r>
            <a:endParaRPr lang="en-US" sz="1200" dirty="0"/>
          </a:p>
        </p:txBody>
      </p:sp>
      <p:sp>
        <p:nvSpPr>
          <p:cNvPr id="10" name="Text 8"/>
          <p:cNvSpPr/>
          <p:nvPr/>
        </p:nvSpPr>
        <p:spPr>
          <a:xfrm>
            <a:off x="3739896" y="2560320"/>
            <a:ext cx="6629400" cy="365760"/>
          </a:xfrm>
          <a:prstGeom prst="rect">
            <a:avLst/>
          </a:prstGeom>
          <a:noFill/>
          <a:ln/>
        </p:spPr>
        <p:txBody>
          <a:bodyPr wrap="square" lIns="0" tIns="0" rIns="0" bIns="0" rtlCol="0" anchor="ctr">
            <a:normAutofit/>
          </a:bodyPr>
          <a:lstStyle/>
          <a:p>
            <a:pPr marL="0" indent="0">
              <a:buNone/>
            </a:pPr>
            <a:r>
              <a:rPr lang="en-US" sz="1200" dirty="0">
                <a:solidFill>
                  <a:srgbClr val="1F1F1F"/>
                </a:solidFill>
              </a:rPr>
              <a:t>607 preguntas como checks · criterios 1–5 · evidencias · dimensiones Personas/Organización, Procesos y Tecnología</a:t>
            </a:r>
            <a:endParaRPr lang="en-US" sz="1200" dirty="0"/>
          </a:p>
        </p:txBody>
      </p:sp>
      <p:sp>
        <p:nvSpPr>
          <p:cNvPr id="11" name="Shape 9"/>
          <p:cNvSpPr/>
          <p:nvPr/>
        </p:nvSpPr>
        <p:spPr>
          <a:xfrm>
            <a:off x="1417320" y="3557016"/>
            <a:ext cx="9281160" cy="841248"/>
          </a:xfrm>
          <a:prstGeom prst="roundRect">
            <a:avLst>
              <a:gd name="adj" fmla="val 5435"/>
            </a:avLst>
          </a:prstGeom>
          <a:solidFill>
            <a:srgbClr val="E8ECEF"/>
          </a:solidFill>
          <a:ln w="10160">
            <a:solidFill>
              <a:srgbClr val="C8C8C8"/>
            </a:solidFill>
            <a:prstDash val="solid"/>
          </a:ln>
        </p:spPr>
      </p:sp>
      <p:sp>
        <p:nvSpPr>
          <p:cNvPr id="12" name="Text 10"/>
          <p:cNvSpPr/>
          <p:nvPr/>
        </p:nvSpPr>
        <p:spPr>
          <a:xfrm>
            <a:off x="1691640" y="3739896"/>
            <a:ext cx="2423160" cy="219456"/>
          </a:xfrm>
          <a:prstGeom prst="rect">
            <a:avLst/>
          </a:prstGeom>
          <a:noFill/>
          <a:ln/>
        </p:spPr>
        <p:txBody>
          <a:bodyPr wrap="square" lIns="0" tIns="0" rIns="0" bIns="0" rtlCol="0" anchor="ctr"/>
          <a:lstStyle/>
          <a:p>
            <a:pPr marL="0" indent="0">
              <a:buNone/>
            </a:pPr>
            <a:r>
              <a:rPr lang="en-US" sz="1200" b="1" dirty="0">
                <a:solidFill>
                  <a:srgbClr val="1F1F1F"/>
                </a:solidFill>
              </a:rPr>
              <a:t>3. GOBIERNO DEL ASSESSMENT</a:t>
            </a:r>
            <a:endParaRPr lang="en-US" sz="1200" dirty="0"/>
          </a:p>
        </p:txBody>
      </p:sp>
      <p:sp>
        <p:nvSpPr>
          <p:cNvPr id="13" name="Text 11"/>
          <p:cNvSpPr/>
          <p:nvPr/>
        </p:nvSpPr>
        <p:spPr>
          <a:xfrm>
            <a:off x="4059936" y="3721608"/>
            <a:ext cx="5989320" cy="365760"/>
          </a:xfrm>
          <a:prstGeom prst="rect">
            <a:avLst/>
          </a:prstGeom>
          <a:noFill/>
          <a:ln/>
        </p:spPr>
        <p:txBody>
          <a:bodyPr wrap="square" lIns="0" tIns="0" rIns="0" bIns="0" rtlCol="0" anchor="ctr">
            <a:normAutofit/>
          </a:bodyPr>
          <a:lstStyle/>
          <a:p>
            <a:pPr marL="0" indent="0">
              <a:buNone/>
            </a:pPr>
            <a:r>
              <a:rPr lang="en-US" sz="1200" dirty="0">
                <a:solidFill>
                  <a:srgbClr val="1F1F1F"/>
                </a:solidFill>
              </a:rPr>
              <a:t>Criterios visibles · consenso en sesión · justificación del score documentado · decision log · QA posterior sin reabrir el score</a:t>
            </a:r>
            <a:endParaRPr lang="en-US" sz="1200" dirty="0"/>
          </a:p>
        </p:txBody>
      </p:sp>
      <p:sp>
        <p:nvSpPr>
          <p:cNvPr id="14" name="Shape 12"/>
          <p:cNvSpPr/>
          <p:nvPr/>
        </p:nvSpPr>
        <p:spPr>
          <a:xfrm>
            <a:off x="1115568" y="4800600"/>
            <a:ext cx="9921240" cy="438912"/>
          </a:xfrm>
          <a:prstGeom prst="roundRect">
            <a:avLst>
              <a:gd name="adj" fmla="val 10417"/>
            </a:avLst>
          </a:prstGeom>
          <a:solidFill>
            <a:srgbClr val="F2F7E9"/>
          </a:solidFill>
          <a:ln w="10160">
            <a:solidFill>
              <a:srgbClr val="C9DCA2"/>
            </a:solidFill>
            <a:prstDash val="solid"/>
          </a:ln>
        </p:spPr>
      </p:sp>
      <p:sp>
        <p:nvSpPr>
          <p:cNvPr id="15" name="Text 13"/>
          <p:cNvSpPr/>
          <p:nvPr/>
        </p:nvSpPr>
        <p:spPr>
          <a:xfrm>
            <a:off x="1261872" y="4919472"/>
            <a:ext cx="429768" cy="164592"/>
          </a:xfrm>
          <a:prstGeom prst="rect">
            <a:avLst/>
          </a:prstGeom>
          <a:noFill/>
          <a:ln/>
        </p:spPr>
        <p:txBody>
          <a:bodyPr wrap="square" lIns="0" tIns="0" rIns="0" bIns="0" rtlCol="0" anchor="ctr"/>
          <a:lstStyle/>
          <a:p>
            <a:pPr marL="0" indent="0">
              <a:buNone/>
            </a:pPr>
            <a:r>
              <a:rPr lang="en-US" sz="900" b="1" dirty="0">
                <a:solidFill>
                  <a:srgbClr val="527A12"/>
                </a:solidFill>
              </a:rPr>
              <a:t>TIP</a:t>
            </a:r>
            <a:endParaRPr lang="en-US" sz="900" dirty="0"/>
          </a:p>
        </p:txBody>
      </p:sp>
      <p:sp>
        <p:nvSpPr>
          <p:cNvPr id="16" name="Text 14"/>
          <p:cNvSpPr/>
          <p:nvPr/>
        </p:nvSpPr>
        <p:spPr>
          <a:xfrm>
            <a:off x="1737360" y="4892040"/>
            <a:ext cx="9171432" cy="228600"/>
          </a:xfrm>
          <a:prstGeom prst="rect">
            <a:avLst/>
          </a:prstGeom>
          <a:noFill/>
          <a:ln/>
        </p:spPr>
        <p:txBody>
          <a:bodyPr wrap="square" lIns="0" tIns="0" rIns="0" bIns="0" rtlCol="0" anchor="ctr">
            <a:normAutofit/>
          </a:bodyPr>
          <a:lstStyle/>
          <a:p>
            <a:pPr marL="0" indent="0">
              <a:buNone/>
            </a:pPr>
            <a:r>
              <a:rPr lang="en-US" sz="1200" dirty="0">
                <a:solidFill>
                  <a:srgbClr val="1F1F1F"/>
                </a:solidFill>
              </a:rPr>
              <a:t>La sensación de solidez no depende de formular muchas preguntas, sino de que cada intervención responda a una hipótesis, un criterio o un gap de evidencia, sin convertir la sesión en un cuestionario.</a:t>
            </a:r>
            <a:endParaRPr lang="en-US" sz="1200" dirty="0"/>
          </a:p>
        </p:txBody>
      </p:sp>
      <p:sp>
        <p:nvSpPr>
          <p:cNvPr id="17" name="Shape 15"/>
          <p:cNvSpPr/>
          <p:nvPr/>
        </p:nvSpPr>
        <p:spPr>
          <a:xfrm>
            <a:off x="594360" y="5870448"/>
            <a:ext cx="10972800" cy="429768"/>
          </a:xfrm>
          <a:prstGeom prst="roundRect">
            <a:avLst>
              <a:gd name="adj" fmla="val 8511"/>
            </a:avLst>
          </a:prstGeom>
          <a:solidFill>
            <a:srgbClr val="1F1F1F"/>
          </a:solidFill>
          <a:ln w="12700">
            <a:solidFill>
              <a:srgbClr val="1F1F1F"/>
            </a:solidFill>
            <a:prstDash val="solid"/>
          </a:ln>
        </p:spPr>
      </p:sp>
      <p:sp>
        <p:nvSpPr>
          <p:cNvPr id="18" name="Text 16"/>
          <p:cNvSpPr/>
          <p:nvPr/>
        </p:nvSpPr>
        <p:spPr>
          <a:xfrm>
            <a:off x="868680" y="5980176"/>
            <a:ext cx="10424160" cy="182880"/>
          </a:xfrm>
          <a:prstGeom prst="rect">
            <a:avLst/>
          </a:prstGeom>
          <a:noFill/>
          <a:ln/>
        </p:spPr>
        <p:txBody>
          <a:bodyPr wrap="square" lIns="0" tIns="0" rIns="0" bIns="0" rtlCol="0" anchor="ctr">
            <a:normAutofit/>
          </a:bodyPr>
          <a:lstStyle/>
          <a:p>
            <a:pPr marL="0" indent="0" algn="ctr">
              <a:buNone/>
            </a:pPr>
            <a:r>
              <a:rPr lang="en-US" sz="1130" b="1" dirty="0">
                <a:solidFill>
                  <a:srgbClr val="FFFFFF"/>
                </a:solidFill>
              </a:rPr>
              <a:t>Diseño recomendado: PREPARAR la hipótesis → DISCUTIR hechos y criterios → ACORDAR el score → DOCUMENTAR el resultado.</a:t>
            </a:r>
            <a:endParaRPr lang="en-US" sz="1130" dirty="0"/>
          </a:p>
        </p:txBody>
      </p:sp>
      <p:sp>
        <p:nvSpPr>
          <p:cNvPr id="25" name="Slide Number Placeholder 0"/>
          <p:cNvSpPr>
            <a:spLocks noGrp="1"/>
          </p:cNvSpPr>
          <p:nvPr>
            <p:ph type="sldNum" sz="quarter" idx="4294967295"/>
          </p:nvPr>
        </p:nvSpPr>
        <p:spPr>
          <a:xfrm>
            <a:off x="11686032" y="6537960"/>
            <a:ext cx="201168"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66666"/>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02920" y="310896"/>
            <a:ext cx="11064240" cy="384048"/>
          </a:xfrm>
          <a:prstGeom prst="rect">
            <a:avLst/>
          </a:prstGeom>
          <a:noFill/>
          <a:ln/>
        </p:spPr>
        <p:txBody>
          <a:bodyPr wrap="square" lIns="0" tIns="0" rIns="0" bIns="0" rtlCol="0" anchor="ctr"/>
          <a:lstStyle/>
          <a:p>
            <a:pPr marL="0" indent="0">
              <a:buNone/>
            </a:pPr>
            <a:r>
              <a:rPr lang="en-US" sz="2500" b="1" dirty="0">
                <a:solidFill>
                  <a:srgbClr val="1F1F1F"/>
                </a:solidFill>
                <a:latin typeface="Aptos Display" pitchFamily="34" charset="0"/>
                <a:ea typeface="Aptos Display" pitchFamily="34" charset="-122"/>
                <a:cs typeface="Aptos Display" pitchFamily="34" charset="-120"/>
              </a:rPr>
              <a:t>Fase 1 | Trabajo previo al workshop</a:t>
            </a:r>
            <a:endParaRPr lang="en-US" sz="2500" dirty="0"/>
          </a:p>
        </p:txBody>
      </p:sp>
      <p:sp>
        <p:nvSpPr>
          <p:cNvPr id="3" name="Shape 1"/>
          <p:cNvSpPr/>
          <p:nvPr/>
        </p:nvSpPr>
        <p:spPr>
          <a:xfrm>
            <a:off x="502920" y="795528"/>
            <a:ext cx="594360" cy="1"/>
          </a:xfrm>
          <a:prstGeom prst="line">
            <a:avLst/>
          </a:prstGeom>
          <a:noFill/>
          <a:ln w="50800">
            <a:solidFill>
              <a:srgbClr val="86BC25"/>
            </a:solidFill>
            <a:prstDash val="solid"/>
          </a:ln>
        </p:spPr>
      </p:sp>
      <p:sp>
        <p:nvSpPr>
          <p:cNvPr id="4" name="Text 2"/>
          <p:cNvSpPr/>
          <p:nvPr/>
        </p:nvSpPr>
        <p:spPr>
          <a:xfrm>
            <a:off x="1207008" y="704088"/>
            <a:ext cx="10149840" cy="228600"/>
          </a:xfrm>
          <a:prstGeom prst="rect">
            <a:avLst/>
          </a:prstGeom>
          <a:noFill/>
          <a:ln/>
        </p:spPr>
        <p:txBody>
          <a:bodyPr wrap="square" lIns="0" tIns="0" rIns="0" bIns="0" rtlCol="0" anchor="ctr"/>
          <a:lstStyle/>
          <a:p>
            <a:pPr marL="0" indent="0">
              <a:buNone/>
            </a:pPr>
            <a:r>
              <a:rPr lang="en-US" sz="1200" dirty="0">
                <a:solidFill>
                  <a:srgbClr val="666666"/>
                </a:solidFill>
              </a:rPr>
              <a:t>Objetivo: convertir documentación dispersa en una hipótesis y un plan de validación</a:t>
            </a:r>
            <a:endParaRPr lang="en-US" sz="1200" dirty="0"/>
          </a:p>
        </p:txBody>
      </p:sp>
      <p:sp>
        <p:nvSpPr>
          <p:cNvPr id="5" name="Shape 3"/>
          <p:cNvSpPr/>
          <p:nvPr/>
        </p:nvSpPr>
        <p:spPr>
          <a:xfrm>
            <a:off x="731520" y="1179576"/>
            <a:ext cx="438912" cy="438912"/>
          </a:xfrm>
          <a:prstGeom prst="ellipse">
            <a:avLst/>
          </a:prstGeom>
          <a:solidFill>
            <a:srgbClr val="86BC25"/>
          </a:solidFill>
          <a:ln w="12700">
            <a:solidFill>
              <a:srgbClr val="86BC25"/>
            </a:solidFill>
            <a:prstDash val="solid"/>
          </a:ln>
        </p:spPr>
      </p:sp>
      <p:sp>
        <p:nvSpPr>
          <p:cNvPr id="6" name="Text 4"/>
          <p:cNvSpPr/>
          <p:nvPr/>
        </p:nvSpPr>
        <p:spPr>
          <a:xfrm>
            <a:off x="731520" y="1280160"/>
            <a:ext cx="438912" cy="146304"/>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7" name="Shape 5"/>
          <p:cNvSpPr/>
          <p:nvPr/>
        </p:nvSpPr>
        <p:spPr>
          <a:xfrm>
            <a:off x="950976" y="1618488"/>
            <a:ext cx="1" cy="393192"/>
          </a:xfrm>
          <a:prstGeom prst="line">
            <a:avLst/>
          </a:prstGeom>
          <a:noFill/>
          <a:ln w="25400">
            <a:solidFill>
              <a:srgbClr val="B9D37C"/>
            </a:solidFill>
            <a:prstDash val="solid"/>
          </a:ln>
        </p:spPr>
      </p:sp>
      <p:sp>
        <p:nvSpPr>
          <p:cNvPr id="8" name="Text 6"/>
          <p:cNvSpPr/>
          <p:nvPr/>
        </p:nvSpPr>
        <p:spPr>
          <a:xfrm>
            <a:off x="1417320" y="1143000"/>
            <a:ext cx="2331720" cy="274320"/>
          </a:xfrm>
          <a:prstGeom prst="rect">
            <a:avLst/>
          </a:prstGeom>
          <a:noFill/>
          <a:ln/>
        </p:spPr>
        <p:txBody>
          <a:bodyPr wrap="square" lIns="0" tIns="0" rIns="0" bIns="0" rtlCol="0" anchor="ctr"/>
          <a:lstStyle/>
          <a:p>
            <a:pPr marL="0" indent="0">
              <a:buNone/>
            </a:pPr>
            <a:r>
              <a:rPr lang="en-US" sz="1400" b="1" dirty="0">
                <a:solidFill>
                  <a:srgbClr val="1F1F1F"/>
                </a:solidFill>
              </a:rPr>
              <a:t>Definir alcance</a:t>
            </a:r>
            <a:endParaRPr lang="en-US" sz="1400" dirty="0"/>
          </a:p>
        </p:txBody>
      </p:sp>
      <p:sp>
        <p:nvSpPr>
          <p:cNvPr id="9" name="Text 7"/>
          <p:cNvSpPr/>
          <p:nvPr/>
        </p:nvSpPr>
        <p:spPr>
          <a:xfrm>
            <a:off x="3703320" y="1124712"/>
            <a:ext cx="7452360" cy="457200"/>
          </a:xfrm>
          <a:prstGeom prst="rect">
            <a:avLst/>
          </a:prstGeom>
          <a:noFill/>
          <a:ln/>
        </p:spPr>
        <p:txBody>
          <a:bodyPr wrap="square" lIns="0" tIns="0" rIns="0" bIns="0" rtlCol="0" anchor="ctr">
            <a:normAutofit/>
          </a:bodyPr>
          <a:lstStyle/>
          <a:p>
            <a:pPr marL="0" indent="0">
              <a:buNone/>
            </a:pPr>
            <a:r>
              <a:rPr lang="en-US" sz="1200" dirty="0">
                <a:solidFill>
                  <a:srgbClr val="666666"/>
                </a:solidFill>
              </a:rPr>
              <a:t>Confirmar dominio, capacidades y subcapacidades; aclarar países/BUs incluidos, nivel corporativo vs. local, owners y participantes con conocimiento operativo.</a:t>
            </a:r>
            <a:endParaRPr lang="en-US" sz="1200" dirty="0"/>
          </a:p>
        </p:txBody>
      </p:sp>
      <p:sp>
        <p:nvSpPr>
          <p:cNvPr id="10" name="Shape 8"/>
          <p:cNvSpPr/>
          <p:nvPr/>
        </p:nvSpPr>
        <p:spPr>
          <a:xfrm>
            <a:off x="731520" y="2048256"/>
            <a:ext cx="438912" cy="438912"/>
          </a:xfrm>
          <a:prstGeom prst="ellipse">
            <a:avLst/>
          </a:prstGeom>
          <a:solidFill>
            <a:srgbClr val="86BC25"/>
          </a:solidFill>
          <a:ln w="12700">
            <a:solidFill>
              <a:srgbClr val="86BC25"/>
            </a:solidFill>
            <a:prstDash val="solid"/>
          </a:ln>
        </p:spPr>
      </p:sp>
      <p:sp>
        <p:nvSpPr>
          <p:cNvPr id="11" name="Text 9"/>
          <p:cNvSpPr/>
          <p:nvPr/>
        </p:nvSpPr>
        <p:spPr>
          <a:xfrm>
            <a:off x="731520" y="2148840"/>
            <a:ext cx="438912" cy="146304"/>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2" name="Shape 10"/>
          <p:cNvSpPr/>
          <p:nvPr/>
        </p:nvSpPr>
        <p:spPr>
          <a:xfrm>
            <a:off x="950976" y="2487168"/>
            <a:ext cx="1" cy="393192"/>
          </a:xfrm>
          <a:prstGeom prst="line">
            <a:avLst/>
          </a:prstGeom>
          <a:noFill/>
          <a:ln w="25400">
            <a:solidFill>
              <a:srgbClr val="B9D37C"/>
            </a:solidFill>
            <a:prstDash val="solid"/>
          </a:ln>
        </p:spPr>
      </p:sp>
      <p:sp>
        <p:nvSpPr>
          <p:cNvPr id="13" name="Text 11"/>
          <p:cNvSpPr/>
          <p:nvPr/>
        </p:nvSpPr>
        <p:spPr>
          <a:xfrm>
            <a:off x="1417320" y="2011680"/>
            <a:ext cx="2331720" cy="274320"/>
          </a:xfrm>
          <a:prstGeom prst="rect">
            <a:avLst/>
          </a:prstGeom>
          <a:noFill/>
          <a:ln/>
        </p:spPr>
        <p:txBody>
          <a:bodyPr wrap="square" lIns="0" tIns="0" rIns="0" bIns="0" rtlCol="0" anchor="ctr"/>
          <a:lstStyle/>
          <a:p>
            <a:pPr marL="0" indent="0">
              <a:buNone/>
            </a:pPr>
            <a:r>
              <a:rPr lang="en-US" sz="1400" b="1" dirty="0">
                <a:solidFill>
                  <a:srgbClr val="1F1F1F"/>
                </a:solidFill>
              </a:rPr>
              <a:t>Solicitar documentación</a:t>
            </a:r>
            <a:endParaRPr lang="en-US" sz="1400" dirty="0"/>
          </a:p>
        </p:txBody>
      </p:sp>
      <p:sp>
        <p:nvSpPr>
          <p:cNvPr id="14" name="Text 12"/>
          <p:cNvSpPr/>
          <p:nvPr/>
        </p:nvSpPr>
        <p:spPr>
          <a:xfrm>
            <a:off x="3703320" y="1993392"/>
            <a:ext cx="7452360" cy="457200"/>
          </a:xfrm>
          <a:prstGeom prst="rect">
            <a:avLst/>
          </a:prstGeom>
          <a:noFill/>
          <a:ln/>
        </p:spPr>
        <p:txBody>
          <a:bodyPr wrap="square" lIns="0" tIns="0" rIns="0" bIns="0" rtlCol="0" anchor="ctr">
            <a:normAutofit/>
          </a:bodyPr>
          <a:lstStyle/>
          <a:p>
            <a:pPr marL="0" indent="0">
              <a:buNone/>
            </a:pPr>
            <a:r>
              <a:rPr lang="en-US" sz="1200" dirty="0">
                <a:solidFill>
                  <a:srgbClr val="666666"/>
                </a:solidFill>
              </a:rPr>
              <a:t>Preparar una solicitud de documentación por capacidad, priorizada y vinculada a las subcapacidades; indicar ejemplos de documentos útiles y formatos alternativos.</a:t>
            </a:r>
            <a:endParaRPr lang="en-US" sz="1200" dirty="0"/>
          </a:p>
        </p:txBody>
      </p:sp>
      <p:sp>
        <p:nvSpPr>
          <p:cNvPr id="15" name="Shape 13"/>
          <p:cNvSpPr/>
          <p:nvPr/>
        </p:nvSpPr>
        <p:spPr>
          <a:xfrm>
            <a:off x="731520" y="2916936"/>
            <a:ext cx="438912" cy="438912"/>
          </a:xfrm>
          <a:prstGeom prst="ellipse">
            <a:avLst/>
          </a:prstGeom>
          <a:solidFill>
            <a:srgbClr val="86BC25"/>
          </a:solidFill>
          <a:ln w="12700">
            <a:solidFill>
              <a:srgbClr val="86BC25"/>
            </a:solidFill>
            <a:prstDash val="solid"/>
          </a:ln>
        </p:spPr>
      </p:sp>
      <p:sp>
        <p:nvSpPr>
          <p:cNvPr id="16" name="Text 14"/>
          <p:cNvSpPr/>
          <p:nvPr/>
        </p:nvSpPr>
        <p:spPr>
          <a:xfrm>
            <a:off x="731520" y="3017520"/>
            <a:ext cx="438912" cy="146304"/>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7" name="Shape 15"/>
          <p:cNvSpPr/>
          <p:nvPr/>
        </p:nvSpPr>
        <p:spPr>
          <a:xfrm>
            <a:off x="950976" y="3355848"/>
            <a:ext cx="1" cy="393192"/>
          </a:xfrm>
          <a:prstGeom prst="line">
            <a:avLst/>
          </a:prstGeom>
          <a:noFill/>
          <a:ln w="25400">
            <a:solidFill>
              <a:srgbClr val="B9D37C"/>
            </a:solidFill>
            <a:prstDash val="solid"/>
          </a:ln>
        </p:spPr>
      </p:sp>
      <p:sp>
        <p:nvSpPr>
          <p:cNvPr id="18" name="Text 16"/>
          <p:cNvSpPr/>
          <p:nvPr/>
        </p:nvSpPr>
        <p:spPr>
          <a:xfrm>
            <a:off x="1417320" y="2880360"/>
            <a:ext cx="2331720" cy="274320"/>
          </a:xfrm>
          <a:prstGeom prst="rect">
            <a:avLst/>
          </a:prstGeom>
          <a:noFill/>
          <a:ln/>
        </p:spPr>
        <p:txBody>
          <a:bodyPr wrap="square" lIns="0" tIns="0" rIns="0" bIns="0" rtlCol="0" anchor="ctr"/>
          <a:lstStyle/>
          <a:p>
            <a:pPr marL="0" indent="0">
              <a:buNone/>
            </a:pPr>
            <a:r>
              <a:rPr lang="en-US" sz="1400" b="1" dirty="0">
                <a:solidFill>
                  <a:srgbClr val="1F1F1F"/>
                </a:solidFill>
              </a:rPr>
              <a:t>Analizar documentación</a:t>
            </a:r>
            <a:endParaRPr lang="en-US" sz="1400" dirty="0"/>
          </a:p>
        </p:txBody>
      </p:sp>
      <p:sp>
        <p:nvSpPr>
          <p:cNvPr id="19" name="Text 17"/>
          <p:cNvSpPr/>
          <p:nvPr/>
        </p:nvSpPr>
        <p:spPr>
          <a:xfrm>
            <a:off x="3703320" y="2862072"/>
            <a:ext cx="7452360" cy="457200"/>
          </a:xfrm>
          <a:prstGeom prst="rect">
            <a:avLst/>
          </a:prstGeom>
          <a:noFill/>
          <a:ln/>
        </p:spPr>
        <p:txBody>
          <a:bodyPr wrap="square" lIns="0" tIns="0" rIns="0" bIns="0" rtlCol="0" anchor="ctr">
            <a:normAutofit/>
          </a:bodyPr>
          <a:lstStyle/>
          <a:p>
            <a:pPr marL="0" indent="0">
              <a:buNone/>
            </a:pPr>
            <a:r>
              <a:rPr lang="en-US" sz="1200" dirty="0">
                <a:solidFill>
                  <a:srgbClr val="666666"/>
                </a:solidFill>
              </a:rPr>
              <a:t>Revisar diseño, ejecución y adopción real; separar lo corporativamente definido de lo desplegado, y registrar contradicciones o vacíos.</a:t>
            </a:r>
            <a:endParaRPr lang="en-US" sz="1200" dirty="0"/>
          </a:p>
        </p:txBody>
      </p:sp>
      <p:sp>
        <p:nvSpPr>
          <p:cNvPr id="20" name="Shape 18"/>
          <p:cNvSpPr/>
          <p:nvPr/>
        </p:nvSpPr>
        <p:spPr>
          <a:xfrm>
            <a:off x="731520" y="3785616"/>
            <a:ext cx="438912" cy="438912"/>
          </a:xfrm>
          <a:prstGeom prst="ellipse">
            <a:avLst/>
          </a:prstGeom>
          <a:solidFill>
            <a:srgbClr val="86BC25"/>
          </a:solidFill>
          <a:ln w="12700">
            <a:solidFill>
              <a:srgbClr val="86BC25"/>
            </a:solidFill>
            <a:prstDash val="solid"/>
          </a:ln>
        </p:spPr>
      </p:sp>
      <p:sp>
        <p:nvSpPr>
          <p:cNvPr id="21" name="Text 19"/>
          <p:cNvSpPr/>
          <p:nvPr/>
        </p:nvSpPr>
        <p:spPr>
          <a:xfrm>
            <a:off x="731520" y="3886200"/>
            <a:ext cx="438912" cy="146304"/>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22" name="Shape 20"/>
          <p:cNvSpPr/>
          <p:nvPr/>
        </p:nvSpPr>
        <p:spPr>
          <a:xfrm>
            <a:off x="950976" y="4224528"/>
            <a:ext cx="1" cy="393192"/>
          </a:xfrm>
          <a:prstGeom prst="line">
            <a:avLst/>
          </a:prstGeom>
          <a:noFill/>
          <a:ln w="25400">
            <a:solidFill>
              <a:srgbClr val="B9D37C"/>
            </a:solidFill>
            <a:prstDash val="solid"/>
          </a:ln>
        </p:spPr>
      </p:sp>
      <p:sp>
        <p:nvSpPr>
          <p:cNvPr id="23" name="Text 21"/>
          <p:cNvSpPr/>
          <p:nvPr/>
        </p:nvSpPr>
        <p:spPr>
          <a:xfrm>
            <a:off x="1417320" y="3749040"/>
            <a:ext cx="2331720" cy="274320"/>
          </a:xfrm>
          <a:prstGeom prst="rect">
            <a:avLst/>
          </a:prstGeom>
          <a:noFill/>
          <a:ln/>
        </p:spPr>
        <p:txBody>
          <a:bodyPr wrap="square" lIns="0" tIns="0" rIns="0" bIns="0" rtlCol="0" anchor="ctr"/>
          <a:lstStyle/>
          <a:p>
            <a:pPr marL="0" indent="0">
              <a:buNone/>
            </a:pPr>
            <a:r>
              <a:rPr lang="en-US" sz="1400" b="1" dirty="0">
                <a:solidFill>
                  <a:srgbClr val="1F1F1F"/>
                </a:solidFill>
              </a:rPr>
              <a:t>Construir hipótesis</a:t>
            </a:r>
            <a:endParaRPr lang="en-US" sz="1400" dirty="0"/>
          </a:p>
        </p:txBody>
      </p:sp>
      <p:sp>
        <p:nvSpPr>
          <p:cNvPr id="24" name="Text 22"/>
          <p:cNvSpPr/>
          <p:nvPr/>
        </p:nvSpPr>
        <p:spPr>
          <a:xfrm>
            <a:off x="3703320" y="3730752"/>
            <a:ext cx="7452360" cy="457200"/>
          </a:xfrm>
          <a:prstGeom prst="rect">
            <a:avLst/>
          </a:prstGeom>
          <a:noFill/>
          <a:ln/>
        </p:spPr>
        <p:txBody>
          <a:bodyPr wrap="square" lIns="0" tIns="0" rIns="0" bIns="0" rtlCol="0" anchor="ctr">
            <a:normAutofit/>
          </a:bodyPr>
          <a:lstStyle/>
          <a:p>
            <a:pPr marL="0" indent="0">
              <a:buNone/>
            </a:pPr>
            <a:r>
              <a:rPr lang="en-US" sz="1200" dirty="0">
                <a:solidFill>
                  <a:srgbClr val="666666"/>
                </a:solidFill>
              </a:rPr>
              <a:t>Preparar una lectura interna por dimensión, con hechos conocidos, gaps, confidence y criterios que deben debatirse; nunca llevar un score cerrado.</a:t>
            </a:r>
            <a:endParaRPr lang="en-US" sz="1200" dirty="0"/>
          </a:p>
        </p:txBody>
      </p:sp>
      <p:sp>
        <p:nvSpPr>
          <p:cNvPr id="25" name="Shape 23"/>
          <p:cNvSpPr/>
          <p:nvPr/>
        </p:nvSpPr>
        <p:spPr>
          <a:xfrm>
            <a:off x="731520" y="4654296"/>
            <a:ext cx="438912" cy="438912"/>
          </a:xfrm>
          <a:prstGeom prst="ellipse">
            <a:avLst/>
          </a:prstGeom>
          <a:solidFill>
            <a:srgbClr val="86BC25"/>
          </a:solidFill>
          <a:ln w="12700">
            <a:solidFill>
              <a:srgbClr val="86BC25"/>
            </a:solidFill>
            <a:prstDash val="solid"/>
          </a:ln>
        </p:spPr>
      </p:sp>
      <p:sp>
        <p:nvSpPr>
          <p:cNvPr id="26" name="Text 24"/>
          <p:cNvSpPr/>
          <p:nvPr/>
        </p:nvSpPr>
        <p:spPr>
          <a:xfrm>
            <a:off x="731520" y="4754880"/>
            <a:ext cx="438912" cy="146304"/>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27" name="Text 25"/>
          <p:cNvSpPr/>
          <p:nvPr/>
        </p:nvSpPr>
        <p:spPr>
          <a:xfrm>
            <a:off x="1417320" y="4617720"/>
            <a:ext cx="2331720" cy="274320"/>
          </a:xfrm>
          <a:prstGeom prst="rect">
            <a:avLst/>
          </a:prstGeom>
          <a:noFill/>
          <a:ln/>
        </p:spPr>
        <p:txBody>
          <a:bodyPr wrap="square" lIns="0" tIns="0" rIns="0" bIns="0" rtlCol="0" anchor="ctr"/>
          <a:lstStyle/>
          <a:p>
            <a:pPr marL="0" indent="0">
              <a:buNone/>
            </a:pPr>
            <a:r>
              <a:rPr lang="en-US" sz="1400" b="1" dirty="0">
                <a:solidFill>
                  <a:srgbClr val="1F1F1F"/>
                </a:solidFill>
              </a:rPr>
              <a:t>Preparar la sesión</a:t>
            </a:r>
            <a:endParaRPr lang="en-US" sz="1400" dirty="0"/>
          </a:p>
        </p:txBody>
      </p:sp>
      <p:sp>
        <p:nvSpPr>
          <p:cNvPr id="28" name="Text 26"/>
          <p:cNvSpPr/>
          <p:nvPr/>
        </p:nvSpPr>
        <p:spPr>
          <a:xfrm>
            <a:off x="3703320" y="4599432"/>
            <a:ext cx="7452360" cy="457200"/>
          </a:xfrm>
          <a:prstGeom prst="rect">
            <a:avLst/>
          </a:prstGeom>
          <a:noFill/>
          <a:ln/>
        </p:spPr>
        <p:txBody>
          <a:bodyPr wrap="square" lIns="0" tIns="0" rIns="0" bIns="0" rtlCol="0" anchor="ctr">
            <a:normAutofit/>
          </a:bodyPr>
          <a:lstStyle/>
          <a:p>
            <a:pPr marL="0" indent="0">
              <a:buNone/>
            </a:pPr>
            <a:r>
              <a:rPr lang="en-US" sz="1200" dirty="0">
                <a:solidFill>
                  <a:srgbClr val="666666"/>
                </a:solidFill>
              </a:rPr>
              <a:t>Definir preguntas de apertura, criterios a contrastar, documentación de referencia, orden de capacidades, dinámica de votación y timeboxes orientativos con margen para discusión.</a:t>
            </a:r>
            <a:endParaRPr lang="en-US" sz="1200" dirty="0"/>
          </a:p>
        </p:txBody>
      </p:sp>
      <p:sp>
        <p:nvSpPr>
          <p:cNvPr id="29" name="Shape 27"/>
          <p:cNvSpPr/>
          <p:nvPr/>
        </p:nvSpPr>
        <p:spPr>
          <a:xfrm>
            <a:off x="731520" y="5596128"/>
            <a:ext cx="10835640" cy="475488"/>
          </a:xfrm>
          <a:prstGeom prst="roundRect">
            <a:avLst>
              <a:gd name="adj" fmla="val 9615"/>
            </a:avLst>
          </a:prstGeom>
          <a:solidFill>
            <a:srgbClr val="FFF8E7"/>
          </a:solidFill>
          <a:ln w="10160">
            <a:solidFill>
              <a:srgbClr val="E7C76A"/>
            </a:solidFill>
            <a:prstDash val="solid"/>
          </a:ln>
        </p:spPr>
      </p:sp>
      <p:sp>
        <p:nvSpPr>
          <p:cNvPr id="30" name="Text 28"/>
          <p:cNvSpPr/>
          <p:nvPr/>
        </p:nvSpPr>
        <p:spPr>
          <a:xfrm>
            <a:off x="877824" y="5724144"/>
            <a:ext cx="1005840" cy="164592"/>
          </a:xfrm>
          <a:prstGeom prst="rect">
            <a:avLst/>
          </a:prstGeom>
          <a:noFill/>
          <a:ln/>
        </p:spPr>
        <p:txBody>
          <a:bodyPr wrap="square" lIns="0" tIns="0" rIns="0" bIns="0" rtlCol="0" anchor="ctr"/>
          <a:lstStyle/>
          <a:p>
            <a:pPr marL="0" indent="0">
              <a:buNone/>
            </a:pPr>
            <a:r>
              <a:rPr lang="en-US" sz="850" b="1" dirty="0">
                <a:solidFill>
                  <a:srgbClr val="8B6508"/>
                </a:solidFill>
              </a:rPr>
              <a:t>PUNTO CRÍTICO</a:t>
            </a:r>
            <a:endParaRPr lang="en-US" sz="850" dirty="0"/>
          </a:p>
        </p:txBody>
      </p:sp>
      <p:sp>
        <p:nvSpPr>
          <p:cNvPr id="31" name="Text 29"/>
          <p:cNvSpPr/>
          <p:nvPr/>
        </p:nvSpPr>
        <p:spPr>
          <a:xfrm>
            <a:off x="1920240" y="5687568"/>
            <a:ext cx="9509760" cy="256032"/>
          </a:xfrm>
          <a:prstGeom prst="rect">
            <a:avLst/>
          </a:prstGeom>
          <a:noFill/>
          <a:ln/>
        </p:spPr>
        <p:txBody>
          <a:bodyPr wrap="square" lIns="0" tIns="0" rIns="0" bIns="0" rtlCol="0" anchor="ctr">
            <a:normAutofit/>
          </a:bodyPr>
          <a:lstStyle/>
          <a:p>
            <a:pPr marL="0" indent="0">
              <a:buNone/>
            </a:pPr>
            <a:r>
              <a:rPr lang="en-US" sz="1100" dirty="0">
                <a:solidFill>
                  <a:srgbClr val="1F1F1F"/>
                </a:solidFill>
              </a:rPr>
              <a:t>La hipótesis es una herramienta interna para preparar preguntas y evidencias. El score se construye y acuerda durante la sesión, no se lleva decidido.</a:t>
            </a:r>
            <a:endParaRPr lang="en-US" sz="1100" dirty="0"/>
          </a:p>
        </p:txBody>
      </p:sp>
      <p:sp>
        <p:nvSpPr>
          <p:cNvPr id="32" name="Slide Number Placeholder 0"/>
          <p:cNvSpPr>
            <a:spLocks noGrp="1"/>
          </p:cNvSpPr>
          <p:nvPr>
            <p:ph type="sldNum" sz="quarter" idx="4294967295"/>
          </p:nvPr>
        </p:nvSpPr>
        <p:spPr>
          <a:xfrm>
            <a:off x="11686032" y="6537960"/>
            <a:ext cx="201168"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66666"/>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02920" y="310896"/>
            <a:ext cx="11064240" cy="384048"/>
          </a:xfrm>
          <a:prstGeom prst="rect">
            <a:avLst/>
          </a:prstGeom>
          <a:noFill/>
          <a:ln/>
        </p:spPr>
        <p:txBody>
          <a:bodyPr wrap="square" lIns="0" tIns="0" rIns="0" bIns="0" rtlCol="0" anchor="ctr"/>
          <a:lstStyle/>
          <a:p>
            <a:pPr marL="0" indent="0">
              <a:buNone/>
            </a:pPr>
            <a:r>
              <a:rPr lang="en-US" sz="2500" b="1" dirty="0">
                <a:solidFill>
                  <a:srgbClr val="1F1F1F"/>
                </a:solidFill>
                <a:latin typeface="Aptos Display" pitchFamily="34" charset="0"/>
                <a:ea typeface="Aptos Display" pitchFamily="34" charset="-122"/>
                <a:cs typeface="Aptos Display" pitchFamily="34" charset="-120"/>
              </a:rPr>
              <a:t>Qué debemos preparar | Catálogo de documentación por capacidad</a:t>
            </a:r>
            <a:endParaRPr lang="en-US" sz="2500" dirty="0"/>
          </a:p>
        </p:txBody>
      </p:sp>
      <p:sp>
        <p:nvSpPr>
          <p:cNvPr id="3" name="Shape 1"/>
          <p:cNvSpPr/>
          <p:nvPr/>
        </p:nvSpPr>
        <p:spPr>
          <a:xfrm>
            <a:off x="502920" y="795528"/>
            <a:ext cx="594360" cy="1"/>
          </a:xfrm>
          <a:prstGeom prst="line">
            <a:avLst/>
          </a:prstGeom>
          <a:noFill/>
          <a:ln w="50800">
            <a:solidFill>
              <a:srgbClr val="86BC25"/>
            </a:solidFill>
            <a:prstDash val="solid"/>
          </a:ln>
        </p:spPr>
      </p:sp>
      <p:sp>
        <p:nvSpPr>
          <p:cNvPr id="4" name="Text 2"/>
          <p:cNvSpPr/>
          <p:nvPr/>
        </p:nvSpPr>
        <p:spPr>
          <a:xfrm>
            <a:off x="1207008" y="704088"/>
            <a:ext cx="10149840" cy="228600"/>
          </a:xfrm>
          <a:prstGeom prst="rect">
            <a:avLst/>
          </a:prstGeom>
          <a:noFill/>
          <a:ln/>
        </p:spPr>
        <p:txBody>
          <a:bodyPr wrap="square" lIns="0" tIns="0" rIns="0" bIns="0" rtlCol="0" anchor="ctr"/>
          <a:lstStyle/>
          <a:p>
            <a:pPr marL="0" indent="0">
              <a:buNone/>
            </a:pPr>
            <a:r>
              <a:rPr lang="en-US" sz="1200" dirty="0">
                <a:solidFill>
                  <a:srgbClr val="666666"/>
                </a:solidFill>
              </a:rPr>
              <a:t>Un catálogo reutilizable que defina qué documentación solicitar para conocer previamente el punto de partida del cliente</a:t>
            </a:r>
            <a:endParaRPr lang="en-US" sz="1200" dirty="0"/>
          </a:p>
        </p:txBody>
      </p:sp>
      <p:sp>
        <p:nvSpPr>
          <p:cNvPr id="5" name="Shape 3"/>
          <p:cNvSpPr/>
          <p:nvPr/>
        </p:nvSpPr>
        <p:spPr>
          <a:xfrm>
            <a:off x="594360" y="1143000"/>
            <a:ext cx="2240280" cy="420624"/>
          </a:xfrm>
          <a:prstGeom prst="rect">
            <a:avLst/>
          </a:prstGeom>
          <a:solidFill>
            <a:srgbClr val="1F1F1F"/>
          </a:solidFill>
          <a:ln w="6350">
            <a:solidFill>
              <a:srgbClr val="FFFFFF"/>
            </a:solidFill>
            <a:prstDash val="solid"/>
          </a:ln>
        </p:spPr>
      </p:sp>
      <p:sp>
        <p:nvSpPr>
          <p:cNvPr id="6" name="Text 4"/>
          <p:cNvSpPr/>
          <p:nvPr/>
        </p:nvSpPr>
        <p:spPr>
          <a:xfrm>
            <a:off x="704088" y="1261872"/>
            <a:ext cx="2020824" cy="164592"/>
          </a:xfrm>
          <a:prstGeom prst="rect">
            <a:avLst/>
          </a:prstGeom>
          <a:noFill/>
          <a:ln/>
        </p:spPr>
        <p:txBody>
          <a:bodyPr wrap="square" lIns="0" tIns="0" rIns="0" bIns="0" rtlCol="0" anchor="ctr"/>
          <a:lstStyle/>
          <a:p>
            <a:pPr marL="0" indent="0">
              <a:buNone/>
            </a:pPr>
            <a:r>
              <a:rPr lang="en-US" sz="1050" b="1" dirty="0">
                <a:solidFill>
                  <a:srgbClr val="FFFFFF"/>
                </a:solidFill>
              </a:rPr>
              <a:t>Elemento del catálogo</a:t>
            </a:r>
            <a:endParaRPr lang="en-US" sz="1050" dirty="0"/>
          </a:p>
        </p:txBody>
      </p:sp>
      <p:sp>
        <p:nvSpPr>
          <p:cNvPr id="7" name="Shape 5"/>
          <p:cNvSpPr/>
          <p:nvPr/>
        </p:nvSpPr>
        <p:spPr>
          <a:xfrm>
            <a:off x="2971800" y="1143000"/>
            <a:ext cx="3611880" cy="420624"/>
          </a:xfrm>
          <a:prstGeom prst="rect">
            <a:avLst/>
          </a:prstGeom>
          <a:solidFill>
            <a:srgbClr val="1F1F1F"/>
          </a:solidFill>
          <a:ln w="6350">
            <a:solidFill>
              <a:srgbClr val="FFFFFF"/>
            </a:solidFill>
            <a:prstDash val="solid"/>
          </a:ln>
        </p:spPr>
      </p:sp>
      <p:sp>
        <p:nvSpPr>
          <p:cNvPr id="8" name="Text 6"/>
          <p:cNvSpPr/>
          <p:nvPr/>
        </p:nvSpPr>
        <p:spPr>
          <a:xfrm>
            <a:off x="3081528" y="1261872"/>
            <a:ext cx="3392424" cy="164592"/>
          </a:xfrm>
          <a:prstGeom prst="rect">
            <a:avLst/>
          </a:prstGeom>
          <a:noFill/>
          <a:ln/>
        </p:spPr>
        <p:txBody>
          <a:bodyPr wrap="square" lIns="0" tIns="0" rIns="0" bIns="0" rtlCol="0" anchor="ctr"/>
          <a:lstStyle/>
          <a:p>
            <a:pPr marL="0" indent="0">
              <a:buNone/>
            </a:pPr>
            <a:r>
              <a:rPr lang="en-US" sz="1050" b="1" dirty="0">
                <a:solidFill>
                  <a:srgbClr val="FFFFFF"/>
                </a:solidFill>
              </a:rPr>
              <a:t>Contenido mínimo</a:t>
            </a:r>
            <a:endParaRPr lang="en-US" sz="1050" dirty="0"/>
          </a:p>
        </p:txBody>
      </p:sp>
      <p:sp>
        <p:nvSpPr>
          <p:cNvPr id="9" name="Shape 7"/>
          <p:cNvSpPr/>
          <p:nvPr/>
        </p:nvSpPr>
        <p:spPr>
          <a:xfrm>
            <a:off x="6720840" y="1143000"/>
            <a:ext cx="4846320" cy="420624"/>
          </a:xfrm>
          <a:prstGeom prst="rect">
            <a:avLst/>
          </a:prstGeom>
          <a:solidFill>
            <a:srgbClr val="1F1F1F"/>
          </a:solidFill>
          <a:ln w="6350">
            <a:solidFill>
              <a:srgbClr val="FFFFFF"/>
            </a:solidFill>
            <a:prstDash val="solid"/>
          </a:ln>
        </p:spPr>
      </p:sp>
      <p:sp>
        <p:nvSpPr>
          <p:cNvPr id="10" name="Text 8"/>
          <p:cNvSpPr/>
          <p:nvPr/>
        </p:nvSpPr>
        <p:spPr>
          <a:xfrm>
            <a:off x="6830568" y="1261872"/>
            <a:ext cx="4626864" cy="164592"/>
          </a:xfrm>
          <a:prstGeom prst="rect">
            <a:avLst/>
          </a:prstGeom>
          <a:noFill/>
          <a:ln/>
        </p:spPr>
        <p:txBody>
          <a:bodyPr wrap="square" lIns="0" tIns="0" rIns="0" bIns="0" rtlCol="0" anchor="ctr"/>
          <a:lstStyle/>
          <a:p>
            <a:pPr marL="0" indent="0">
              <a:buNone/>
            </a:pPr>
            <a:r>
              <a:rPr lang="en-US" sz="1050" b="1" dirty="0">
                <a:solidFill>
                  <a:srgbClr val="FFFFFF"/>
                </a:solidFill>
              </a:rPr>
              <a:t>Uso en el assessment</a:t>
            </a:r>
            <a:endParaRPr lang="en-US" sz="1050" dirty="0"/>
          </a:p>
        </p:txBody>
      </p:sp>
      <p:sp>
        <p:nvSpPr>
          <p:cNvPr id="11" name="Shape 9"/>
          <p:cNvSpPr/>
          <p:nvPr/>
        </p:nvSpPr>
        <p:spPr>
          <a:xfrm>
            <a:off x="594360" y="1563624"/>
            <a:ext cx="2240280" cy="658368"/>
          </a:xfrm>
          <a:prstGeom prst="rect">
            <a:avLst/>
          </a:prstGeom>
          <a:solidFill>
            <a:srgbClr val="FFFFFF"/>
          </a:solidFill>
          <a:ln w="5715">
            <a:solidFill>
              <a:srgbClr val="D9D9D9"/>
            </a:solidFill>
            <a:prstDash val="solid"/>
          </a:ln>
        </p:spPr>
      </p:sp>
      <p:sp>
        <p:nvSpPr>
          <p:cNvPr id="12" name="Text 10"/>
          <p:cNvSpPr/>
          <p:nvPr/>
        </p:nvSpPr>
        <p:spPr>
          <a:xfrm>
            <a:off x="685800" y="1655064"/>
            <a:ext cx="2057400" cy="457200"/>
          </a:xfrm>
          <a:prstGeom prst="rect">
            <a:avLst/>
          </a:prstGeom>
          <a:noFill/>
          <a:ln/>
        </p:spPr>
        <p:txBody>
          <a:bodyPr wrap="square" lIns="0" tIns="0" rIns="0" bIns="0" rtlCol="0" anchor="ctr">
            <a:normAutofit/>
          </a:bodyPr>
          <a:lstStyle/>
          <a:p>
            <a:pPr marL="0" indent="0">
              <a:buNone/>
            </a:pPr>
            <a:r>
              <a:rPr lang="en-US" sz="1030" b="1" dirty="0">
                <a:solidFill>
                  <a:srgbClr val="1F1F1F"/>
                </a:solidFill>
              </a:rPr>
              <a:t>Tipo de documentación</a:t>
            </a:r>
            <a:endParaRPr lang="en-US" sz="1030" dirty="0"/>
          </a:p>
        </p:txBody>
      </p:sp>
      <p:sp>
        <p:nvSpPr>
          <p:cNvPr id="13" name="Shape 11"/>
          <p:cNvSpPr/>
          <p:nvPr/>
        </p:nvSpPr>
        <p:spPr>
          <a:xfrm>
            <a:off x="2971800" y="1563624"/>
            <a:ext cx="3611880" cy="658368"/>
          </a:xfrm>
          <a:prstGeom prst="rect">
            <a:avLst/>
          </a:prstGeom>
          <a:solidFill>
            <a:srgbClr val="FFFFFF"/>
          </a:solidFill>
          <a:ln w="5715">
            <a:solidFill>
              <a:srgbClr val="D9D9D9"/>
            </a:solidFill>
            <a:prstDash val="solid"/>
          </a:ln>
        </p:spPr>
      </p:sp>
      <p:sp>
        <p:nvSpPr>
          <p:cNvPr id="14" name="Text 12"/>
          <p:cNvSpPr/>
          <p:nvPr/>
        </p:nvSpPr>
        <p:spPr>
          <a:xfrm>
            <a:off x="3063240" y="1655064"/>
            <a:ext cx="3429000" cy="457200"/>
          </a:xfrm>
          <a:prstGeom prst="rect">
            <a:avLst/>
          </a:prstGeom>
          <a:noFill/>
          <a:ln/>
        </p:spPr>
        <p:txBody>
          <a:bodyPr wrap="square" lIns="0" tIns="0" rIns="0" bIns="0" rtlCol="0" anchor="ctr">
            <a:normAutofit/>
          </a:bodyPr>
          <a:lstStyle/>
          <a:p>
            <a:pPr marL="0" indent="0">
              <a:buNone/>
            </a:pPr>
            <a:r>
              <a:rPr lang="en-US" sz="980" dirty="0">
                <a:solidFill>
                  <a:srgbClr val="666666"/>
                </a:solidFill>
              </a:rPr>
              <a:t>RACI, políticas, process maps, calendarios, report packs, architecture, workflows, KPIs…</a:t>
            </a:r>
            <a:endParaRPr lang="en-US" sz="980" dirty="0"/>
          </a:p>
        </p:txBody>
      </p:sp>
      <p:sp>
        <p:nvSpPr>
          <p:cNvPr id="15" name="Shape 13"/>
          <p:cNvSpPr/>
          <p:nvPr/>
        </p:nvSpPr>
        <p:spPr>
          <a:xfrm>
            <a:off x="6720840" y="1563624"/>
            <a:ext cx="4846320" cy="658368"/>
          </a:xfrm>
          <a:prstGeom prst="rect">
            <a:avLst/>
          </a:prstGeom>
          <a:solidFill>
            <a:srgbClr val="FFFFFF"/>
          </a:solidFill>
          <a:ln w="5715">
            <a:solidFill>
              <a:srgbClr val="D9D9D9"/>
            </a:solidFill>
            <a:prstDash val="solid"/>
          </a:ln>
        </p:spPr>
      </p:sp>
      <p:sp>
        <p:nvSpPr>
          <p:cNvPr id="16" name="Text 14"/>
          <p:cNvSpPr/>
          <p:nvPr/>
        </p:nvSpPr>
        <p:spPr>
          <a:xfrm>
            <a:off x="6812280" y="1655064"/>
            <a:ext cx="4663440" cy="457200"/>
          </a:xfrm>
          <a:prstGeom prst="rect">
            <a:avLst/>
          </a:prstGeom>
          <a:noFill/>
          <a:ln/>
        </p:spPr>
        <p:txBody>
          <a:bodyPr wrap="square" lIns="0" tIns="0" rIns="0" bIns="0" rtlCol="0" anchor="ctr">
            <a:normAutofit/>
          </a:bodyPr>
          <a:lstStyle/>
          <a:p>
            <a:pPr marL="0" indent="0">
              <a:buNone/>
            </a:pPr>
            <a:r>
              <a:rPr lang="en-US" sz="980" dirty="0">
                <a:solidFill>
                  <a:srgbClr val="666666"/>
                </a:solidFill>
              </a:rPr>
              <a:t>Estandariza qué pedir y evita solicitudes genéricas.</a:t>
            </a:r>
            <a:endParaRPr lang="en-US" sz="980" dirty="0"/>
          </a:p>
        </p:txBody>
      </p:sp>
      <p:sp>
        <p:nvSpPr>
          <p:cNvPr id="17" name="Shape 15"/>
          <p:cNvSpPr/>
          <p:nvPr/>
        </p:nvSpPr>
        <p:spPr>
          <a:xfrm>
            <a:off x="594360" y="2221992"/>
            <a:ext cx="2240280" cy="658368"/>
          </a:xfrm>
          <a:prstGeom prst="rect">
            <a:avLst/>
          </a:prstGeom>
          <a:solidFill>
            <a:srgbClr val="F7F7F7"/>
          </a:solidFill>
          <a:ln w="5715">
            <a:solidFill>
              <a:srgbClr val="D9D9D9"/>
            </a:solidFill>
            <a:prstDash val="solid"/>
          </a:ln>
        </p:spPr>
      </p:sp>
      <p:sp>
        <p:nvSpPr>
          <p:cNvPr id="18" name="Text 16"/>
          <p:cNvSpPr/>
          <p:nvPr/>
        </p:nvSpPr>
        <p:spPr>
          <a:xfrm>
            <a:off x="685800" y="2313432"/>
            <a:ext cx="2057400" cy="457200"/>
          </a:xfrm>
          <a:prstGeom prst="rect">
            <a:avLst/>
          </a:prstGeom>
          <a:noFill/>
          <a:ln/>
        </p:spPr>
        <p:txBody>
          <a:bodyPr wrap="square" lIns="0" tIns="0" rIns="0" bIns="0" rtlCol="0" anchor="ctr">
            <a:normAutofit/>
          </a:bodyPr>
          <a:lstStyle/>
          <a:p>
            <a:pPr marL="0" indent="0">
              <a:buNone/>
            </a:pPr>
            <a:r>
              <a:rPr lang="en-US" sz="1030" b="1" dirty="0">
                <a:solidFill>
                  <a:srgbClr val="1F1F1F"/>
                </a:solidFill>
              </a:rPr>
              <a:t>Capacidad / subcapacidad</a:t>
            </a:r>
            <a:endParaRPr lang="en-US" sz="1030" dirty="0"/>
          </a:p>
        </p:txBody>
      </p:sp>
      <p:sp>
        <p:nvSpPr>
          <p:cNvPr id="19" name="Shape 17"/>
          <p:cNvSpPr/>
          <p:nvPr/>
        </p:nvSpPr>
        <p:spPr>
          <a:xfrm>
            <a:off x="2971800" y="2221992"/>
            <a:ext cx="3611880" cy="658368"/>
          </a:xfrm>
          <a:prstGeom prst="rect">
            <a:avLst/>
          </a:prstGeom>
          <a:solidFill>
            <a:srgbClr val="F7F7F7"/>
          </a:solidFill>
          <a:ln w="5715">
            <a:solidFill>
              <a:srgbClr val="D9D9D9"/>
            </a:solidFill>
            <a:prstDash val="solid"/>
          </a:ln>
        </p:spPr>
      </p:sp>
      <p:sp>
        <p:nvSpPr>
          <p:cNvPr id="20" name="Text 18"/>
          <p:cNvSpPr/>
          <p:nvPr/>
        </p:nvSpPr>
        <p:spPr>
          <a:xfrm>
            <a:off x="3063240" y="2313432"/>
            <a:ext cx="3429000" cy="457200"/>
          </a:xfrm>
          <a:prstGeom prst="rect">
            <a:avLst/>
          </a:prstGeom>
          <a:noFill/>
          <a:ln/>
        </p:spPr>
        <p:txBody>
          <a:bodyPr wrap="square" lIns="0" tIns="0" rIns="0" bIns="0" rtlCol="0" anchor="ctr">
            <a:normAutofit/>
          </a:bodyPr>
          <a:lstStyle/>
          <a:p>
            <a:pPr marL="0" indent="0">
              <a:buNone/>
            </a:pPr>
            <a:r>
              <a:rPr lang="en-US" sz="980" dirty="0">
                <a:solidFill>
                  <a:srgbClr val="666666"/>
                </a:solidFill>
              </a:rPr>
              <a:t>Relación explícita con el taxonomy del acelerador.</a:t>
            </a:r>
            <a:endParaRPr lang="en-US" sz="980" dirty="0"/>
          </a:p>
        </p:txBody>
      </p:sp>
      <p:sp>
        <p:nvSpPr>
          <p:cNvPr id="21" name="Shape 19"/>
          <p:cNvSpPr/>
          <p:nvPr/>
        </p:nvSpPr>
        <p:spPr>
          <a:xfrm>
            <a:off x="6720840" y="2221992"/>
            <a:ext cx="4846320" cy="658368"/>
          </a:xfrm>
          <a:prstGeom prst="rect">
            <a:avLst/>
          </a:prstGeom>
          <a:solidFill>
            <a:srgbClr val="F7F7F7"/>
          </a:solidFill>
          <a:ln w="5715">
            <a:solidFill>
              <a:srgbClr val="D9D9D9"/>
            </a:solidFill>
            <a:prstDash val="solid"/>
          </a:ln>
        </p:spPr>
      </p:sp>
      <p:sp>
        <p:nvSpPr>
          <p:cNvPr id="22" name="Text 20"/>
          <p:cNvSpPr/>
          <p:nvPr/>
        </p:nvSpPr>
        <p:spPr>
          <a:xfrm>
            <a:off x="6812280" y="2313432"/>
            <a:ext cx="4663440" cy="457200"/>
          </a:xfrm>
          <a:prstGeom prst="rect">
            <a:avLst/>
          </a:prstGeom>
          <a:noFill/>
          <a:ln/>
        </p:spPr>
        <p:txBody>
          <a:bodyPr wrap="square" lIns="0" tIns="0" rIns="0" bIns="0" rtlCol="0" anchor="ctr">
            <a:normAutofit/>
          </a:bodyPr>
          <a:lstStyle/>
          <a:p>
            <a:pPr marL="0" indent="0">
              <a:buNone/>
            </a:pPr>
            <a:r>
              <a:rPr lang="en-US" sz="980" dirty="0">
                <a:solidFill>
                  <a:srgbClr val="666666"/>
                </a:solidFill>
              </a:rPr>
              <a:t>Permite reutilizar un documento para comprender varias subcapacidades.</a:t>
            </a:r>
            <a:endParaRPr lang="en-US" sz="980" dirty="0"/>
          </a:p>
        </p:txBody>
      </p:sp>
      <p:sp>
        <p:nvSpPr>
          <p:cNvPr id="23" name="Shape 21"/>
          <p:cNvSpPr/>
          <p:nvPr/>
        </p:nvSpPr>
        <p:spPr>
          <a:xfrm>
            <a:off x="594360" y="2880360"/>
            <a:ext cx="2240280" cy="658368"/>
          </a:xfrm>
          <a:prstGeom prst="rect">
            <a:avLst/>
          </a:prstGeom>
          <a:solidFill>
            <a:srgbClr val="FFFFFF"/>
          </a:solidFill>
          <a:ln w="5715">
            <a:solidFill>
              <a:srgbClr val="D9D9D9"/>
            </a:solidFill>
            <a:prstDash val="solid"/>
          </a:ln>
        </p:spPr>
      </p:sp>
      <p:sp>
        <p:nvSpPr>
          <p:cNvPr id="24" name="Text 22"/>
          <p:cNvSpPr/>
          <p:nvPr/>
        </p:nvSpPr>
        <p:spPr>
          <a:xfrm>
            <a:off x="685800" y="2971800"/>
            <a:ext cx="2057400" cy="457200"/>
          </a:xfrm>
          <a:prstGeom prst="rect">
            <a:avLst/>
          </a:prstGeom>
          <a:noFill/>
          <a:ln/>
        </p:spPr>
        <p:txBody>
          <a:bodyPr wrap="square" lIns="0" tIns="0" rIns="0" bIns="0" rtlCol="0" anchor="ctr">
            <a:normAutofit/>
          </a:bodyPr>
          <a:lstStyle/>
          <a:p>
            <a:r>
              <a:rPr lang="en-US" sz="1000" b="1" dirty="0" err="1">
                <a:solidFill>
                  <a:srgbClr val="1F1F1F"/>
                </a:solidFill>
              </a:rPr>
              <a:t>Dimensión</a:t>
            </a:r>
            <a:r>
              <a:rPr lang="en-US" sz="1000" b="1" dirty="0">
                <a:solidFill>
                  <a:srgbClr val="1F1F1F"/>
                </a:solidFill>
              </a:rPr>
              <a:t> org/</a:t>
            </a:r>
            <a:r>
              <a:rPr lang="en-US" sz="1000" b="1" dirty="0" err="1">
                <a:solidFill>
                  <a:srgbClr val="1F1F1F"/>
                </a:solidFill>
              </a:rPr>
              <a:t>proceso</a:t>
            </a:r>
            <a:r>
              <a:rPr lang="en-US" sz="1000" b="1" dirty="0">
                <a:solidFill>
                  <a:srgbClr val="1F1F1F"/>
                </a:solidFill>
              </a:rPr>
              <a:t>/tech</a:t>
            </a:r>
            <a:endParaRPr lang="en-US" sz="1030" dirty="0"/>
          </a:p>
        </p:txBody>
      </p:sp>
      <p:sp>
        <p:nvSpPr>
          <p:cNvPr id="25" name="Shape 23"/>
          <p:cNvSpPr/>
          <p:nvPr/>
        </p:nvSpPr>
        <p:spPr>
          <a:xfrm>
            <a:off x="2971800" y="2880360"/>
            <a:ext cx="3611880" cy="658368"/>
          </a:xfrm>
          <a:prstGeom prst="rect">
            <a:avLst/>
          </a:prstGeom>
          <a:solidFill>
            <a:srgbClr val="FFFFFF"/>
          </a:solidFill>
          <a:ln w="5715">
            <a:solidFill>
              <a:srgbClr val="D9D9D9"/>
            </a:solidFill>
            <a:prstDash val="solid"/>
          </a:ln>
        </p:spPr>
      </p:sp>
      <p:sp>
        <p:nvSpPr>
          <p:cNvPr id="26" name="Text 24"/>
          <p:cNvSpPr/>
          <p:nvPr/>
        </p:nvSpPr>
        <p:spPr>
          <a:xfrm>
            <a:off x="3063240" y="2971800"/>
            <a:ext cx="3429000" cy="457200"/>
          </a:xfrm>
          <a:prstGeom prst="rect">
            <a:avLst/>
          </a:prstGeom>
          <a:noFill/>
          <a:ln/>
        </p:spPr>
        <p:txBody>
          <a:bodyPr wrap="square" lIns="0" tIns="0" rIns="0" bIns="0" rtlCol="0" anchor="ctr">
            <a:normAutofit/>
          </a:bodyPr>
          <a:lstStyle/>
          <a:p>
            <a:pPr marL="0" indent="0">
              <a:buNone/>
            </a:pPr>
            <a:r>
              <a:rPr lang="en-US" sz="980" dirty="0">
                <a:solidFill>
                  <a:srgbClr val="666666"/>
                </a:solidFill>
              </a:rPr>
              <a:t>Qué dimensión ayuda a comprender y qué información puede aportar.</a:t>
            </a:r>
            <a:endParaRPr lang="en-US" sz="980" dirty="0"/>
          </a:p>
        </p:txBody>
      </p:sp>
      <p:sp>
        <p:nvSpPr>
          <p:cNvPr id="27" name="Shape 25"/>
          <p:cNvSpPr/>
          <p:nvPr/>
        </p:nvSpPr>
        <p:spPr>
          <a:xfrm>
            <a:off x="6720840" y="2880360"/>
            <a:ext cx="4846320" cy="658368"/>
          </a:xfrm>
          <a:prstGeom prst="rect">
            <a:avLst/>
          </a:prstGeom>
          <a:solidFill>
            <a:srgbClr val="FFFFFF"/>
          </a:solidFill>
          <a:ln w="5715">
            <a:solidFill>
              <a:srgbClr val="D9D9D9"/>
            </a:solidFill>
            <a:prstDash val="solid"/>
          </a:ln>
        </p:spPr>
      </p:sp>
      <p:sp>
        <p:nvSpPr>
          <p:cNvPr id="28" name="Text 26"/>
          <p:cNvSpPr/>
          <p:nvPr/>
        </p:nvSpPr>
        <p:spPr>
          <a:xfrm>
            <a:off x="6812280" y="2971800"/>
            <a:ext cx="4663440" cy="457200"/>
          </a:xfrm>
          <a:prstGeom prst="rect">
            <a:avLst/>
          </a:prstGeom>
          <a:noFill/>
          <a:ln/>
        </p:spPr>
        <p:txBody>
          <a:bodyPr wrap="square" lIns="0" tIns="0" rIns="0" bIns="0" rtlCol="0" anchor="ctr">
            <a:normAutofit/>
          </a:bodyPr>
          <a:lstStyle/>
          <a:p>
            <a:pPr marL="0" indent="0">
              <a:buNone/>
            </a:pPr>
            <a:r>
              <a:rPr lang="en-US" sz="980" dirty="0">
                <a:solidFill>
                  <a:srgbClr val="666666"/>
                </a:solidFill>
              </a:rPr>
              <a:t>Orienta la revisión previa entre organización, proceso y tecnología.</a:t>
            </a:r>
            <a:endParaRPr lang="en-US" sz="980" dirty="0"/>
          </a:p>
        </p:txBody>
      </p:sp>
      <p:sp>
        <p:nvSpPr>
          <p:cNvPr id="29" name="Shape 27"/>
          <p:cNvSpPr/>
          <p:nvPr/>
        </p:nvSpPr>
        <p:spPr>
          <a:xfrm>
            <a:off x="594360" y="3538728"/>
            <a:ext cx="2240280" cy="658368"/>
          </a:xfrm>
          <a:prstGeom prst="rect">
            <a:avLst/>
          </a:prstGeom>
          <a:solidFill>
            <a:srgbClr val="F7F7F7"/>
          </a:solidFill>
          <a:ln w="5715">
            <a:solidFill>
              <a:srgbClr val="D9D9D9"/>
            </a:solidFill>
            <a:prstDash val="solid"/>
          </a:ln>
        </p:spPr>
      </p:sp>
      <p:sp>
        <p:nvSpPr>
          <p:cNvPr id="30" name="Text 28"/>
          <p:cNvSpPr/>
          <p:nvPr/>
        </p:nvSpPr>
        <p:spPr>
          <a:xfrm>
            <a:off x="685800" y="3630168"/>
            <a:ext cx="2057400" cy="457200"/>
          </a:xfrm>
          <a:prstGeom prst="rect">
            <a:avLst/>
          </a:prstGeom>
          <a:noFill/>
          <a:ln/>
        </p:spPr>
        <p:txBody>
          <a:bodyPr wrap="square" lIns="0" tIns="0" rIns="0" bIns="0" rtlCol="0" anchor="ctr">
            <a:normAutofit/>
          </a:bodyPr>
          <a:lstStyle/>
          <a:p>
            <a:pPr marL="0" indent="0">
              <a:buNone/>
            </a:pPr>
            <a:r>
              <a:rPr lang="en-US" sz="1030" b="1" dirty="0">
                <a:solidFill>
                  <a:srgbClr val="1F1F1F"/>
                </a:solidFill>
              </a:rPr>
              <a:t>Utilidad para el análisis</a:t>
            </a:r>
            <a:endParaRPr lang="en-US" sz="1030" dirty="0"/>
          </a:p>
        </p:txBody>
      </p:sp>
      <p:sp>
        <p:nvSpPr>
          <p:cNvPr id="31" name="Shape 29"/>
          <p:cNvSpPr/>
          <p:nvPr/>
        </p:nvSpPr>
        <p:spPr>
          <a:xfrm>
            <a:off x="2971800" y="3538728"/>
            <a:ext cx="3611880" cy="658368"/>
          </a:xfrm>
          <a:prstGeom prst="rect">
            <a:avLst/>
          </a:prstGeom>
          <a:solidFill>
            <a:srgbClr val="F7F7F7"/>
          </a:solidFill>
          <a:ln w="5715">
            <a:solidFill>
              <a:srgbClr val="D9D9D9"/>
            </a:solidFill>
            <a:prstDash val="solid"/>
          </a:ln>
        </p:spPr>
      </p:sp>
      <p:sp>
        <p:nvSpPr>
          <p:cNvPr id="32" name="Text 30"/>
          <p:cNvSpPr/>
          <p:nvPr/>
        </p:nvSpPr>
        <p:spPr>
          <a:xfrm>
            <a:off x="3063240" y="3630168"/>
            <a:ext cx="3429000" cy="457200"/>
          </a:xfrm>
          <a:prstGeom prst="rect">
            <a:avLst/>
          </a:prstGeom>
          <a:noFill/>
          <a:ln/>
        </p:spPr>
        <p:txBody>
          <a:bodyPr wrap="square" lIns="0" tIns="0" rIns="0" bIns="0" rtlCol="0" anchor="ctr">
            <a:normAutofit/>
          </a:bodyPr>
          <a:lstStyle/>
          <a:p>
            <a:pPr marL="0" indent="0">
              <a:buNone/>
            </a:pPr>
            <a:r>
              <a:rPr lang="en-US" sz="980" dirty="0">
                <a:solidFill>
                  <a:srgbClr val="666666"/>
                </a:solidFill>
              </a:rPr>
              <a:t>Qué aspectos permite conocer: diseño, operación, cobertura, adopción o automatización.</a:t>
            </a:r>
            <a:endParaRPr lang="en-US" sz="980" dirty="0"/>
          </a:p>
        </p:txBody>
      </p:sp>
      <p:sp>
        <p:nvSpPr>
          <p:cNvPr id="33" name="Shape 31"/>
          <p:cNvSpPr/>
          <p:nvPr/>
        </p:nvSpPr>
        <p:spPr>
          <a:xfrm>
            <a:off x="6720840" y="3538728"/>
            <a:ext cx="4846320" cy="658368"/>
          </a:xfrm>
          <a:prstGeom prst="rect">
            <a:avLst/>
          </a:prstGeom>
          <a:solidFill>
            <a:srgbClr val="F7F7F7"/>
          </a:solidFill>
          <a:ln w="5715">
            <a:solidFill>
              <a:srgbClr val="D9D9D9"/>
            </a:solidFill>
            <a:prstDash val="solid"/>
          </a:ln>
        </p:spPr>
      </p:sp>
      <p:sp>
        <p:nvSpPr>
          <p:cNvPr id="34" name="Text 32"/>
          <p:cNvSpPr/>
          <p:nvPr/>
        </p:nvSpPr>
        <p:spPr>
          <a:xfrm>
            <a:off x="6812280" y="3630168"/>
            <a:ext cx="4663440" cy="457200"/>
          </a:xfrm>
          <a:prstGeom prst="rect">
            <a:avLst/>
          </a:prstGeom>
          <a:noFill/>
          <a:ln/>
        </p:spPr>
        <p:txBody>
          <a:bodyPr wrap="square" lIns="0" tIns="0" rIns="0" bIns="0" rtlCol="0" anchor="ctr">
            <a:normAutofit/>
          </a:bodyPr>
          <a:lstStyle/>
          <a:p>
            <a:pPr marL="0" indent="0">
              <a:buNone/>
            </a:pPr>
            <a:r>
              <a:rPr lang="en-US" sz="980" dirty="0">
                <a:solidFill>
                  <a:srgbClr val="666666"/>
                </a:solidFill>
              </a:rPr>
              <a:t>Ayuda a priorizar la documentación realmente útil para preparar la sesión.</a:t>
            </a:r>
            <a:endParaRPr lang="en-US" sz="980" dirty="0"/>
          </a:p>
        </p:txBody>
      </p:sp>
      <p:sp>
        <p:nvSpPr>
          <p:cNvPr id="35" name="Shape 33"/>
          <p:cNvSpPr/>
          <p:nvPr/>
        </p:nvSpPr>
        <p:spPr>
          <a:xfrm>
            <a:off x="594360" y="4197096"/>
            <a:ext cx="2240280" cy="658368"/>
          </a:xfrm>
          <a:prstGeom prst="rect">
            <a:avLst/>
          </a:prstGeom>
          <a:solidFill>
            <a:srgbClr val="FFFFFF"/>
          </a:solidFill>
          <a:ln w="5715">
            <a:solidFill>
              <a:srgbClr val="D9D9D9"/>
            </a:solidFill>
            <a:prstDash val="solid"/>
          </a:ln>
        </p:spPr>
      </p:sp>
      <p:sp>
        <p:nvSpPr>
          <p:cNvPr id="36" name="Text 34"/>
          <p:cNvSpPr/>
          <p:nvPr/>
        </p:nvSpPr>
        <p:spPr>
          <a:xfrm>
            <a:off x="685800" y="4288536"/>
            <a:ext cx="2057400" cy="457200"/>
          </a:xfrm>
          <a:prstGeom prst="rect">
            <a:avLst/>
          </a:prstGeom>
          <a:noFill/>
          <a:ln/>
        </p:spPr>
        <p:txBody>
          <a:bodyPr wrap="square" lIns="0" tIns="0" rIns="0" bIns="0" rtlCol="0" anchor="ctr">
            <a:normAutofit/>
          </a:bodyPr>
          <a:lstStyle/>
          <a:p>
            <a:pPr marL="0" indent="0">
              <a:buNone/>
            </a:pPr>
            <a:r>
              <a:rPr lang="en-US" sz="1030" b="1" dirty="0">
                <a:solidFill>
                  <a:srgbClr val="1F1F1F"/>
                </a:solidFill>
              </a:rPr>
              <a:t>Prioridad y alternativa</a:t>
            </a:r>
            <a:endParaRPr lang="en-US" sz="1030" dirty="0"/>
          </a:p>
        </p:txBody>
      </p:sp>
      <p:sp>
        <p:nvSpPr>
          <p:cNvPr id="37" name="Shape 35"/>
          <p:cNvSpPr/>
          <p:nvPr/>
        </p:nvSpPr>
        <p:spPr>
          <a:xfrm>
            <a:off x="2971800" y="4197096"/>
            <a:ext cx="3611880" cy="658368"/>
          </a:xfrm>
          <a:prstGeom prst="rect">
            <a:avLst/>
          </a:prstGeom>
          <a:solidFill>
            <a:srgbClr val="FFFFFF"/>
          </a:solidFill>
          <a:ln w="5715">
            <a:solidFill>
              <a:srgbClr val="D9D9D9"/>
            </a:solidFill>
            <a:prstDash val="solid"/>
          </a:ln>
        </p:spPr>
      </p:sp>
      <p:sp>
        <p:nvSpPr>
          <p:cNvPr id="38" name="Text 36"/>
          <p:cNvSpPr/>
          <p:nvPr/>
        </p:nvSpPr>
        <p:spPr>
          <a:xfrm>
            <a:off x="3063240" y="4288536"/>
            <a:ext cx="3429000" cy="457200"/>
          </a:xfrm>
          <a:prstGeom prst="rect">
            <a:avLst/>
          </a:prstGeom>
          <a:noFill/>
          <a:ln/>
        </p:spPr>
        <p:txBody>
          <a:bodyPr wrap="square" lIns="0" tIns="0" rIns="0" bIns="0" rtlCol="0" anchor="ctr">
            <a:normAutofit/>
          </a:bodyPr>
          <a:lstStyle/>
          <a:p>
            <a:pPr marL="0" indent="0">
              <a:buNone/>
            </a:pPr>
            <a:r>
              <a:rPr lang="en-US" sz="980" dirty="0">
                <a:solidFill>
                  <a:srgbClr val="666666"/>
                </a:solidFill>
              </a:rPr>
              <a:t>Must-have / useful / optional; documento o fuente alternativa aceptable.</a:t>
            </a:r>
            <a:endParaRPr lang="en-US" sz="980" dirty="0"/>
          </a:p>
        </p:txBody>
      </p:sp>
      <p:sp>
        <p:nvSpPr>
          <p:cNvPr id="39" name="Shape 37"/>
          <p:cNvSpPr/>
          <p:nvPr/>
        </p:nvSpPr>
        <p:spPr>
          <a:xfrm>
            <a:off x="6720840" y="4197096"/>
            <a:ext cx="4846320" cy="658368"/>
          </a:xfrm>
          <a:prstGeom prst="rect">
            <a:avLst/>
          </a:prstGeom>
          <a:solidFill>
            <a:srgbClr val="FFFFFF"/>
          </a:solidFill>
          <a:ln w="5715">
            <a:solidFill>
              <a:srgbClr val="D9D9D9"/>
            </a:solidFill>
            <a:prstDash val="solid"/>
          </a:ln>
        </p:spPr>
      </p:sp>
      <p:sp>
        <p:nvSpPr>
          <p:cNvPr id="40" name="Text 38"/>
          <p:cNvSpPr/>
          <p:nvPr/>
        </p:nvSpPr>
        <p:spPr>
          <a:xfrm>
            <a:off x="6812280" y="4288536"/>
            <a:ext cx="4663440" cy="457200"/>
          </a:xfrm>
          <a:prstGeom prst="rect">
            <a:avLst/>
          </a:prstGeom>
          <a:noFill/>
          <a:ln/>
        </p:spPr>
        <p:txBody>
          <a:bodyPr wrap="square" lIns="0" tIns="0" rIns="0" bIns="0" rtlCol="0" anchor="ctr">
            <a:normAutofit/>
          </a:bodyPr>
          <a:lstStyle/>
          <a:p>
            <a:pPr marL="0" indent="0">
              <a:buNone/>
            </a:pPr>
            <a:r>
              <a:rPr lang="en-US" sz="980" dirty="0">
                <a:solidFill>
                  <a:srgbClr val="666666"/>
                </a:solidFill>
              </a:rPr>
              <a:t>Reduce carga al cliente y gestiona documentación no disponible.</a:t>
            </a:r>
            <a:endParaRPr lang="en-US" sz="980" dirty="0"/>
          </a:p>
        </p:txBody>
      </p:sp>
      <p:sp>
        <p:nvSpPr>
          <p:cNvPr id="41" name="Shape 39"/>
          <p:cNvSpPr/>
          <p:nvPr/>
        </p:nvSpPr>
        <p:spPr>
          <a:xfrm>
            <a:off x="594360" y="4855464"/>
            <a:ext cx="2240280" cy="658368"/>
          </a:xfrm>
          <a:prstGeom prst="rect">
            <a:avLst/>
          </a:prstGeom>
          <a:solidFill>
            <a:srgbClr val="F7F7F7"/>
          </a:solidFill>
          <a:ln w="5715">
            <a:solidFill>
              <a:srgbClr val="D9D9D9"/>
            </a:solidFill>
            <a:prstDash val="solid"/>
          </a:ln>
        </p:spPr>
      </p:sp>
      <p:sp>
        <p:nvSpPr>
          <p:cNvPr id="42" name="Text 40"/>
          <p:cNvSpPr/>
          <p:nvPr/>
        </p:nvSpPr>
        <p:spPr>
          <a:xfrm>
            <a:off x="685800" y="4946904"/>
            <a:ext cx="2057400" cy="457200"/>
          </a:xfrm>
          <a:prstGeom prst="rect">
            <a:avLst/>
          </a:prstGeom>
          <a:noFill/>
          <a:ln/>
        </p:spPr>
        <p:txBody>
          <a:bodyPr wrap="square" lIns="0" tIns="0" rIns="0" bIns="0" rtlCol="0" anchor="ctr">
            <a:normAutofit/>
          </a:bodyPr>
          <a:lstStyle/>
          <a:p>
            <a:pPr marL="0" indent="0">
              <a:buNone/>
            </a:pPr>
            <a:r>
              <a:rPr lang="en-US" sz="1030" b="1" dirty="0">
                <a:solidFill>
                  <a:srgbClr val="1F1F1F"/>
                </a:solidFill>
              </a:rPr>
              <a:t>Owner y estado</a:t>
            </a:r>
            <a:endParaRPr lang="en-US" sz="1030" dirty="0"/>
          </a:p>
        </p:txBody>
      </p:sp>
      <p:sp>
        <p:nvSpPr>
          <p:cNvPr id="43" name="Shape 41"/>
          <p:cNvSpPr/>
          <p:nvPr/>
        </p:nvSpPr>
        <p:spPr>
          <a:xfrm>
            <a:off x="2971800" y="4855464"/>
            <a:ext cx="3611880" cy="658368"/>
          </a:xfrm>
          <a:prstGeom prst="rect">
            <a:avLst/>
          </a:prstGeom>
          <a:solidFill>
            <a:srgbClr val="F7F7F7"/>
          </a:solidFill>
          <a:ln w="5715">
            <a:solidFill>
              <a:srgbClr val="D9D9D9"/>
            </a:solidFill>
            <a:prstDash val="solid"/>
          </a:ln>
        </p:spPr>
      </p:sp>
      <p:sp>
        <p:nvSpPr>
          <p:cNvPr id="44" name="Text 42"/>
          <p:cNvSpPr/>
          <p:nvPr/>
        </p:nvSpPr>
        <p:spPr>
          <a:xfrm>
            <a:off x="3063240" y="4946904"/>
            <a:ext cx="3429000" cy="457200"/>
          </a:xfrm>
          <a:prstGeom prst="rect">
            <a:avLst/>
          </a:prstGeom>
          <a:noFill/>
          <a:ln/>
        </p:spPr>
        <p:txBody>
          <a:bodyPr wrap="square" lIns="0" tIns="0" rIns="0" bIns="0" rtlCol="0" anchor="ctr">
            <a:normAutofit/>
          </a:bodyPr>
          <a:lstStyle/>
          <a:p>
            <a:pPr marL="0" indent="0">
              <a:buNone/>
            </a:pPr>
            <a:r>
              <a:rPr lang="en-US" sz="980" dirty="0">
                <a:solidFill>
                  <a:srgbClr val="666666"/>
                </a:solidFill>
              </a:rPr>
              <a:t>Solicitada, recibida, revisada, pendiente, no disponible.</a:t>
            </a:r>
            <a:endParaRPr lang="en-US" sz="980" dirty="0"/>
          </a:p>
        </p:txBody>
      </p:sp>
      <p:sp>
        <p:nvSpPr>
          <p:cNvPr id="45" name="Shape 43"/>
          <p:cNvSpPr/>
          <p:nvPr/>
        </p:nvSpPr>
        <p:spPr>
          <a:xfrm>
            <a:off x="6720840" y="4855464"/>
            <a:ext cx="4846320" cy="658368"/>
          </a:xfrm>
          <a:prstGeom prst="rect">
            <a:avLst/>
          </a:prstGeom>
          <a:solidFill>
            <a:srgbClr val="F7F7F7"/>
          </a:solidFill>
          <a:ln w="5715">
            <a:solidFill>
              <a:srgbClr val="D9D9D9"/>
            </a:solidFill>
            <a:prstDash val="solid"/>
          </a:ln>
        </p:spPr>
      </p:sp>
      <p:sp>
        <p:nvSpPr>
          <p:cNvPr id="46" name="Text 44"/>
          <p:cNvSpPr/>
          <p:nvPr/>
        </p:nvSpPr>
        <p:spPr>
          <a:xfrm>
            <a:off x="6812280" y="4946904"/>
            <a:ext cx="4663440" cy="457200"/>
          </a:xfrm>
          <a:prstGeom prst="rect">
            <a:avLst/>
          </a:prstGeom>
          <a:noFill/>
          <a:ln/>
        </p:spPr>
        <p:txBody>
          <a:bodyPr wrap="square" lIns="0" tIns="0" rIns="0" bIns="0" rtlCol="0" anchor="ctr">
            <a:normAutofit/>
          </a:bodyPr>
          <a:lstStyle/>
          <a:p>
            <a:pPr marL="0" indent="0">
              <a:buNone/>
            </a:pPr>
            <a:r>
              <a:rPr lang="en-US" sz="980" dirty="0">
                <a:solidFill>
                  <a:srgbClr val="666666"/>
                </a:solidFill>
              </a:rPr>
              <a:t>Da trazabilidad y alimenta el follow-up log.</a:t>
            </a:r>
            <a:endParaRPr lang="en-US" sz="980" dirty="0"/>
          </a:p>
        </p:txBody>
      </p:sp>
      <p:sp>
        <p:nvSpPr>
          <p:cNvPr id="47" name="Shape 45"/>
          <p:cNvSpPr/>
          <p:nvPr/>
        </p:nvSpPr>
        <p:spPr>
          <a:xfrm>
            <a:off x="594360" y="5705856"/>
            <a:ext cx="10972800" cy="438912"/>
          </a:xfrm>
          <a:prstGeom prst="roundRect">
            <a:avLst>
              <a:gd name="adj" fmla="val 10417"/>
            </a:avLst>
          </a:prstGeom>
          <a:solidFill>
            <a:srgbClr val="F2F7E9"/>
          </a:solidFill>
          <a:ln w="10160">
            <a:solidFill>
              <a:srgbClr val="C9DCA2"/>
            </a:solidFill>
            <a:prstDash val="solid"/>
          </a:ln>
        </p:spPr>
      </p:sp>
      <p:sp>
        <p:nvSpPr>
          <p:cNvPr id="48" name="Text 46"/>
          <p:cNvSpPr/>
          <p:nvPr/>
        </p:nvSpPr>
        <p:spPr>
          <a:xfrm>
            <a:off x="740664" y="5824728"/>
            <a:ext cx="429768" cy="164592"/>
          </a:xfrm>
          <a:prstGeom prst="rect">
            <a:avLst/>
          </a:prstGeom>
          <a:noFill/>
          <a:ln/>
        </p:spPr>
        <p:txBody>
          <a:bodyPr wrap="square" lIns="0" tIns="0" rIns="0" bIns="0" rtlCol="0" anchor="ctr"/>
          <a:lstStyle/>
          <a:p>
            <a:pPr marL="0" indent="0">
              <a:buNone/>
            </a:pPr>
            <a:r>
              <a:rPr lang="en-US" sz="900" b="1" dirty="0">
                <a:solidFill>
                  <a:srgbClr val="527A12"/>
                </a:solidFill>
              </a:rPr>
              <a:t>TIP</a:t>
            </a:r>
            <a:endParaRPr lang="en-US" sz="900" dirty="0"/>
          </a:p>
        </p:txBody>
      </p:sp>
      <p:sp>
        <p:nvSpPr>
          <p:cNvPr id="49" name="Text 47"/>
          <p:cNvSpPr/>
          <p:nvPr/>
        </p:nvSpPr>
        <p:spPr>
          <a:xfrm>
            <a:off x="1216152" y="5797296"/>
            <a:ext cx="10222992" cy="228600"/>
          </a:xfrm>
          <a:prstGeom prst="rect">
            <a:avLst/>
          </a:prstGeom>
          <a:noFill/>
          <a:ln/>
        </p:spPr>
        <p:txBody>
          <a:bodyPr wrap="square" lIns="0" tIns="0" rIns="0" bIns="0" rtlCol="0" anchor="ctr">
            <a:normAutofit/>
          </a:bodyPr>
          <a:lstStyle/>
          <a:p>
            <a:pPr marL="0" indent="0">
              <a:buNone/>
            </a:pPr>
            <a:r>
              <a:rPr lang="en-US" sz="1200" dirty="0">
                <a:solidFill>
                  <a:srgbClr val="1F1F1F"/>
                </a:solidFill>
              </a:rPr>
              <a:t>Aplicar proporcionalidad: solicitar únicamente documentación que ayude a conocer el punto de partida y a preparar mejor la conversación.</a:t>
            </a:r>
            <a:endParaRPr lang="en-US" sz="1200" dirty="0"/>
          </a:p>
        </p:txBody>
      </p:sp>
      <p:sp>
        <p:nvSpPr>
          <p:cNvPr id="50" name="Slide Number Placeholder 0"/>
          <p:cNvSpPr>
            <a:spLocks noGrp="1"/>
          </p:cNvSpPr>
          <p:nvPr>
            <p:ph type="sldNum" sz="quarter" idx="4294967295"/>
          </p:nvPr>
        </p:nvSpPr>
        <p:spPr>
          <a:xfrm>
            <a:off x="11686032" y="6537960"/>
            <a:ext cx="201168"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66666"/>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02920" y="310896"/>
            <a:ext cx="11064240" cy="384048"/>
          </a:xfrm>
          <a:prstGeom prst="rect">
            <a:avLst/>
          </a:prstGeom>
          <a:noFill/>
          <a:ln/>
        </p:spPr>
        <p:txBody>
          <a:bodyPr wrap="square" lIns="0" tIns="0" rIns="0" bIns="0" rtlCol="0" anchor="ctr"/>
          <a:lstStyle/>
          <a:p>
            <a:pPr marL="0" indent="0">
              <a:buNone/>
            </a:pPr>
            <a:r>
              <a:rPr lang="en-US" sz="2500" b="1" dirty="0">
                <a:solidFill>
                  <a:srgbClr val="1F1F1F"/>
                </a:solidFill>
                <a:latin typeface="Aptos Display" pitchFamily="34" charset="0"/>
                <a:ea typeface="Aptos Display" pitchFamily="34" charset="-122"/>
                <a:cs typeface="Aptos Display" pitchFamily="34" charset="-120"/>
              </a:rPr>
              <a:t>Fase 2 | Microciclo de cadencia ágil por subcapacidad</a:t>
            </a:r>
            <a:endParaRPr lang="en-US" sz="2500" dirty="0"/>
          </a:p>
        </p:txBody>
      </p:sp>
      <p:sp>
        <p:nvSpPr>
          <p:cNvPr id="3" name="Shape 1"/>
          <p:cNvSpPr/>
          <p:nvPr/>
        </p:nvSpPr>
        <p:spPr>
          <a:xfrm>
            <a:off x="502920" y="795528"/>
            <a:ext cx="594360" cy="1"/>
          </a:xfrm>
          <a:prstGeom prst="line">
            <a:avLst/>
          </a:prstGeom>
          <a:noFill/>
          <a:ln w="50800">
            <a:solidFill>
              <a:srgbClr val="86BC25"/>
            </a:solidFill>
            <a:prstDash val="solid"/>
          </a:ln>
        </p:spPr>
      </p:sp>
      <p:sp>
        <p:nvSpPr>
          <p:cNvPr id="4" name="Text 2"/>
          <p:cNvSpPr/>
          <p:nvPr/>
        </p:nvSpPr>
        <p:spPr>
          <a:xfrm>
            <a:off x="1207008" y="704088"/>
            <a:ext cx="10149840" cy="228600"/>
          </a:xfrm>
          <a:prstGeom prst="rect">
            <a:avLst/>
          </a:prstGeom>
          <a:noFill/>
          <a:ln/>
        </p:spPr>
        <p:txBody>
          <a:bodyPr wrap="square" lIns="0" tIns="0" rIns="0" bIns="0" rtlCol="0" anchor="ctr"/>
          <a:lstStyle/>
          <a:p>
            <a:pPr marL="0" indent="0">
              <a:buNone/>
            </a:pPr>
            <a:r>
              <a:rPr lang="en-US" sz="1200" dirty="0">
                <a:solidFill>
                  <a:srgbClr val="666666"/>
                </a:solidFill>
              </a:rPr>
              <a:t>Una secuencia repetible que equilibra conversación, evidencia, consenso y control de la agenda</a:t>
            </a:r>
            <a:endParaRPr lang="en-US" sz="1200" dirty="0"/>
          </a:p>
        </p:txBody>
      </p:sp>
      <p:sp>
        <p:nvSpPr>
          <p:cNvPr id="5" name="Shape 3"/>
          <p:cNvSpPr/>
          <p:nvPr/>
        </p:nvSpPr>
        <p:spPr>
          <a:xfrm>
            <a:off x="502920" y="1417320"/>
            <a:ext cx="1664208" cy="3154680"/>
          </a:xfrm>
          <a:prstGeom prst="roundRect">
            <a:avLst>
              <a:gd name="adj" fmla="val 2747"/>
            </a:avLst>
          </a:prstGeom>
          <a:solidFill>
            <a:srgbClr val="FFFFFF"/>
          </a:solidFill>
          <a:ln w="10160">
            <a:solidFill>
              <a:srgbClr val="D9D9D9"/>
            </a:solidFill>
            <a:prstDash val="solid"/>
          </a:ln>
          <a:effectLst/>
        </p:spPr>
      </p:sp>
      <p:sp>
        <p:nvSpPr>
          <p:cNvPr id="6" name="Text 4"/>
          <p:cNvSpPr/>
          <p:nvPr/>
        </p:nvSpPr>
        <p:spPr>
          <a:xfrm>
            <a:off x="667512" y="1627632"/>
            <a:ext cx="411480" cy="256032"/>
          </a:xfrm>
          <a:prstGeom prst="rect">
            <a:avLst/>
          </a:prstGeom>
          <a:noFill/>
          <a:ln/>
        </p:spPr>
        <p:txBody>
          <a:bodyPr wrap="square" lIns="0" tIns="0" rIns="0" bIns="0" rtlCol="0" anchor="ctr"/>
          <a:lstStyle/>
          <a:p>
            <a:pPr marL="0" indent="0">
              <a:buNone/>
            </a:pPr>
            <a:r>
              <a:rPr lang="en-US" sz="1600" b="1" dirty="0">
                <a:solidFill>
                  <a:srgbClr val="86BC25"/>
                </a:solidFill>
              </a:rPr>
              <a:t>01</a:t>
            </a:r>
            <a:endParaRPr lang="en-US" sz="1600" dirty="0"/>
          </a:p>
        </p:txBody>
      </p:sp>
      <p:sp>
        <p:nvSpPr>
          <p:cNvPr id="7" name="Text 5"/>
          <p:cNvSpPr/>
          <p:nvPr/>
        </p:nvSpPr>
        <p:spPr>
          <a:xfrm>
            <a:off x="667512" y="2029968"/>
            <a:ext cx="1325880" cy="228600"/>
          </a:xfrm>
          <a:prstGeom prst="rect">
            <a:avLst/>
          </a:prstGeom>
          <a:noFill/>
          <a:ln/>
        </p:spPr>
        <p:txBody>
          <a:bodyPr wrap="square" lIns="0" tIns="0" rIns="0" bIns="0" rtlCol="0" anchor="ctr"/>
          <a:lstStyle/>
          <a:p>
            <a:pPr marL="0" indent="0">
              <a:buNone/>
            </a:pPr>
            <a:r>
              <a:rPr lang="en-US" sz="1150" b="1" dirty="0">
                <a:solidFill>
                  <a:srgbClr val="1F1F1F"/>
                </a:solidFill>
              </a:rPr>
              <a:t>FRAME</a:t>
            </a:r>
            <a:endParaRPr lang="en-US" sz="1150" dirty="0"/>
          </a:p>
        </p:txBody>
      </p:sp>
      <p:sp>
        <p:nvSpPr>
          <p:cNvPr id="8" name="Text 6"/>
          <p:cNvSpPr/>
          <p:nvPr/>
        </p:nvSpPr>
        <p:spPr>
          <a:xfrm>
            <a:off x="667512" y="2414016"/>
            <a:ext cx="1325880" cy="192024"/>
          </a:xfrm>
          <a:prstGeom prst="rect">
            <a:avLst/>
          </a:prstGeom>
          <a:noFill/>
          <a:ln/>
        </p:spPr>
        <p:txBody>
          <a:bodyPr wrap="square" lIns="0" tIns="0" rIns="0" bIns="0" rtlCol="0" anchor="ctr"/>
          <a:lstStyle/>
          <a:p>
            <a:pPr marL="0" indent="0">
              <a:buNone/>
            </a:pPr>
            <a:r>
              <a:rPr lang="en-US" sz="1050" b="1" dirty="0">
                <a:solidFill>
                  <a:srgbClr val="666666"/>
                </a:solidFill>
              </a:rPr>
              <a:t>Paso 1</a:t>
            </a:r>
            <a:endParaRPr lang="en-US" sz="1050" dirty="0"/>
          </a:p>
        </p:txBody>
      </p:sp>
      <p:sp>
        <p:nvSpPr>
          <p:cNvPr id="9" name="Text 7"/>
          <p:cNvSpPr/>
          <p:nvPr/>
        </p:nvSpPr>
        <p:spPr>
          <a:xfrm>
            <a:off x="667512" y="2788920"/>
            <a:ext cx="1325880" cy="1143000"/>
          </a:xfrm>
          <a:prstGeom prst="rect">
            <a:avLst/>
          </a:prstGeom>
          <a:noFill/>
          <a:ln/>
        </p:spPr>
        <p:txBody>
          <a:bodyPr wrap="square" lIns="0" tIns="0" rIns="0" bIns="0" rtlCol="0" anchor="t">
            <a:normAutofit/>
          </a:bodyPr>
          <a:lstStyle/>
          <a:p>
            <a:pPr marL="0" indent="0">
              <a:buNone/>
            </a:pPr>
            <a:r>
              <a:rPr lang="en-US" sz="1180" dirty="0">
                <a:solidFill>
                  <a:srgbClr val="666666"/>
                </a:solidFill>
              </a:rPr>
              <a:t>Objetivo y alcance de la subcapacidad.</a:t>
            </a:r>
            <a:endParaRPr lang="en-US" sz="1180" dirty="0"/>
          </a:p>
        </p:txBody>
      </p:sp>
      <p:sp>
        <p:nvSpPr>
          <p:cNvPr id="10" name="Shape 8"/>
          <p:cNvSpPr/>
          <p:nvPr/>
        </p:nvSpPr>
        <p:spPr>
          <a:xfrm>
            <a:off x="2203704" y="2697480"/>
            <a:ext cx="219456" cy="384048"/>
          </a:xfrm>
          <a:prstGeom prst="chevron">
            <a:avLst/>
          </a:prstGeom>
          <a:solidFill>
            <a:srgbClr val="AFCB72"/>
          </a:solidFill>
          <a:ln w="12700">
            <a:solidFill>
              <a:srgbClr val="AFCB72"/>
            </a:solidFill>
            <a:prstDash val="solid"/>
          </a:ln>
        </p:spPr>
      </p:sp>
      <p:sp>
        <p:nvSpPr>
          <p:cNvPr id="11" name="Shape 9"/>
          <p:cNvSpPr/>
          <p:nvPr/>
        </p:nvSpPr>
        <p:spPr>
          <a:xfrm>
            <a:off x="2423160" y="1417320"/>
            <a:ext cx="1664208" cy="3154680"/>
          </a:xfrm>
          <a:prstGeom prst="roundRect">
            <a:avLst>
              <a:gd name="adj" fmla="val 2747"/>
            </a:avLst>
          </a:prstGeom>
          <a:solidFill>
            <a:srgbClr val="FFFFFF"/>
          </a:solidFill>
          <a:ln w="10160">
            <a:solidFill>
              <a:srgbClr val="D9D9D9"/>
            </a:solidFill>
            <a:prstDash val="solid"/>
          </a:ln>
          <a:effectLst/>
        </p:spPr>
      </p:sp>
      <p:sp>
        <p:nvSpPr>
          <p:cNvPr id="12" name="Text 10"/>
          <p:cNvSpPr/>
          <p:nvPr/>
        </p:nvSpPr>
        <p:spPr>
          <a:xfrm>
            <a:off x="2587752" y="1627632"/>
            <a:ext cx="411480" cy="256032"/>
          </a:xfrm>
          <a:prstGeom prst="rect">
            <a:avLst/>
          </a:prstGeom>
          <a:noFill/>
          <a:ln/>
        </p:spPr>
        <p:txBody>
          <a:bodyPr wrap="square" lIns="0" tIns="0" rIns="0" bIns="0" rtlCol="0" anchor="ctr"/>
          <a:lstStyle/>
          <a:p>
            <a:pPr marL="0" indent="0">
              <a:buNone/>
            </a:pPr>
            <a:r>
              <a:rPr lang="en-US" sz="1600" b="1" dirty="0">
                <a:solidFill>
                  <a:srgbClr val="86BC25"/>
                </a:solidFill>
              </a:rPr>
              <a:t>02</a:t>
            </a:r>
            <a:endParaRPr lang="en-US" sz="1600" dirty="0"/>
          </a:p>
        </p:txBody>
      </p:sp>
      <p:sp>
        <p:nvSpPr>
          <p:cNvPr id="13" name="Text 11"/>
          <p:cNvSpPr/>
          <p:nvPr/>
        </p:nvSpPr>
        <p:spPr>
          <a:xfrm>
            <a:off x="2587752" y="2029968"/>
            <a:ext cx="1325880" cy="228600"/>
          </a:xfrm>
          <a:prstGeom prst="rect">
            <a:avLst/>
          </a:prstGeom>
          <a:noFill/>
          <a:ln/>
        </p:spPr>
        <p:txBody>
          <a:bodyPr wrap="square" lIns="0" tIns="0" rIns="0" bIns="0" rtlCol="0" anchor="ctr"/>
          <a:lstStyle/>
          <a:p>
            <a:pPr marL="0" indent="0">
              <a:buNone/>
            </a:pPr>
            <a:r>
              <a:rPr lang="en-US" sz="1150" b="1" dirty="0">
                <a:solidFill>
                  <a:srgbClr val="1F1F1F"/>
                </a:solidFill>
              </a:rPr>
              <a:t>EXPLORE</a:t>
            </a:r>
            <a:endParaRPr lang="en-US" sz="1150" dirty="0"/>
          </a:p>
        </p:txBody>
      </p:sp>
      <p:sp>
        <p:nvSpPr>
          <p:cNvPr id="14" name="Text 12"/>
          <p:cNvSpPr/>
          <p:nvPr/>
        </p:nvSpPr>
        <p:spPr>
          <a:xfrm>
            <a:off x="2587752" y="2414016"/>
            <a:ext cx="1325880" cy="192024"/>
          </a:xfrm>
          <a:prstGeom prst="rect">
            <a:avLst/>
          </a:prstGeom>
          <a:noFill/>
          <a:ln/>
        </p:spPr>
        <p:txBody>
          <a:bodyPr wrap="square" lIns="0" tIns="0" rIns="0" bIns="0" rtlCol="0" anchor="ctr"/>
          <a:lstStyle/>
          <a:p>
            <a:pPr marL="0" indent="0">
              <a:buNone/>
            </a:pPr>
            <a:r>
              <a:rPr lang="en-US" sz="1050" b="1" dirty="0">
                <a:solidFill>
                  <a:srgbClr val="666666"/>
                </a:solidFill>
              </a:rPr>
              <a:t>Paso 2</a:t>
            </a:r>
            <a:endParaRPr lang="en-US" sz="1050" dirty="0"/>
          </a:p>
        </p:txBody>
      </p:sp>
      <p:sp>
        <p:nvSpPr>
          <p:cNvPr id="15" name="Text 13"/>
          <p:cNvSpPr/>
          <p:nvPr/>
        </p:nvSpPr>
        <p:spPr>
          <a:xfrm>
            <a:off x="2587752" y="2788920"/>
            <a:ext cx="1325880" cy="1143000"/>
          </a:xfrm>
          <a:prstGeom prst="rect">
            <a:avLst/>
          </a:prstGeom>
          <a:noFill/>
          <a:ln/>
        </p:spPr>
        <p:txBody>
          <a:bodyPr wrap="square" lIns="0" tIns="0" rIns="0" bIns="0" rtlCol="0" anchor="t">
            <a:normAutofit/>
          </a:bodyPr>
          <a:lstStyle/>
          <a:p>
            <a:pPr marL="0" indent="0">
              <a:buNone/>
            </a:pPr>
            <a:r>
              <a:rPr lang="en-US" sz="1180" dirty="0">
                <a:solidFill>
                  <a:srgbClr val="666666"/>
                </a:solidFill>
              </a:rPr>
              <a:t>Pregunta abierta; escuchar la historia end-to-end.</a:t>
            </a:r>
            <a:endParaRPr lang="en-US" sz="1180" dirty="0"/>
          </a:p>
        </p:txBody>
      </p:sp>
      <p:sp>
        <p:nvSpPr>
          <p:cNvPr id="16" name="Shape 14"/>
          <p:cNvSpPr/>
          <p:nvPr/>
        </p:nvSpPr>
        <p:spPr>
          <a:xfrm>
            <a:off x="4123944" y="2697480"/>
            <a:ext cx="219456" cy="384048"/>
          </a:xfrm>
          <a:prstGeom prst="chevron">
            <a:avLst/>
          </a:prstGeom>
          <a:solidFill>
            <a:srgbClr val="AFCB72"/>
          </a:solidFill>
          <a:ln w="12700">
            <a:solidFill>
              <a:srgbClr val="AFCB72"/>
            </a:solidFill>
            <a:prstDash val="solid"/>
          </a:ln>
        </p:spPr>
      </p:sp>
      <p:sp>
        <p:nvSpPr>
          <p:cNvPr id="17" name="Shape 15"/>
          <p:cNvSpPr/>
          <p:nvPr/>
        </p:nvSpPr>
        <p:spPr>
          <a:xfrm>
            <a:off x="4343400" y="1417320"/>
            <a:ext cx="1664208" cy="3154680"/>
          </a:xfrm>
          <a:prstGeom prst="roundRect">
            <a:avLst>
              <a:gd name="adj" fmla="val 2747"/>
            </a:avLst>
          </a:prstGeom>
          <a:solidFill>
            <a:srgbClr val="FFFFFF"/>
          </a:solidFill>
          <a:ln w="10160">
            <a:solidFill>
              <a:srgbClr val="D9D9D9"/>
            </a:solidFill>
            <a:prstDash val="solid"/>
          </a:ln>
          <a:effectLst/>
        </p:spPr>
      </p:sp>
      <p:sp>
        <p:nvSpPr>
          <p:cNvPr id="18" name="Text 16"/>
          <p:cNvSpPr/>
          <p:nvPr/>
        </p:nvSpPr>
        <p:spPr>
          <a:xfrm>
            <a:off x="4507992" y="1627632"/>
            <a:ext cx="411480" cy="256032"/>
          </a:xfrm>
          <a:prstGeom prst="rect">
            <a:avLst/>
          </a:prstGeom>
          <a:noFill/>
          <a:ln/>
        </p:spPr>
        <p:txBody>
          <a:bodyPr wrap="square" lIns="0" tIns="0" rIns="0" bIns="0" rtlCol="0" anchor="ctr"/>
          <a:lstStyle/>
          <a:p>
            <a:pPr marL="0" indent="0">
              <a:buNone/>
            </a:pPr>
            <a:r>
              <a:rPr lang="en-US" sz="1600" b="1" dirty="0">
                <a:solidFill>
                  <a:srgbClr val="86BC25"/>
                </a:solidFill>
              </a:rPr>
              <a:t>03</a:t>
            </a:r>
            <a:endParaRPr lang="en-US" sz="1600" dirty="0"/>
          </a:p>
        </p:txBody>
      </p:sp>
      <p:sp>
        <p:nvSpPr>
          <p:cNvPr id="19" name="Text 17"/>
          <p:cNvSpPr/>
          <p:nvPr/>
        </p:nvSpPr>
        <p:spPr>
          <a:xfrm>
            <a:off x="4507992" y="2029968"/>
            <a:ext cx="1325880" cy="228600"/>
          </a:xfrm>
          <a:prstGeom prst="rect">
            <a:avLst/>
          </a:prstGeom>
          <a:noFill/>
          <a:ln/>
        </p:spPr>
        <p:txBody>
          <a:bodyPr wrap="square" lIns="0" tIns="0" rIns="0" bIns="0" rtlCol="0" anchor="ctr"/>
          <a:lstStyle/>
          <a:p>
            <a:pPr marL="0" indent="0">
              <a:buNone/>
            </a:pPr>
            <a:r>
              <a:rPr lang="en-US" sz="1150" b="1" dirty="0">
                <a:solidFill>
                  <a:srgbClr val="1F1F1F"/>
                </a:solidFill>
              </a:rPr>
              <a:t>PROBE</a:t>
            </a:r>
            <a:endParaRPr lang="en-US" sz="1150" dirty="0"/>
          </a:p>
        </p:txBody>
      </p:sp>
      <p:sp>
        <p:nvSpPr>
          <p:cNvPr id="20" name="Text 18"/>
          <p:cNvSpPr/>
          <p:nvPr/>
        </p:nvSpPr>
        <p:spPr>
          <a:xfrm>
            <a:off x="4507992" y="2414016"/>
            <a:ext cx="1325880" cy="192024"/>
          </a:xfrm>
          <a:prstGeom prst="rect">
            <a:avLst/>
          </a:prstGeom>
          <a:noFill/>
          <a:ln/>
        </p:spPr>
        <p:txBody>
          <a:bodyPr wrap="square" lIns="0" tIns="0" rIns="0" bIns="0" rtlCol="0" anchor="ctr"/>
          <a:lstStyle/>
          <a:p>
            <a:pPr marL="0" indent="0">
              <a:buNone/>
            </a:pPr>
            <a:r>
              <a:rPr lang="en-US" sz="1050" b="1" dirty="0">
                <a:solidFill>
                  <a:srgbClr val="666666"/>
                </a:solidFill>
              </a:rPr>
              <a:t>Paso 3</a:t>
            </a:r>
            <a:endParaRPr lang="en-US" sz="1050" dirty="0"/>
          </a:p>
        </p:txBody>
      </p:sp>
      <p:sp>
        <p:nvSpPr>
          <p:cNvPr id="21" name="Text 19"/>
          <p:cNvSpPr/>
          <p:nvPr/>
        </p:nvSpPr>
        <p:spPr>
          <a:xfrm>
            <a:off x="4507992" y="2788920"/>
            <a:ext cx="1325880" cy="1143000"/>
          </a:xfrm>
          <a:prstGeom prst="rect">
            <a:avLst/>
          </a:prstGeom>
          <a:noFill/>
          <a:ln/>
        </p:spPr>
        <p:txBody>
          <a:bodyPr wrap="square" lIns="0" tIns="0" rIns="0" bIns="0" rtlCol="0" anchor="t">
            <a:normAutofit/>
          </a:bodyPr>
          <a:lstStyle/>
          <a:p>
            <a:pPr marL="0" indent="0">
              <a:buNone/>
            </a:pPr>
            <a:r>
              <a:rPr lang="en-US" sz="1180" dirty="0">
                <a:solidFill>
                  <a:srgbClr val="666666"/>
                </a:solidFill>
              </a:rPr>
              <a:t>1–2 preguntas para resolver el discriminador clave.</a:t>
            </a:r>
            <a:endParaRPr lang="en-US" sz="1180" dirty="0"/>
          </a:p>
        </p:txBody>
      </p:sp>
      <p:sp>
        <p:nvSpPr>
          <p:cNvPr id="22" name="Shape 20"/>
          <p:cNvSpPr/>
          <p:nvPr/>
        </p:nvSpPr>
        <p:spPr>
          <a:xfrm>
            <a:off x="6044184" y="2697480"/>
            <a:ext cx="219456" cy="384048"/>
          </a:xfrm>
          <a:prstGeom prst="chevron">
            <a:avLst/>
          </a:prstGeom>
          <a:solidFill>
            <a:srgbClr val="AFCB72"/>
          </a:solidFill>
          <a:ln w="12700">
            <a:solidFill>
              <a:srgbClr val="AFCB72"/>
            </a:solidFill>
            <a:prstDash val="solid"/>
          </a:ln>
        </p:spPr>
      </p:sp>
      <p:sp>
        <p:nvSpPr>
          <p:cNvPr id="23" name="Shape 21"/>
          <p:cNvSpPr/>
          <p:nvPr/>
        </p:nvSpPr>
        <p:spPr>
          <a:xfrm>
            <a:off x="6263640" y="1417320"/>
            <a:ext cx="1664208" cy="3154680"/>
          </a:xfrm>
          <a:prstGeom prst="roundRect">
            <a:avLst>
              <a:gd name="adj" fmla="val 2747"/>
            </a:avLst>
          </a:prstGeom>
          <a:solidFill>
            <a:srgbClr val="FFFFFF"/>
          </a:solidFill>
          <a:ln w="10160">
            <a:solidFill>
              <a:srgbClr val="D9D9D9"/>
            </a:solidFill>
            <a:prstDash val="solid"/>
          </a:ln>
          <a:effectLst/>
        </p:spPr>
      </p:sp>
      <p:sp>
        <p:nvSpPr>
          <p:cNvPr id="24" name="Text 22"/>
          <p:cNvSpPr/>
          <p:nvPr/>
        </p:nvSpPr>
        <p:spPr>
          <a:xfrm>
            <a:off x="6428232" y="1627632"/>
            <a:ext cx="411480" cy="256032"/>
          </a:xfrm>
          <a:prstGeom prst="rect">
            <a:avLst/>
          </a:prstGeom>
          <a:noFill/>
          <a:ln/>
        </p:spPr>
        <p:txBody>
          <a:bodyPr wrap="square" lIns="0" tIns="0" rIns="0" bIns="0" rtlCol="0" anchor="ctr"/>
          <a:lstStyle/>
          <a:p>
            <a:pPr marL="0" indent="0">
              <a:buNone/>
            </a:pPr>
            <a:r>
              <a:rPr lang="en-US" sz="1600" b="1" dirty="0">
                <a:solidFill>
                  <a:srgbClr val="86BC25"/>
                </a:solidFill>
              </a:rPr>
              <a:t>04</a:t>
            </a:r>
            <a:endParaRPr lang="en-US" sz="1600" dirty="0"/>
          </a:p>
        </p:txBody>
      </p:sp>
      <p:sp>
        <p:nvSpPr>
          <p:cNvPr id="25" name="Text 23"/>
          <p:cNvSpPr/>
          <p:nvPr/>
        </p:nvSpPr>
        <p:spPr>
          <a:xfrm>
            <a:off x="6428232" y="2029968"/>
            <a:ext cx="1325880" cy="228600"/>
          </a:xfrm>
          <a:prstGeom prst="rect">
            <a:avLst/>
          </a:prstGeom>
          <a:noFill/>
          <a:ln/>
        </p:spPr>
        <p:txBody>
          <a:bodyPr wrap="square" lIns="0" tIns="0" rIns="0" bIns="0" rtlCol="0" anchor="ctr"/>
          <a:lstStyle/>
          <a:p>
            <a:pPr marL="0" indent="0">
              <a:buNone/>
            </a:pPr>
            <a:r>
              <a:rPr lang="en-US" sz="1150" b="1" dirty="0">
                <a:solidFill>
                  <a:srgbClr val="1F1F1F"/>
                </a:solidFill>
              </a:rPr>
              <a:t>PLAYBACK</a:t>
            </a:r>
            <a:endParaRPr lang="en-US" sz="1150" dirty="0"/>
          </a:p>
        </p:txBody>
      </p:sp>
      <p:sp>
        <p:nvSpPr>
          <p:cNvPr id="26" name="Text 24"/>
          <p:cNvSpPr/>
          <p:nvPr/>
        </p:nvSpPr>
        <p:spPr>
          <a:xfrm>
            <a:off x="6428232" y="2414016"/>
            <a:ext cx="1325880" cy="192024"/>
          </a:xfrm>
          <a:prstGeom prst="rect">
            <a:avLst/>
          </a:prstGeom>
          <a:noFill/>
          <a:ln/>
        </p:spPr>
        <p:txBody>
          <a:bodyPr wrap="square" lIns="0" tIns="0" rIns="0" bIns="0" rtlCol="0" anchor="ctr"/>
          <a:lstStyle/>
          <a:p>
            <a:pPr marL="0" indent="0">
              <a:buNone/>
            </a:pPr>
            <a:r>
              <a:rPr lang="en-US" sz="1050" b="1" dirty="0">
                <a:solidFill>
                  <a:srgbClr val="666666"/>
                </a:solidFill>
              </a:rPr>
              <a:t>Paso 4</a:t>
            </a:r>
            <a:endParaRPr lang="en-US" sz="1050" dirty="0"/>
          </a:p>
        </p:txBody>
      </p:sp>
      <p:sp>
        <p:nvSpPr>
          <p:cNvPr id="27" name="Text 25"/>
          <p:cNvSpPr/>
          <p:nvPr/>
        </p:nvSpPr>
        <p:spPr>
          <a:xfrm>
            <a:off x="6428232" y="2788920"/>
            <a:ext cx="1325880" cy="1143000"/>
          </a:xfrm>
          <a:prstGeom prst="rect">
            <a:avLst/>
          </a:prstGeom>
          <a:noFill/>
          <a:ln/>
        </p:spPr>
        <p:txBody>
          <a:bodyPr wrap="square" lIns="0" tIns="0" rIns="0" bIns="0" rtlCol="0" anchor="t">
            <a:normAutofit/>
          </a:bodyPr>
          <a:lstStyle/>
          <a:p>
            <a:pPr marL="0" indent="0">
              <a:buNone/>
            </a:pPr>
            <a:r>
              <a:rPr lang="en-US" sz="1180" dirty="0">
                <a:solidFill>
                  <a:srgbClr val="666666"/>
                </a:solidFill>
              </a:rPr>
              <a:t>Resumir current state y confirmar hechos.</a:t>
            </a:r>
            <a:endParaRPr lang="en-US" sz="1180" dirty="0"/>
          </a:p>
        </p:txBody>
      </p:sp>
      <p:sp>
        <p:nvSpPr>
          <p:cNvPr id="28" name="Shape 26"/>
          <p:cNvSpPr/>
          <p:nvPr/>
        </p:nvSpPr>
        <p:spPr>
          <a:xfrm>
            <a:off x="7964424" y="2697480"/>
            <a:ext cx="219456" cy="384048"/>
          </a:xfrm>
          <a:prstGeom prst="chevron">
            <a:avLst/>
          </a:prstGeom>
          <a:solidFill>
            <a:srgbClr val="AFCB72"/>
          </a:solidFill>
          <a:ln w="12700">
            <a:solidFill>
              <a:srgbClr val="AFCB72"/>
            </a:solidFill>
            <a:prstDash val="solid"/>
          </a:ln>
        </p:spPr>
      </p:sp>
      <p:sp>
        <p:nvSpPr>
          <p:cNvPr id="29" name="Shape 27"/>
          <p:cNvSpPr/>
          <p:nvPr/>
        </p:nvSpPr>
        <p:spPr>
          <a:xfrm>
            <a:off x="8183880" y="1417320"/>
            <a:ext cx="1664208" cy="3154680"/>
          </a:xfrm>
          <a:prstGeom prst="roundRect">
            <a:avLst>
              <a:gd name="adj" fmla="val 2747"/>
            </a:avLst>
          </a:prstGeom>
          <a:solidFill>
            <a:srgbClr val="F2F7E9"/>
          </a:solidFill>
          <a:ln w="16510">
            <a:solidFill>
              <a:srgbClr val="86BC25"/>
            </a:solidFill>
            <a:prstDash val="solid"/>
          </a:ln>
          <a:effectLst/>
        </p:spPr>
      </p:sp>
      <p:sp>
        <p:nvSpPr>
          <p:cNvPr id="30" name="Text 28"/>
          <p:cNvSpPr/>
          <p:nvPr/>
        </p:nvSpPr>
        <p:spPr>
          <a:xfrm>
            <a:off x="8348472" y="1627632"/>
            <a:ext cx="411480" cy="256032"/>
          </a:xfrm>
          <a:prstGeom prst="rect">
            <a:avLst/>
          </a:prstGeom>
          <a:noFill/>
          <a:ln/>
        </p:spPr>
        <p:txBody>
          <a:bodyPr wrap="square" lIns="0" tIns="0" rIns="0" bIns="0" rtlCol="0" anchor="ctr"/>
          <a:lstStyle/>
          <a:p>
            <a:pPr marL="0" indent="0">
              <a:buNone/>
            </a:pPr>
            <a:r>
              <a:rPr lang="en-US" sz="1600" b="1" dirty="0">
                <a:solidFill>
                  <a:srgbClr val="86BC25"/>
                </a:solidFill>
              </a:rPr>
              <a:t>05</a:t>
            </a:r>
            <a:endParaRPr lang="en-US" sz="1600" dirty="0"/>
          </a:p>
        </p:txBody>
      </p:sp>
      <p:sp>
        <p:nvSpPr>
          <p:cNvPr id="31" name="Text 29"/>
          <p:cNvSpPr/>
          <p:nvPr/>
        </p:nvSpPr>
        <p:spPr>
          <a:xfrm>
            <a:off x="8348472" y="2029968"/>
            <a:ext cx="1325880" cy="228600"/>
          </a:xfrm>
          <a:prstGeom prst="rect">
            <a:avLst/>
          </a:prstGeom>
          <a:noFill/>
          <a:ln/>
        </p:spPr>
        <p:txBody>
          <a:bodyPr wrap="square" lIns="0" tIns="0" rIns="0" bIns="0" rtlCol="0" anchor="ctr"/>
          <a:lstStyle/>
          <a:p>
            <a:pPr marL="0" indent="0">
              <a:buNone/>
            </a:pPr>
            <a:r>
              <a:rPr lang="en-US" sz="1150" b="1" dirty="0">
                <a:solidFill>
                  <a:srgbClr val="1F1F1F"/>
                </a:solidFill>
              </a:rPr>
              <a:t>VOTE</a:t>
            </a:r>
            <a:endParaRPr lang="en-US" sz="1150" dirty="0"/>
          </a:p>
        </p:txBody>
      </p:sp>
      <p:sp>
        <p:nvSpPr>
          <p:cNvPr id="32" name="Text 30"/>
          <p:cNvSpPr/>
          <p:nvPr/>
        </p:nvSpPr>
        <p:spPr>
          <a:xfrm>
            <a:off x="8348472" y="2414016"/>
            <a:ext cx="1325880" cy="192024"/>
          </a:xfrm>
          <a:prstGeom prst="rect">
            <a:avLst/>
          </a:prstGeom>
          <a:noFill/>
          <a:ln/>
        </p:spPr>
        <p:txBody>
          <a:bodyPr wrap="square" lIns="0" tIns="0" rIns="0" bIns="0" rtlCol="0" anchor="ctr"/>
          <a:lstStyle/>
          <a:p>
            <a:pPr marL="0" indent="0">
              <a:buNone/>
            </a:pPr>
            <a:r>
              <a:rPr lang="en-US" sz="1050" b="1" dirty="0">
                <a:solidFill>
                  <a:srgbClr val="527A12"/>
                </a:solidFill>
              </a:rPr>
              <a:t>Paso 5</a:t>
            </a:r>
            <a:endParaRPr lang="en-US" sz="1050" dirty="0"/>
          </a:p>
        </p:txBody>
      </p:sp>
      <p:sp>
        <p:nvSpPr>
          <p:cNvPr id="33" name="Text 31"/>
          <p:cNvSpPr/>
          <p:nvPr/>
        </p:nvSpPr>
        <p:spPr>
          <a:xfrm>
            <a:off x="8348472" y="2788920"/>
            <a:ext cx="1325880" cy="1143000"/>
          </a:xfrm>
          <a:prstGeom prst="rect">
            <a:avLst/>
          </a:prstGeom>
          <a:noFill/>
          <a:ln/>
        </p:spPr>
        <p:txBody>
          <a:bodyPr wrap="square" lIns="0" tIns="0" rIns="0" bIns="0" rtlCol="0" anchor="t">
            <a:normAutofit/>
          </a:bodyPr>
          <a:lstStyle/>
          <a:p>
            <a:pPr marL="0" indent="0">
              <a:buNone/>
            </a:pPr>
            <a:r>
              <a:rPr lang="en-US" sz="1180" dirty="0">
                <a:solidFill>
                  <a:srgbClr val="666666"/>
                </a:solidFill>
              </a:rPr>
              <a:t>Votación individual y simultánea en P/O, Proceso y Tecnología cuando participan varias personas; mostrar distribución, media y rango.</a:t>
            </a:r>
            <a:endParaRPr lang="en-US" sz="1180" dirty="0"/>
          </a:p>
        </p:txBody>
      </p:sp>
      <p:sp>
        <p:nvSpPr>
          <p:cNvPr id="34" name="Shape 32"/>
          <p:cNvSpPr/>
          <p:nvPr/>
        </p:nvSpPr>
        <p:spPr>
          <a:xfrm>
            <a:off x="9884664" y="2697480"/>
            <a:ext cx="219456" cy="384048"/>
          </a:xfrm>
          <a:prstGeom prst="chevron">
            <a:avLst/>
          </a:prstGeom>
          <a:solidFill>
            <a:srgbClr val="AFCB72"/>
          </a:solidFill>
          <a:ln w="12700">
            <a:solidFill>
              <a:srgbClr val="AFCB72"/>
            </a:solidFill>
            <a:prstDash val="solid"/>
          </a:ln>
        </p:spPr>
      </p:sp>
      <p:sp>
        <p:nvSpPr>
          <p:cNvPr id="35" name="Shape 33"/>
          <p:cNvSpPr/>
          <p:nvPr/>
        </p:nvSpPr>
        <p:spPr>
          <a:xfrm>
            <a:off x="10104120" y="1417320"/>
            <a:ext cx="1664208" cy="3154680"/>
          </a:xfrm>
          <a:prstGeom prst="roundRect">
            <a:avLst>
              <a:gd name="adj" fmla="val 2747"/>
            </a:avLst>
          </a:prstGeom>
          <a:solidFill>
            <a:srgbClr val="FFFFFF"/>
          </a:solidFill>
          <a:ln w="10160">
            <a:solidFill>
              <a:srgbClr val="D9D9D9"/>
            </a:solidFill>
            <a:prstDash val="solid"/>
          </a:ln>
          <a:effectLst/>
        </p:spPr>
      </p:sp>
      <p:sp>
        <p:nvSpPr>
          <p:cNvPr id="36" name="Text 34"/>
          <p:cNvSpPr/>
          <p:nvPr/>
        </p:nvSpPr>
        <p:spPr>
          <a:xfrm>
            <a:off x="10268712" y="1627632"/>
            <a:ext cx="411480" cy="256032"/>
          </a:xfrm>
          <a:prstGeom prst="rect">
            <a:avLst/>
          </a:prstGeom>
          <a:noFill/>
          <a:ln/>
        </p:spPr>
        <p:txBody>
          <a:bodyPr wrap="square" lIns="0" tIns="0" rIns="0" bIns="0" rtlCol="0" anchor="ctr"/>
          <a:lstStyle/>
          <a:p>
            <a:pPr marL="0" indent="0">
              <a:buNone/>
            </a:pPr>
            <a:r>
              <a:rPr lang="en-US" sz="1600" b="1" dirty="0">
                <a:solidFill>
                  <a:srgbClr val="86BC25"/>
                </a:solidFill>
              </a:rPr>
              <a:t>06</a:t>
            </a:r>
            <a:endParaRPr lang="en-US" sz="1600" dirty="0"/>
          </a:p>
        </p:txBody>
      </p:sp>
      <p:sp>
        <p:nvSpPr>
          <p:cNvPr id="37" name="Text 35"/>
          <p:cNvSpPr/>
          <p:nvPr/>
        </p:nvSpPr>
        <p:spPr>
          <a:xfrm>
            <a:off x="10268712" y="2029968"/>
            <a:ext cx="1325880" cy="228600"/>
          </a:xfrm>
          <a:prstGeom prst="rect">
            <a:avLst/>
          </a:prstGeom>
          <a:noFill/>
          <a:ln/>
        </p:spPr>
        <p:txBody>
          <a:bodyPr wrap="square" lIns="0" tIns="0" rIns="0" bIns="0" rtlCol="0" anchor="ctr"/>
          <a:lstStyle/>
          <a:p>
            <a:pPr marL="0" indent="0">
              <a:buNone/>
            </a:pPr>
            <a:r>
              <a:rPr lang="en-US" sz="1150" b="1" dirty="0">
                <a:solidFill>
                  <a:srgbClr val="1F1F1F"/>
                </a:solidFill>
              </a:rPr>
              <a:t>AGREE</a:t>
            </a:r>
            <a:endParaRPr lang="en-US" sz="1150" dirty="0"/>
          </a:p>
        </p:txBody>
      </p:sp>
      <p:sp>
        <p:nvSpPr>
          <p:cNvPr id="38" name="Text 36"/>
          <p:cNvSpPr/>
          <p:nvPr/>
        </p:nvSpPr>
        <p:spPr>
          <a:xfrm>
            <a:off x="10268712" y="2414016"/>
            <a:ext cx="1325880" cy="192024"/>
          </a:xfrm>
          <a:prstGeom prst="rect">
            <a:avLst/>
          </a:prstGeom>
          <a:noFill/>
          <a:ln/>
        </p:spPr>
        <p:txBody>
          <a:bodyPr wrap="square" lIns="0" tIns="0" rIns="0" bIns="0" rtlCol="0" anchor="ctr"/>
          <a:lstStyle/>
          <a:p>
            <a:pPr marL="0" indent="0">
              <a:buNone/>
            </a:pPr>
            <a:r>
              <a:rPr lang="en-US" sz="1050" b="1" dirty="0">
                <a:solidFill>
                  <a:srgbClr val="666666"/>
                </a:solidFill>
              </a:rPr>
              <a:t>Paso 6</a:t>
            </a:r>
            <a:endParaRPr lang="en-US" sz="1050" dirty="0"/>
          </a:p>
        </p:txBody>
      </p:sp>
      <p:sp>
        <p:nvSpPr>
          <p:cNvPr id="39" name="Text 37"/>
          <p:cNvSpPr/>
          <p:nvPr/>
        </p:nvSpPr>
        <p:spPr>
          <a:xfrm>
            <a:off x="10268712" y="2788920"/>
            <a:ext cx="1325880" cy="1143000"/>
          </a:xfrm>
          <a:prstGeom prst="rect">
            <a:avLst/>
          </a:prstGeom>
          <a:noFill/>
          <a:ln/>
        </p:spPr>
        <p:txBody>
          <a:bodyPr wrap="square" lIns="0" tIns="0" rIns="0" bIns="0" rtlCol="0" anchor="t">
            <a:normAutofit/>
          </a:bodyPr>
          <a:lstStyle/>
          <a:p>
            <a:pPr marL="0" indent="0">
              <a:buNone/>
            </a:pPr>
            <a:r>
              <a:rPr lang="en-US" sz="1180" dirty="0">
                <a:solidFill>
                  <a:srgbClr val="666666"/>
                </a:solidFill>
              </a:rPr>
              <a:t>Contrastar la distribución con criterios y evidencias, discutir diferencias y acordar el score que represente mejor la realidad global.</a:t>
            </a:r>
            <a:endParaRPr lang="en-US" sz="1180" dirty="0"/>
          </a:p>
        </p:txBody>
      </p:sp>
      <p:sp>
        <p:nvSpPr>
          <p:cNvPr id="40" name="Shape 38"/>
          <p:cNvSpPr/>
          <p:nvPr/>
        </p:nvSpPr>
        <p:spPr>
          <a:xfrm>
            <a:off x="685800" y="5010912"/>
            <a:ext cx="10835640" cy="475488"/>
          </a:xfrm>
          <a:prstGeom prst="roundRect">
            <a:avLst>
              <a:gd name="adj" fmla="val 9615"/>
            </a:avLst>
          </a:prstGeom>
          <a:solidFill>
            <a:srgbClr val="FFF8E7"/>
          </a:solidFill>
          <a:ln w="10160">
            <a:solidFill>
              <a:srgbClr val="E7C76A"/>
            </a:solidFill>
            <a:prstDash val="solid"/>
          </a:ln>
        </p:spPr>
      </p:sp>
      <p:sp>
        <p:nvSpPr>
          <p:cNvPr id="41" name="Text 39"/>
          <p:cNvSpPr/>
          <p:nvPr/>
        </p:nvSpPr>
        <p:spPr>
          <a:xfrm>
            <a:off x="832104" y="5138928"/>
            <a:ext cx="1005840" cy="164592"/>
          </a:xfrm>
          <a:prstGeom prst="rect">
            <a:avLst/>
          </a:prstGeom>
          <a:noFill/>
          <a:ln/>
        </p:spPr>
        <p:txBody>
          <a:bodyPr wrap="square" lIns="0" tIns="0" rIns="0" bIns="0" rtlCol="0" anchor="ctr"/>
          <a:lstStyle/>
          <a:p>
            <a:pPr marL="0" indent="0">
              <a:buNone/>
            </a:pPr>
            <a:r>
              <a:rPr lang="en-US" sz="850" b="1" dirty="0">
                <a:solidFill>
                  <a:srgbClr val="8B6508"/>
                </a:solidFill>
              </a:rPr>
              <a:t>PUNTO CRÍTICO</a:t>
            </a:r>
            <a:endParaRPr lang="en-US" sz="850" dirty="0"/>
          </a:p>
        </p:txBody>
      </p:sp>
      <p:sp>
        <p:nvSpPr>
          <p:cNvPr id="42" name="Text 40"/>
          <p:cNvSpPr/>
          <p:nvPr/>
        </p:nvSpPr>
        <p:spPr>
          <a:xfrm>
            <a:off x="1874520" y="5102352"/>
            <a:ext cx="9509760" cy="256032"/>
          </a:xfrm>
          <a:prstGeom prst="rect">
            <a:avLst/>
          </a:prstGeom>
          <a:noFill/>
          <a:ln/>
        </p:spPr>
        <p:txBody>
          <a:bodyPr wrap="square" lIns="0" tIns="0" rIns="0" bIns="0" rtlCol="0" anchor="ctr">
            <a:normAutofit/>
          </a:bodyPr>
          <a:lstStyle/>
          <a:p>
            <a:pPr marL="0" indent="0">
              <a:buNone/>
            </a:pPr>
            <a:r>
              <a:rPr lang="en-US" sz="1100" dirty="0">
                <a:solidFill>
                  <a:srgbClr val="1F1F1F"/>
                </a:solidFill>
              </a:rPr>
              <a:t>La discusión de cada subcapacidad debe terminar con un score acordado y un justificación breve del score. Para lograrlo, la sesión debe partir de documentación revisada y mostrar los criterios 1–5 de forma simple en el momento de votar.</a:t>
            </a:r>
            <a:endParaRPr lang="en-US" sz="1100" dirty="0"/>
          </a:p>
        </p:txBody>
      </p:sp>
      <p:sp>
        <p:nvSpPr>
          <p:cNvPr id="43" name="Shape 41"/>
          <p:cNvSpPr/>
          <p:nvPr/>
        </p:nvSpPr>
        <p:spPr>
          <a:xfrm>
            <a:off x="594360" y="5870448"/>
            <a:ext cx="10972800" cy="429768"/>
          </a:xfrm>
          <a:prstGeom prst="roundRect">
            <a:avLst>
              <a:gd name="adj" fmla="val 8511"/>
            </a:avLst>
          </a:prstGeom>
          <a:solidFill>
            <a:srgbClr val="1F1F1F"/>
          </a:solidFill>
          <a:ln w="12700">
            <a:solidFill>
              <a:srgbClr val="1F1F1F"/>
            </a:solidFill>
            <a:prstDash val="solid"/>
          </a:ln>
        </p:spPr>
      </p:sp>
      <p:sp>
        <p:nvSpPr>
          <p:cNvPr id="44" name="Text 42"/>
          <p:cNvSpPr/>
          <p:nvPr/>
        </p:nvSpPr>
        <p:spPr>
          <a:xfrm>
            <a:off x="868680" y="5980176"/>
            <a:ext cx="10424160" cy="182880"/>
          </a:xfrm>
          <a:prstGeom prst="rect">
            <a:avLst/>
          </a:prstGeom>
          <a:noFill/>
          <a:ln/>
        </p:spPr>
        <p:txBody>
          <a:bodyPr wrap="square" lIns="0" tIns="0" rIns="0" bIns="0" rtlCol="0" anchor="ctr">
            <a:normAutofit/>
          </a:bodyPr>
          <a:lstStyle/>
          <a:p>
            <a:pPr marL="0" indent="0" algn="ctr">
              <a:buNone/>
            </a:pPr>
            <a:r>
              <a:rPr lang="en-US" sz="1130" b="1" dirty="0">
                <a:solidFill>
                  <a:srgbClr val="FFFFFF"/>
                </a:solidFill>
              </a:rPr>
              <a:t>Regla de facilitación: conversación breve sobre hechos → voto individual → contraste con criterios/evidencias → score final consensuado.</a:t>
            </a:r>
            <a:endParaRPr lang="en-US" sz="1130" dirty="0"/>
          </a:p>
        </p:txBody>
      </p:sp>
      <p:sp>
        <p:nvSpPr>
          <p:cNvPr id="45" name="Slide Number Placeholder 0"/>
          <p:cNvSpPr>
            <a:spLocks noGrp="1"/>
          </p:cNvSpPr>
          <p:nvPr>
            <p:ph type="sldNum" sz="quarter" idx="4294967295"/>
          </p:nvPr>
        </p:nvSpPr>
        <p:spPr>
          <a:xfrm>
            <a:off x="11686032" y="6537960"/>
            <a:ext cx="201168"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66666"/>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02920" y="310896"/>
            <a:ext cx="11064240" cy="384048"/>
          </a:xfrm>
          <a:prstGeom prst="rect">
            <a:avLst/>
          </a:prstGeom>
          <a:noFill/>
          <a:ln/>
        </p:spPr>
        <p:txBody>
          <a:bodyPr wrap="square" lIns="0" tIns="0" rIns="0" bIns="0" rtlCol="0" anchor="ctr"/>
          <a:lstStyle/>
          <a:p>
            <a:pPr marL="0" indent="0">
              <a:buNone/>
            </a:pPr>
            <a:r>
              <a:rPr lang="en-US" sz="2500" b="1" dirty="0">
                <a:solidFill>
                  <a:srgbClr val="1F1F1F"/>
                </a:solidFill>
                <a:latin typeface="Aptos Display" pitchFamily="34" charset="0"/>
                <a:ea typeface="Aptos Display" pitchFamily="34" charset="-122"/>
                <a:cs typeface="Aptos Display" pitchFamily="34" charset="-120"/>
              </a:rPr>
              <a:t>Votación | Mecanismo para construir y hacer visible el consenso</a:t>
            </a:r>
            <a:endParaRPr lang="en-US" sz="2500" dirty="0"/>
          </a:p>
        </p:txBody>
      </p:sp>
      <p:sp>
        <p:nvSpPr>
          <p:cNvPr id="3" name="Shape 1"/>
          <p:cNvSpPr/>
          <p:nvPr/>
        </p:nvSpPr>
        <p:spPr>
          <a:xfrm>
            <a:off x="502920" y="795528"/>
            <a:ext cx="594360" cy="1"/>
          </a:xfrm>
          <a:prstGeom prst="line">
            <a:avLst/>
          </a:prstGeom>
          <a:noFill/>
          <a:ln w="50800">
            <a:solidFill>
              <a:srgbClr val="86BC25"/>
            </a:solidFill>
            <a:prstDash val="solid"/>
          </a:ln>
        </p:spPr>
      </p:sp>
      <p:sp>
        <p:nvSpPr>
          <p:cNvPr id="4" name="Text 2"/>
          <p:cNvSpPr/>
          <p:nvPr/>
        </p:nvSpPr>
        <p:spPr>
          <a:xfrm>
            <a:off x="1207008" y="704088"/>
            <a:ext cx="10149840" cy="228600"/>
          </a:xfrm>
          <a:prstGeom prst="rect">
            <a:avLst/>
          </a:prstGeom>
          <a:noFill/>
          <a:ln/>
        </p:spPr>
        <p:txBody>
          <a:bodyPr wrap="square" lIns="0" tIns="0" rIns="0" bIns="0" rtlCol="0" anchor="ctr"/>
          <a:lstStyle/>
          <a:p>
            <a:pPr marL="0" indent="0">
              <a:buNone/>
            </a:pPr>
            <a:r>
              <a:rPr lang="en-US" sz="1200" dirty="0">
                <a:solidFill>
                  <a:srgbClr val="666666"/>
                </a:solidFill>
              </a:rPr>
              <a:t>Aplica cuando participan dos o más personas; la valoración individual reduce el condicionamiento inicial y hace visibles distintas percepciones</a:t>
            </a:r>
            <a:endParaRPr lang="en-US" sz="1200" dirty="0"/>
          </a:p>
        </p:txBody>
      </p:sp>
      <p:sp>
        <p:nvSpPr>
          <p:cNvPr id="5" name="Shape 3"/>
          <p:cNvSpPr/>
          <p:nvPr/>
        </p:nvSpPr>
        <p:spPr>
          <a:xfrm>
            <a:off x="640080" y="1234440"/>
            <a:ext cx="4846320" cy="4251960"/>
          </a:xfrm>
          <a:prstGeom prst="roundRect">
            <a:avLst>
              <a:gd name="adj" fmla="val 1075"/>
            </a:avLst>
          </a:prstGeom>
          <a:solidFill>
            <a:srgbClr val="FFFFFF"/>
          </a:solidFill>
          <a:ln w="10160">
            <a:solidFill>
              <a:srgbClr val="D9D9D9"/>
            </a:solidFill>
            <a:prstDash val="solid"/>
          </a:ln>
          <a:effectLst/>
        </p:spPr>
      </p:sp>
      <p:sp>
        <p:nvSpPr>
          <p:cNvPr id="6" name="Text 4"/>
          <p:cNvSpPr/>
          <p:nvPr/>
        </p:nvSpPr>
        <p:spPr>
          <a:xfrm>
            <a:off x="914400" y="1536192"/>
            <a:ext cx="4297680" cy="228600"/>
          </a:xfrm>
          <a:prstGeom prst="rect">
            <a:avLst/>
          </a:prstGeom>
          <a:noFill/>
          <a:ln/>
        </p:spPr>
        <p:txBody>
          <a:bodyPr wrap="square" lIns="0" tIns="0" rIns="0" bIns="0" rtlCol="0" anchor="ctr"/>
          <a:lstStyle/>
          <a:p>
            <a:pPr marL="0" indent="0">
              <a:buNone/>
            </a:pPr>
            <a:r>
              <a:rPr lang="en-US" sz="1200" b="1" dirty="0">
                <a:solidFill>
                  <a:srgbClr val="86BC25"/>
                </a:solidFill>
              </a:rPr>
              <a:t>EJEMPLO · TECHNOLOGY</a:t>
            </a:r>
            <a:endParaRPr lang="en-US" sz="1200" dirty="0"/>
          </a:p>
        </p:txBody>
      </p:sp>
      <p:sp>
        <p:nvSpPr>
          <p:cNvPr id="7" name="Text 5"/>
          <p:cNvSpPr/>
          <p:nvPr/>
        </p:nvSpPr>
        <p:spPr>
          <a:xfrm>
            <a:off x="914400" y="2084832"/>
            <a:ext cx="301752" cy="182880"/>
          </a:xfrm>
          <a:prstGeom prst="rect">
            <a:avLst/>
          </a:prstGeom>
          <a:noFill/>
          <a:ln/>
        </p:spPr>
        <p:txBody>
          <a:bodyPr wrap="square" lIns="0" tIns="0" rIns="0" bIns="0" rtlCol="0" anchor="ctr"/>
          <a:lstStyle/>
          <a:p>
            <a:pPr marL="0" indent="0" algn="ctr">
              <a:buNone/>
            </a:pPr>
            <a:r>
              <a:rPr lang="en-US" sz="1000" b="1" dirty="0">
                <a:solidFill>
                  <a:srgbClr val="1F1F1F"/>
                </a:solidFill>
              </a:rPr>
              <a:t>1</a:t>
            </a:r>
            <a:endParaRPr lang="en-US" sz="1000" dirty="0"/>
          </a:p>
        </p:txBody>
      </p:sp>
      <p:sp>
        <p:nvSpPr>
          <p:cNvPr id="8" name="Shape 6"/>
          <p:cNvSpPr/>
          <p:nvPr/>
        </p:nvSpPr>
        <p:spPr>
          <a:xfrm>
            <a:off x="1371600" y="2057400"/>
            <a:ext cx="3291840" cy="237744"/>
          </a:xfrm>
          <a:prstGeom prst="rect">
            <a:avLst/>
          </a:prstGeom>
          <a:solidFill>
            <a:srgbClr val="ECECEC"/>
          </a:solidFill>
          <a:ln w="12700">
            <a:solidFill>
              <a:srgbClr val="ECECEC"/>
            </a:solidFill>
            <a:prstDash val="solid"/>
          </a:ln>
        </p:spPr>
      </p:sp>
      <p:sp>
        <p:nvSpPr>
          <p:cNvPr id="9" name="Text 7"/>
          <p:cNvSpPr/>
          <p:nvPr/>
        </p:nvSpPr>
        <p:spPr>
          <a:xfrm>
            <a:off x="4800600" y="2075688"/>
            <a:ext cx="320040" cy="164592"/>
          </a:xfrm>
          <a:prstGeom prst="rect">
            <a:avLst/>
          </a:prstGeom>
          <a:noFill/>
          <a:ln/>
        </p:spPr>
        <p:txBody>
          <a:bodyPr wrap="square" lIns="0" tIns="0" rIns="0" bIns="0" rtlCol="0" anchor="ctr"/>
          <a:lstStyle/>
          <a:p>
            <a:pPr marL="0" indent="0" algn="r">
              <a:buNone/>
            </a:pPr>
            <a:r>
              <a:rPr lang="en-US" sz="1000" dirty="0">
                <a:solidFill>
                  <a:srgbClr val="666666"/>
                </a:solidFill>
              </a:rPr>
              <a:t>0</a:t>
            </a:r>
            <a:endParaRPr lang="en-US" sz="1000" dirty="0"/>
          </a:p>
        </p:txBody>
      </p:sp>
      <p:sp>
        <p:nvSpPr>
          <p:cNvPr id="10" name="Text 8"/>
          <p:cNvSpPr/>
          <p:nvPr/>
        </p:nvSpPr>
        <p:spPr>
          <a:xfrm>
            <a:off x="914400" y="2615184"/>
            <a:ext cx="301752" cy="182880"/>
          </a:xfrm>
          <a:prstGeom prst="rect">
            <a:avLst/>
          </a:prstGeom>
          <a:noFill/>
          <a:ln/>
        </p:spPr>
        <p:txBody>
          <a:bodyPr wrap="square" lIns="0" tIns="0" rIns="0" bIns="0" rtlCol="0" anchor="ctr"/>
          <a:lstStyle/>
          <a:p>
            <a:pPr marL="0" indent="0" algn="ctr">
              <a:buNone/>
            </a:pPr>
            <a:r>
              <a:rPr lang="en-US" sz="1000" b="1" dirty="0">
                <a:solidFill>
                  <a:srgbClr val="1F1F1F"/>
                </a:solidFill>
              </a:rPr>
              <a:t>2</a:t>
            </a:r>
            <a:endParaRPr lang="en-US" sz="1000" dirty="0"/>
          </a:p>
        </p:txBody>
      </p:sp>
      <p:sp>
        <p:nvSpPr>
          <p:cNvPr id="11" name="Shape 9"/>
          <p:cNvSpPr/>
          <p:nvPr/>
        </p:nvSpPr>
        <p:spPr>
          <a:xfrm>
            <a:off x="1371600" y="2587752"/>
            <a:ext cx="3291840" cy="237744"/>
          </a:xfrm>
          <a:prstGeom prst="rect">
            <a:avLst/>
          </a:prstGeom>
          <a:solidFill>
            <a:srgbClr val="ECECEC"/>
          </a:solidFill>
          <a:ln w="12700">
            <a:solidFill>
              <a:srgbClr val="ECECEC"/>
            </a:solidFill>
            <a:prstDash val="solid"/>
          </a:ln>
        </p:spPr>
      </p:sp>
      <p:sp>
        <p:nvSpPr>
          <p:cNvPr id="12" name="Shape 10"/>
          <p:cNvSpPr/>
          <p:nvPr/>
        </p:nvSpPr>
        <p:spPr>
          <a:xfrm>
            <a:off x="1371600" y="2587752"/>
            <a:ext cx="1316736" cy="237744"/>
          </a:xfrm>
          <a:prstGeom prst="rect">
            <a:avLst/>
          </a:prstGeom>
          <a:solidFill>
            <a:srgbClr val="4472C4"/>
          </a:solidFill>
          <a:ln w="12700">
            <a:solidFill>
              <a:srgbClr val="4472C4"/>
            </a:solidFill>
            <a:prstDash val="solid"/>
          </a:ln>
        </p:spPr>
      </p:sp>
      <p:sp>
        <p:nvSpPr>
          <p:cNvPr id="13" name="Text 11"/>
          <p:cNvSpPr/>
          <p:nvPr/>
        </p:nvSpPr>
        <p:spPr>
          <a:xfrm>
            <a:off x="4800600" y="2606040"/>
            <a:ext cx="320040" cy="164592"/>
          </a:xfrm>
          <a:prstGeom prst="rect">
            <a:avLst/>
          </a:prstGeom>
          <a:noFill/>
          <a:ln/>
        </p:spPr>
        <p:txBody>
          <a:bodyPr wrap="square" lIns="0" tIns="0" rIns="0" bIns="0" rtlCol="0" anchor="ctr"/>
          <a:lstStyle/>
          <a:p>
            <a:pPr marL="0" indent="0" algn="r">
              <a:buNone/>
            </a:pPr>
            <a:r>
              <a:rPr lang="en-US" sz="1000" dirty="0">
                <a:solidFill>
                  <a:srgbClr val="666666"/>
                </a:solidFill>
              </a:rPr>
              <a:t>2</a:t>
            </a:r>
            <a:endParaRPr lang="en-US" sz="1000" dirty="0"/>
          </a:p>
        </p:txBody>
      </p:sp>
      <p:sp>
        <p:nvSpPr>
          <p:cNvPr id="14" name="Text 12"/>
          <p:cNvSpPr/>
          <p:nvPr/>
        </p:nvSpPr>
        <p:spPr>
          <a:xfrm>
            <a:off x="914400" y="3145536"/>
            <a:ext cx="301752" cy="182880"/>
          </a:xfrm>
          <a:prstGeom prst="rect">
            <a:avLst/>
          </a:prstGeom>
          <a:noFill/>
          <a:ln/>
        </p:spPr>
        <p:txBody>
          <a:bodyPr wrap="square" lIns="0" tIns="0" rIns="0" bIns="0" rtlCol="0" anchor="ctr"/>
          <a:lstStyle/>
          <a:p>
            <a:pPr marL="0" indent="0" algn="ctr">
              <a:buNone/>
            </a:pPr>
            <a:r>
              <a:rPr lang="en-US" sz="1000" b="1" dirty="0">
                <a:solidFill>
                  <a:srgbClr val="1F1F1F"/>
                </a:solidFill>
              </a:rPr>
              <a:t>3</a:t>
            </a:r>
            <a:endParaRPr lang="en-US" sz="1000" dirty="0"/>
          </a:p>
        </p:txBody>
      </p:sp>
      <p:sp>
        <p:nvSpPr>
          <p:cNvPr id="15" name="Shape 13"/>
          <p:cNvSpPr/>
          <p:nvPr/>
        </p:nvSpPr>
        <p:spPr>
          <a:xfrm>
            <a:off x="1371600" y="3118104"/>
            <a:ext cx="3291840" cy="237744"/>
          </a:xfrm>
          <a:prstGeom prst="rect">
            <a:avLst/>
          </a:prstGeom>
          <a:solidFill>
            <a:srgbClr val="ECECEC"/>
          </a:solidFill>
          <a:ln w="12700">
            <a:solidFill>
              <a:srgbClr val="ECECEC"/>
            </a:solidFill>
            <a:prstDash val="solid"/>
          </a:ln>
        </p:spPr>
      </p:sp>
      <p:sp>
        <p:nvSpPr>
          <p:cNvPr id="16" name="Shape 14"/>
          <p:cNvSpPr/>
          <p:nvPr/>
        </p:nvSpPr>
        <p:spPr>
          <a:xfrm>
            <a:off x="1371600" y="3118104"/>
            <a:ext cx="658368" cy="237744"/>
          </a:xfrm>
          <a:prstGeom prst="rect">
            <a:avLst/>
          </a:prstGeom>
          <a:solidFill>
            <a:srgbClr val="4472C4"/>
          </a:solidFill>
          <a:ln w="12700">
            <a:solidFill>
              <a:srgbClr val="4472C4"/>
            </a:solidFill>
            <a:prstDash val="solid"/>
          </a:ln>
        </p:spPr>
      </p:sp>
      <p:sp>
        <p:nvSpPr>
          <p:cNvPr id="17" name="Text 15"/>
          <p:cNvSpPr/>
          <p:nvPr/>
        </p:nvSpPr>
        <p:spPr>
          <a:xfrm>
            <a:off x="4800600" y="3136392"/>
            <a:ext cx="320040" cy="164592"/>
          </a:xfrm>
          <a:prstGeom prst="rect">
            <a:avLst/>
          </a:prstGeom>
          <a:noFill/>
          <a:ln/>
        </p:spPr>
        <p:txBody>
          <a:bodyPr wrap="square" lIns="0" tIns="0" rIns="0" bIns="0" rtlCol="0" anchor="ctr"/>
          <a:lstStyle/>
          <a:p>
            <a:pPr marL="0" indent="0" algn="r">
              <a:buNone/>
            </a:pPr>
            <a:r>
              <a:rPr lang="en-US" sz="1000" dirty="0">
                <a:solidFill>
                  <a:srgbClr val="666666"/>
                </a:solidFill>
              </a:rPr>
              <a:t>1</a:t>
            </a:r>
            <a:endParaRPr lang="en-US" sz="1000" dirty="0"/>
          </a:p>
        </p:txBody>
      </p:sp>
      <p:sp>
        <p:nvSpPr>
          <p:cNvPr id="18" name="Text 16"/>
          <p:cNvSpPr/>
          <p:nvPr/>
        </p:nvSpPr>
        <p:spPr>
          <a:xfrm>
            <a:off x="914400" y="3675888"/>
            <a:ext cx="301752" cy="182880"/>
          </a:xfrm>
          <a:prstGeom prst="rect">
            <a:avLst/>
          </a:prstGeom>
          <a:noFill/>
          <a:ln/>
        </p:spPr>
        <p:txBody>
          <a:bodyPr wrap="square" lIns="0" tIns="0" rIns="0" bIns="0" rtlCol="0" anchor="ctr"/>
          <a:lstStyle/>
          <a:p>
            <a:pPr marL="0" indent="0" algn="ctr">
              <a:buNone/>
            </a:pPr>
            <a:r>
              <a:rPr lang="en-US" sz="1000" b="1" dirty="0">
                <a:solidFill>
                  <a:srgbClr val="1F1F1F"/>
                </a:solidFill>
              </a:rPr>
              <a:t>4</a:t>
            </a:r>
            <a:endParaRPr lang="en-US" sz="1000" dirty="0"/>
          </a:p>
        </p:txBody>
      </p:sp>
      <p:sp>
        <p:nvSpPr>
          <p:cNvPr id="19" name="Shape 17"/>
          <p:cNvSpPr/>
          <p:nvPr/>
        </p:nvSpPr>
        <p:spPr>
          <a:xfrm>
            <a:off x="1371600" y="3648456"/>
            <a:ext cx="3291840" cy="237744"/>
          </a:xfrm>
          <a:prstGeom prst="rect">
            <a:avLst/>
          </a:prstGeom>
          <a:solidFill>
            <a:srgbClr val="ECECEC"/>
          </a:solidFill>
          <a:ln w="12700">
            <a:solidFill>
              <a:srgbClr val="ECECEC"/>
            </a:solidFill>
            <a:prstDash val="solid"/>
          </a:ln>
        </p:spPr>
      </p:sp>
      <p:sp>
        <p:nvSpPr>
          <p:cNvPr id="20" name="Shape 18"/>
          <p:cNvSpPr/>
          <p:nvPr/>
        </p:nvSpPr>
        <p:spPr>
          <a:xfrm>
            <a:off x="1371600" y="3648456"/>
            <a:ext cx="1316736" cy="237744"/>
          </a:xfrm>
          <a:prstGeom prst="rect">
            <a:avLst/>
          </a:prstGeom>
          <a:solidFill>
            <a:srgbClr val="86BC25"/>
          </a:solidFill>
          <a:ln w="12700">
            <a:solidFill>
              <a:srgbClr val="86BC25"/>
            </a:solidFill>
            <a:prstDash val="solid"/>
          </a:ln>
        </p:spPr>
      </p:sp>
      <p:sp>
        <p:nvSpPr>
          <p:cNvPr id="21" name="Text 19"/>
          <p:cNvSpPr/>
          <p:nvPr/>
        </p:nvSpPr>
        <p:spPr>
          <a:xfrm>
            <a:off x="4800600" y="3666744"/>
            <a:ext cx="320040" cy="164592"/>
          </a:xfrm>
          <a:prstGeom prst="rect">
            <a:avLst/>
          </a:prstGeom>
          <a:noFill/>
          <a:ln/>
        </p:spPr>
        <p:txBody>
          <a:bodyPr wrap="square" lIns="0" tIns="0" rIns="0" bIns="0" rtlCol="0" anchor="ctr"/>
          <a:lstStyle/>
          <a:p>
            <a:pPr marL="0" indent="0" algn="r">
              <a:buNone/>
            </a:pPr>
            <a:r>
              <a:rPr lang="en-US" sz="1000" dirty="0">
                <a:solidFill>
                  <a:srgbClr val="666666"/>
                </a:solidFill>
              </a:rPr>
              <a:t>2</a:t>
            </a:r>
            <a:endParaRPr lang="en-US" sz="1000" dirty="0"/>
          </a:p>
        </p:txBody>
      </p:sp>
      <p:sp>
        <p:nvSpPr>
          <p:cNvPr id="22" name="Text 20"/>
          <p:cNvSpPr/>
          <p:nvPr/>
        </p:nvSpPr>
        <p:spPr>
          <a:xfrm>
            <a:off x="914400" y="4206240"/>
            <a:ext cx="301752" cy="182880"/>
          </a:xfrm>
          <a:prstGeom prst="rect">
            <a:avLst/>
          </a:prstGeom>
          <a:noFill/>
          <a:ln/>
        </p:spPr>
        <p:txBody>
          <a:bodyPr wrap="square" lIns="0" tIns="0" rIns="0" bIns="0" rtlCol="0" anchor="ctr"/>
          <a:lstStyle/>
          <a:p>
            <a:pPr marL="0" indent="0" algn="ctr">
              <a:buNone/>
            </a:pPr>
            <a:r>
              <a:rPr lang="en-US" sz="1000" b="1" dirty="0">
                <a:solidFill>
                  <a:srgbClr val="1F1F1F"/>
                </a:solidFill>
              </a:rPr>
              <a:t>5</a:t>
            </a:r>
            <a:endParaRPr lang="en-US" sz="1000" dirty="0"/>
          </a:p>
        </p:txBody>
      </p:sp>
      <p:sp>
        <p:nvSpPr>
          <p:cNvPr id="23" name="Shape 21"/>
          <p:cNvSpPr/>
          <p:nvPr/>
        </p:nvSpPr>
        <p:spPr>
          <a:xfrm>
            <a:off x="1371600" y="4178808"/>
            <a:ext cx="3291840" cy="237744"/>
          </a:xfrm>
          <a:prstGeom prst="rect">
            <a:avLst/>
          </a:prstGeom>
          <a:solidFill>
            <a:srgbClr val="ECECEC"/>
          </a:solidFill>
          <a:ln w="12700">
            <a:solidFill>
              <a:srgbClr val="ECECEC"/>
            </a:solidFill>
            <a:prstDash val="solid"/>
          </a:ln>
        </p:spPr>
      </p:sp>
      <p:sp>
        <p:nvSpPr>
          <p:cNvPr id="24" name="Text 22"/>
          <p:cNvSpPr/>
          <p:nvPr/>
        </p:nvSpPr>
        <p:spPr>
          <a:xfrm>
            <a:off x="4800600" y="4197096"/>
            <a:ext cx="320040" cy="164592"/>
          </a:xfrm>
          <a:prstGeom prst="rect">
            <a:avLst/>
          </a:prstGeom>
          <a:noFill/>
          <a:ln/>
        </p:spPr>
        <p:txBody>
          <a:bodyPr wrap="square" lIns="0" tIns="0" rIns="0" bIns="0" rtlCol="0" anchor="ctr"/>
          <a:lstStyle/>
          <a:p>
            <a:pPr marL="0" indent="0" algn="r">
              <a:buNone/>
            </a:pPr>
            <a:r>
              <a:rPr lang="en-US" sz="1000" dirty="0">
                <a:solidFill>
                  <a:srgbClr val="666666"/>
                </a:solidFill>
              </a:rPr>
              <a:t>0</a:t>
            </a:r>
            <a:endParaRPr lang="en-US" sz="1000" dirty="0"/>
          </a:p>
        </p:txBody>
      </p:sp>
      <p:sp>
        <p:nvSpPr>
          <p:cNvPr id="25" name="Text 23"/>
          <p:cNvSpPr/>
          <p:nvPr/>
        </p:nvSpPr>
        <p:spPr>
          <a:xfrm>
            <a:off x="914400" y="4800600"/>
            <a:ext cx="4023360" cy="228600"/>
          </a:xfrm>
          <a:prstGeom prst="rect">
            <a:avLst/>
          </a:prstGeom>
          <a:noFill/>
          <a:ln/>
        </p:spPr>
        <p:txBody>
          <a:bodyPr wrap="square" lIns="0" tIns="0" rIns="0" bIns="0" rtlCol="0" anchor="ctr"/>
          <a:lstStyle/>
          <a:p>
            <a:pPr marL="0" indent="0" algn="ctr">
              <a:buNone/>
            </a:pPr>
            <a:r>
              <a:rPr lang="en-US" sz="1300" b="1" dirty="0">
                <a:solidFill>
                  <a:srgbClr val="1F1F1F"/>
                </a:solidFill>
              </a:rPr>
              <a:t>Media 3,0 · dispersión alta</a:t>
            </a:r>
            <a:endParaRPr lang="en-US" sz="1300" dirty="0"/>
          </a:p>
        </p:txBody>
      </p:sp>
      <p:sp>
        <p:nvSpPr>
          <p:cNvPr id="26" name="Shape 24"/>
          <p:cNvSpPr/>
          <p:nvPr/>
        </p:nvSpPr>
        <p:spPr>
          <a:xfrm>
            <a:off x="5806440" y="1234440"/>
            <a:ext cx="5715000" cy="1024128"/>
          </a:xfrm>
          <a:prstGeom prst="roundRect">
            <a:avLst>
              <a:gd name="adj" fmla="val 5357"/>
            </a:avLst>
          </a:prstGeom>
          <a:solidFill>
            <a:srgbClr val="F6FAEF"/>
          </a:solidFill>
          <a:ln w="10160">
            <a:solidFill>
              <a:srgbClr val="D9D9D9"/>
            </a:solidFill>
            <a:prstDash val="solid"/>
          </a:ln>
          <a:effectLst/>
        </p:spPr>
      </p:sp>
      <p:sp>
        <p:nvSpPr>
          <p:cNvPr id="27" name="Shape 25"/>
          <p:cNvSpPr/>
          <p:nvPr/>
        </p:nvSpPr>
        <p:spPr>
          <a:xfrm>
            <a:off x="5806440" y="1234440"/>
            <a:ext cx="64008" cy="1024128"/>
          </a:xfrm>
          <a:prstGeom prst="rect">
            <a:avLst/>
          </a:prstGeom>
          <a:solidFill>
            <a:srgbClr val="86BC25"/>
          </a:solidFill>
          <a:ln w="12700">
            <a:solidFill>
              <a:srgbClr val="86BC25"/>
            </a:solidFill>
            <a:prstDash val="solid"/>
          </a:ln>
        </p:spPr>
      </p:sp>
      <p:sp>
        <p:nvSpPr>
          <p:cNvPr id="28" name="Text 26"/>
          <p:cNvSpPr/>
          <p:nvPr/>
        </p:nvSpPr>
        <p:spPr>
          <a:xfrm>
            <a:off x="5989320" y="1362456"/>
            <a:ext cx="5422392" cy="256032"/>
          </a:xfrm>
          <a:prstGeom prst="rect">
            <a:avLst/>
          </a:prstGeom>
          <a:noFill/>
          <a:ln/>
        </p:spPr>
        <p:txBody>
          <a:bodyPr wrap="square" lIns="0" tIns="0" rIns="0" bIns="0" rtlCol="0" anchor="ctr"/>
          <a:lstStyle/>
          <a:p>
            <a:pPr marL="0" indent="0">
              <a:buNone/>
            </a:pPr>
            <a:r>
              <a:rPr lang="en-US" sz="1450" b="1" dirty="0">
                <a:solidFill>
                  <a:srgbClr val="1F1F1F"/>
                </a:solidFill>
              </a:rPr>
              <a:t>Consenso / ±1 nivel</a:t>
            </a:r>
            <a:endParaRPr lang="en-US" sz="1450" dirty="0"/>
          </a:p>
        </p:txBody>
      </p:sp>
      <p:sp>
        <p:nvSpPr>
          <p:cNvPr id="29" name="Text 27"/>
          <p:cNvSpPr/>
          <p:nvPr/>
        </p:nvSpPr>
        <p:spPr>
          <a:xfrm>
            <a:off x="5989320" y="1709928"/>
            <a:ext cx="5422392" cy="429768"/>
          </a:xfrm>
          <a:prstGeom prst="rect">
            <a:avLst/>
          </a:prstGeom>
          <a:noFill/>
          <a:ln/>
        </p:spPr>
        <p:txBody>
          <a:bodyPr wrap="square" lIns="254" tIns="254" rIns="254" bIns="254" rtlCol="0" anchor="t">
            <a:normAutofit/>
          </a:bodyPr>
          <a:lstStyle/>
          <a:p>
            <a:pPr marL="0" indent="0">
              <a:buNone/>
            </a:pPr>
            <a:r>
              <a:rPr lang="en-US" sz="1150" dirty="0">
                <a:solidFill>
                  <a:srgbClr val="666666"/>
                </a:solidFill>
              </a:rPr>
              <a:t>Confirmar contra los criterios, formular el justificación del score y registrar el score acordado.</a:t>
            </a:r>
            <a:endParaRPr lang="en-US" sz="1150" dirty="0"/>
          </a:p>
        </p:txBody>
      </p:sp>
      <p:sp>
        <p:nvSpPr>
          <p:cNvPr id="30" name="Shape 28"/>
          <p:cNvSpPr/>
          <p:nvPr/>
        </p:nvSpPr>
        <p:spPr>
          <a:xfrm>
            <a:off x="5806440" y="2450592"/>
            <a:ext cx="5715000" cy="1170432"/>
          </a:xfrm>
          <a:prstGeom prst="roundRect">
            <a:avLst>
              <a:gd name="adj" fmla="val 4688"/>
            </a:avLst>
          </a:prstGeom>
          <a:solidFill>
            <a:srgbClr val="FFFFFF"/>
          </a:solidFill>
          <a:ln w="10160">
            <a:solidFill>
              <a:srgbClr val="D9D9D9"/>
            </a:solidFill>
            <a:prstDash val="solid"/>
          </a:ln>
        </p:spPr>
      </p:sp>
      <p:sp>
        <p:nvSpPr>
          <p:cNvPr id="31" name="Shape 29"/>
          <p:cNvSpPr/>
          <p:nvPr/>
        </p:nvSpPr>
        <p:spPr>
          <a:xfrm>
            <a:off x="5806440" y="2450592"/>
            <a:ext cx="64008" cy="1170432"/>
          </a:xfrm>
          <a:prstGeom prst="rect">
            <a:avLst/>
          </a:prstGeom>
          <a:solidFill>
            <a:srgbClr val="F3B61F"/>
          </a:solidFill>
          <a:ln w="12700">
            <a:solidFill>
              <a:srgbClr val="F3B61F"/>
            </a:solidFill>
            <a:prstDash val="solid"/>
          </a:ln>
        </p:spPr>
      </p:sp>
      <p:sp>
        <p:nvSpPr>
          <p:cNvPr id="32" name="Text 30"/>
          <p:cNvSpPr/>
          <p:nvPr/>
        </p:nvSpPr>
        <p:spPr>
          <a:xfrm>
            <a:off x="5989320" y="2578608"/>
            <a:ext cx="5422392" cy="256032"/>
          </a:xfrm>
          <a:prstGeom prst="rect">
            <a:avLst/>
          </a:prstGeom>
          <a:noFill/>
          <a:ln/>
        </p:spPr>
        <p:txBody>
          <a:bodyPr wrap="square" lIns="0" tIns="0" rIns="0" bIns="0" rtlCol="0" anchor="ctr"/>
          <a:lstStyle/>
          <a:p>
            <a:pPr marL="0" indent="0">
              <a:buNone/>
            </a:pPr>
            <a:r>
              <a:rPr lang="en-US" sz="1450" b="1" dirty="0">
                <a:solidFill>
                  <a:srgbClr val="1F1F1F"/>
                </a:solidFill>
              </a:rPr>
              <a:t>Dispersión ≥2 niveles</a:t>
            </a:r>
            <a:endParaRPr lang="en-US" sz="1450" dirty="0"/>
          </a:p>
        </p:txBody>
      </p:sp>
      <p:sp>
        <p:nvSpPr>
          <p:cNvPr id="33" name="Text 31"/>
          <p:cNvSpPr/>
          <p:nvPr/>
        </p:nvSpPr>
        <p:spPr>
          <a:xfrm>
            <a:off x="5989320" y="2926080"/>
            <a:ext cx="5422392" cy="576072"/>
          </a:xfrm>
          <a:prstGeom prst="rect">
            <a:avLst/>
          </a:prstGeom>
          <a:noFill/>
          <a:ln/>
        </p:spPr>
        <p:txBody>
          <a:bodyPr wrap="square" lIns="254" tIns="254" rIns="254" bIns="254" rtlCol="0" anchor="t">
            <a:normAutofit/>
          </a:bodyPr>
          <a:lstStyle/>
          <a:p>
            <a:pPr marL="0" indent="0">
              <a:buNone/>
            </a:pPr>
            <a:r>
              <a:rPr lang="en-US" sz="1150" dirty="0">
                <a:solidFill>
                  <a:srgbClr val="666666"/>
                </a:solidFill>
              </a:rPr>
              <a:t>Abrir la discusión: qué hechos y evidencias explican la diferencia; aclarar perímetro, adopción y criterio discriminador.</a:t>
            </a:r>
            <a:endParaRPr lang="en-US" sz="1150" dirty="0"/>
          </a:p>
        </p:txBody>
      </p:sp>
      <p:sp>
        <p:nvSpPr>
          <p:cNvPr id="34" name="Shape 32"/>
          <p:cNvSpPr/>
          <p:nvPr/>
        </p:nvSpPr>
        <p:spPr>
          <a:xfrm>
            <a:off x="5806440" y="3822192"/>
            <a:ext cx="5715000" cy="1664208"/>
          </a:xfrm>
          <a:prstGeom prst="roundRect">
            <a:avLst>
              <a:gd name="adj" fmla="val 3297"/>
            </a:avLst>
          </a:prstGeom>
          <a:solidFill>
            <a:srgbClr val="FFFFFF"/>
          </a:solidFill>
          <a:ln w="10160">
            <a:solidFill>
              <a:srgbClr val="D9D9D9"/>
            </a:solidFill>
            <a:prstDash val="solid"/>
          </a:ln>
        </p:spPr>
      </p:sp>
      <p:sp>
        <p:nvSpPr>
          <p:cNvPr id="35" name="Shape 33"/>
          <p:cNvSpPr/>
          <p:nvPr/>
        </p:nvSpPr>
        <p:spPr>
          <a:xfrm>
            <a:off x="5806440" y="3822192"/>
            <a:ext cx="64008" cy="1664208"/>
          </a:xfrm>
          <a:prstGeom prst="rect">
            <a:avLst/>
          </a:prstGeom>
          <a:solidFill>
            <a:srgbClr val="4472C4"/>
          </a:solidFill>
          <a:ln w="12700">
            <a:solidFill>
              <a:srgbClr val="4472C4"/>
            </a:solidFill>
            <a:prstDash val="solid"/>
          </a:ln>
        </p:spPr>
      </p:sp>
      <p:sp>
        <p:nvSpPr>
          <p:cNvPr id="36" name="Text 34"/>
          <p:cNvSpPr/>
          <p:nvPr/>
        </p:nvSpPr>
        <p:spPr>
          <a:xfrm>
            <a:off x="5989320" y="3950208"/>
            <a:ext cx="5422392" cy="256032"/>
          </a:xfrm>
          <a:prstGeom prst="rect">
            <a:avLst/>
          </a:prstGeom>
          <a:noFill/>
          <a:ln/>
        </p:spPr>
        <p:txBody>
          <a:bodyPr wrap="square" lIns="0" tIns="0" rIns="0" bIns="0" rtlCol="0" anchor="ctr"/>
          <a:lstStyle/>
          <a:p>
            <a:pPr marL="0" indent="0">
              <a:buNone/>
            </a:pPr>
            <a:r>
              <a:rPr lang="en-US" sz="1450" b="1" dirty="0">
                <a:solidFill>
                  <a:srgbClr val="1F1F1F"/>
                </a:solidFill>
              </a:rPr>
              <a:t>Reglas de uso</a:t>
            </a:r>
            <a:endParaRPr lang="en-US" sz="1450" dirty="0"/>
          </a:p>
        </p:txBody>
      </p:sp>
      <p:sp>
        <p:nvSpPr>
          <p:cNvPr id="37" name="Text 35"/>
          <p:cNvSpPr/>
          <p:nvPr/>
        </p:nvSpPr>
        <p:spPr>
          <a:xfrm>
            <a:off x="5989320" y="4297680"/>
            <a:ext cx="5422392" cy="1069848"/>
          </a:xfrm>
          <a:prstGeom prst="rect">
            <a:avLst/>
          </a:prstGeom>
          <a:noFill/>
          <a:ln/>
        </p:spPr>
        <p:txBody>
          <a:bodyPr wrap="square" lIns="254" tIns="254" rIns="254" bIns="254" rtlCol="0" anchor="t">
            <a:normAutofit/>
          </a:bodyPr>
          <a:lstStyle/>
          <a:p>
            <a:pPr marL="0" indent="0">
              <a:buNone/>
            </a:pPr>
            <a:r>
              <a:rPr lang="en-US" sz="1150" dirty="0">
                <a:solidFill>
                  <a:srgbClr val="666666"/>
                </a:solidFill>
              </a:rPr>
              <a:t>• Aplicar solo cuando participan dos o más personas</a:t>
            </a:r>
            <a:endParaRPr lang="en-US" sz="1150" dirty="0"/>
          </a:p>
          <a:p>
            <a:pPr marL="0" indent="0">
              <a:buNone/>
            </a:pPr>
            <a:r>
              <a:rPr lang="en-US" sz="1150" dirty="0">
                <a:solidFill>
                  <a:srgbClr val="666666"/>
                </a:solidFill>
              </a:rPr>
              <a:t>• Voto simultáneo e individual antes de debatir el nivel</a:t>
            </a:r>
            <a:endParaRPr lang="en-US" sz="1150" dirty="0"/>
          </a:p>
          <a:p>
            <a:pPr marL="0" indent="0">
              <a:buNone/>
            </a:pPr>
            <a:r>
              <a:rPr lang="en-US" sz="1150" dirty="0">
                <a:solidFill>
                  <a:srgbClr val="666666"/>
                </a:solidFill>
              </a:rPr>
              <a:t>• Mostrar distribución, media y rango</a:t>
            </a:r>
            <a:endParaRPr lang="en-US" sz="1150" dirty="0"/>
          </a:p>
          <a:p>
            <a:pPr marL="0" indent="0">
              <a:buNone/>
            </a:pPr>
            <a:r>
              <a:rPr lang="en-US" sz="1150" dirty="0">
                <a:solidFill>
                  <a:srgbClr val="666666"/>
                </a:solidFill>
              </a:rPr>
              <a:t>• La media orienta, pero no sustituye el acuerdo</a:t>
            </a:r>
            <a:endParaRPr lang="en-US" sz="1150" dirty="0"/>
          </a:p>
        </p:txBody>
      </p:sp>
      <p:sp>
        <p:nvSpPr>
          <p:cNvPr id="38" name="Shape 36"/>
          <p:cNvSpPr/>
          <p:nvPr/>
        </p:nvSpPr>
        <p:spPr>
          <a:xfrm>
            <a:off x="594360" y="5870448"/>
            <a:ext cx="10972800" cy="429768"/>
          </a:xfrm>
          <a:prstGeom prst="roundRect">
            <a:avLst>
              <a:gd name="adj" fmla="val 8511"/>
            </a:avLst>
          </a:prstGeom>
          <a:solidFill>
            <a:srgbClr val="1F1F1F"/>
          </a:solidFill>
          <a:ln w="12700">
            <a:solidFill>
              <a:srgbClr val="1F1F1F"/>
            </a:solidFill>
            <a:prstDash val="solid"/>
          </a:ln>
        </p:spPr>
      </p:sp>
      <p:sp>
        <p:nvSpPr>
          <p:cNvPr id="39" name="Text 37"/>
          <p:cNvSpPr/>
          <p:nvPr/>
        </p:nvSpPr>
        <p:spPr>
          <a:xfrm>
            <a:off x="868680" y="5980176"/>
            <a:ext cx="10424160" cy="182880"/>
          </a:xfrm>
          <a:prstGeom prst="rect">
            <a:avLst/>
          </a:prstGeom>
          <a:noFill/>
          <a:ln/>
        </p:spPr>
        <p:txBody>
          <a:bodyPr wrap="square" lIns="0" tIns="0" rIns="0" bIns="0" rtlCol="0" anchor="ctr">
            <a:normAutofit/>
          </a:bodyPr>
          <a:lstStyle/>
          <a:p>
            <a:pPr marL="0" indent="0" algn="ctr">
              <a:buNone/>
            </a:pPr>
            <a:r>
              <a:rPr lang="en-US" sz="1130" b="1" dirty="0">
                <a:solidFill>
                  <a:srgbClr val="FFFFFF"/>
                </a:solidFill>
              </a:rPr>
              <a:t>El score final se define en sesión y queda respaldado por la distribución, el justificación consensuada del score, los criterios y las evidencias consideradas.</a:t>
            </a:r>
            <a:endParaRPr lang="en-US" sz="1130" dirty="0"/>
          </a:p>
        </p:txBody>
      </p:sp>
      <p:sp>
        <p:nvSpPr>
          <p:cNvPr id="40" name="Slide Number Placeholder 0"/>
          <p:cNvSpPr>
            <a:spLocks noGrp="1"/>
          </p:cNvSpPr>
          <p:nvPr>
            <p:ph type="sldNum" sz="quarter" idx="4294967295"/>
          </p:nvPr>
        </p:nvSpPr>
        <p:spPr>
          <a:xfrm>
            <a:off x="11686032" y="6537960"/>
            <a:ext cx="201168"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66666"/>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02920" y="310896"/>
            <a:ext cx="11064240" cy="384048"/>
          </a:xfrm>
          <a:prstGeom prst="rect">
            <a:avLst/>
          </a:prstGeom>
          <a:noFill/>
          <a:ln/>
        </p:spPr>
        <p:txBody>
          <a:bodyPr wrap="square" lIns="0" tIns="0" rIns="0" bIns="0" rtlCol="0" anchor="ctr"/>
          <a:lstStyle/>
          <a:p>
            <a:pPr marL="0" indent="0">
              <a:buNone/>
            </a:pPr>
            <a:r>
              <a:rPr lang="en-US" sz="2500" b="1" dirty="0">
                <a:solidFill>
                  <a:srgbClr val="1F1F1F"/>
                </a:solidFill>
                <a:latin typeface="Aptos Display" pitchFamily="34" charset="0"/>
                <a:ea typeface="Aptos Display" pitchFamily="34" charset="-122"/>
                <a:cs typeface="Aptos Display" pitchFamily="34" charset="-120"/>
              </a:rPr>
              <a:t>Gestión de situaciones habituales</a:t>
            </a:r>
            <a:endParaRPr lang="en-US" sz="2500" dirty="0"/>
          </a:p>
        </p:txBody>
      </p:sp>
      <p:sp>
        <p:nvSpPr>
          <p:cNvPr id="3" name="Shape 1"/>
          <p:cNvSpPr/>
          <p:nvPr/>
        </p:nvSpPr>
        <p:spPr>
          <a:xfrm>
            <a:off x="502920" y="795528"/>
            <a:ext cx="594360" cy="1"/>
          </a:xfrm>
          <a:prstGeom prst="line">
            <a:avLst/>
          </a:prstGeom>
          <a:noFill/>
          <a:ln w="50800">
            <a:solidFill>
              <a:srgbClr val="86BC25"/>
            </a:solidFill>
            <a:prstDash val="solid"/>
          </a:ln>
        </p:spPr>
      </p:sp>
      <p:sp>
        <p:nvSpPr>
          <p:cNvPr id="4" name="Text 2"/>
          <p:cNvSpPr/>
          <p:nvPr/>
        </p:nvSpPr>
        <p:spPr>
          <a:xfrm>
            <a:off x="1207008" y="704088"/>
            <a:ext cx="10149840" cy="228600"/>
          </a:xfrm>
          <a:prstGeom prst="rect">
            <a:avLst/>
          </a:prstGeom>
          <a:noFill/>
          <a:ln/>
        </p:spPr>
        <p:txBody>
          <a:bodyPr wrap="square" lIns="0" tIns="0" rIns="0" bIns="0" rtlCol="0" anchor="ctr"/>
          <a:lstStyle/>
          <a:p>
            <a:pPr marL="0" indent="0">
              <a:buNone/>
            </a:pPr>
            <a:r>
              <a:rPr lang="en-US" sz="1200" dirty="0">
                <a:solidFill>
                  <a:srgbClr val="666666"/>
                </a:solidFill>
              </a:rPr>
              <a:t>Reglas de intervención para mantener ritmo, transparencia y ownership del cliente sin perder rigor</a:t>
            </a:r>
            <a:endParaRPr lang="en-US" sz="1200" dirty="0"/>
          </a:p>
        </p:txBody>
      </p:sp>
      <p:sp>
        <p:nvSpPr>
          <p:cNvPr id="5" name="Shape 3"/>
          <p:cNvSpPr/>
          <p:nvPr/>
        </p:nvSpPr>
        <p:spPr>
          <a:xfrm>
            <a:off x="594360" y="1170432"/>
            <a:ext cx="5230368" cy="1170432"/>
          </a:xfrm>
          <a:prstGeom prst="roundRect">
            <a:avLst>
              <a:gd name="adj" fmla="val 4688"/>
            </a:avLst>
          </a:prstGeom>
          <a:solidFill>
            <a:srgbClr val="FFFFFF"/>
          </a:solidFill>
          <a:ln w="10160">
            <a:solidFill>
              <a:srgbClr val="D9D9D9"/>
            </a:solidFill>
            <a:prstDash val="solid"/>
          </a:ln>
        </p:spPr>
      </p:sp>
      <p:sp>
        <p:nvSpPr>
          <p:cNvPr id="6" name="Shape 4"/>
          <p:cNvSpPr/>
          <p:nvPr/>
        </p:nvSpPr>
        <p:spPr>
          <a:xfrm>
            <a:off x="594360" y="1170432"/>
            <a:ext cx="64008" cy="1170432"/>
          </a:xfrm>
          <a:prstGeom prst="rect">
            <a:avLst/>
          </a:prstGeom>
          <a:solidFill>
            <a:srgbClr val="86BC25"/>
          </a:solidFill>
          <a:ln w="12700">
            <a:solidFill>
              <a:srgbClr val="86BC25"/>
            </a:solidFill>
            <a:prstDash val="solid"/>
          </a:ln>
        </p:spPr>
      </p:sp>
      <p:sp>
        <p:nvSpPr>
          <p:cNvPr id="7" name="Text 5"/>
          <p:cNvSpPr/>
          <p:nvPr/>
        </p:nvSpPr>
        <p:spPr>
          <a:xfrm>
            <a:off x="777240" y="1298448"/>
            <a:ext cx="4937760" cy="256032"/>
          </a:xfrm>
          <a:prstGeom prst="rect">
            <a:avLst/>
          </a:prstGeom>
          <a:noFill/>
          <a:ln/>
        </p:spPr>
        <p:txBody>
          <a:bodyPr wrap="square" lIns="0" tIns="0" rIns="0" bIns="0" rtlCol="0" anchor="ctr"/>
          <a:lstStyle/>
          <a:p>
            <a:pPr marL="0" indent="0">
              <a:buNone/>
            </a:pPr>
            <a:r>
              <a:rPr lang="en-US" sz="1450" b="1" dirty="0">
                <a:solidFill>
                  <a:srgbClr val="1F1F1F"/>
                </a:solidFill>
              </a:rPr>
              <a:t>Respuestas contradictorias</a:t>
            </a:r>
            <a:endParaRPr lang="en-US" sz="1450" dirty="0"/>
          </a:p>
        </p:txBody>
      </p:sp>
      <p:sp>
        <p:nvSpPr>
          <p:cNvPr id="8" name="Text 6"/>
          <p:cNvSpPr/>
          <p:nvPr/>
        </p:nvSpPr>
        <p:spPr>
          <a:xfrm>
            <a:off x="777240" y="1645920"/>
            <a:ext cx="4937760" cy="576072"/>
          </a:xfrm>
          <a:prstGeom prst="rect">
            <a:avLst/>
          </a:prstGeom>
          <a:noFill/>
          <a:ln/>
        </p:spPr>
        <p:txBody>
          <a:bodyPr wrap="square" lIns="254" tIns="254" rIns="254" bIns="254" rtlCol="0" anchor="t">
            <a:normAutofit/>
          </a:bodyPr>
          <a:lstStyle/>
          <a:p>
            <a:pPr marL="0" indent="0">
              <a:buNone/>
            </a:pPr>
            <a:r>
              <a:rPr lang="en-US" sz="1150" dirty="0">
                <a:solidFill>
                  <a:srgbClr val="666666"/>
                </a:solidFill>
              </a:rPr>
              <a:t>Identificar qué perímetro, unidad o momento del proceso explica cada respuesta. Confirmar los hechos antes de volver a puntuar.</a:t>
            </a:r>
            <a:endParaRPr lang="en-US" sz="1150" dirty="0"/>
          </a:p>
        </p:txBody>
      </p:sp>
      <p:sp>
        <p:nvSpPr>
          <p:cNvPr id="9" name="Shape 7"/>
          <p:cNvSpPr/>
          <p:nvPr/>
        </p:nvSpPr>
        <p:spPr>
          <a:xfrm>
            <a:off x="6190488" y="1170432"/>
            <a:ext cx="5230368" cy="1170432"/>
          </a:xfrm>
          <a:prstGeom prst="roundRect">
            <a:avLst>
              <a:gd name="adj" fmla="val 4688"/>
            </a:avLst>
          </a:prstGeom>
          <a:solidFill>
            <a:srgbClr val="FFFFFF"/>
          </a:solidFill>
          <a:ln w="10160">
            <a:solidFill>
              <a:srgbClr val="D9D9D9"/>
            </a:solidFill>
            <a:prstDash val="solid"/>
          </a:ln>
        </p:spPr>
      </p:sp>
      <p:sp>
        <p:nvSpPr>
          <p:cNvPr id="10" name="Shape 8"/>
          <p:cNvSpPr/>
          <p:nvPr/>
        </p:nvSpPr>
        <p:spPr>
          <a:xfrm>
            <a:off x="6190488" y="1170432"/>
            <a:ext cx="64008" cy="1170432"/>
          </a:xfrm>
          <a:prstGeom prst="rect">
            <a:avLst/>
          </a:prstGeom>
          <a:solidFill>
            <a:srgbClr val="4472C4"/>
          </a:solidFill>
          <a:ln w="12700">
            <a:solidFill>
              <a:srgbClr val="4472C4"/>
            </a:solidFill>
            <a:prstDash val="solid"/>
          </a:ln>
        </p:spPr>
      </p:sp>
      <p:sp>
        <p:nvSpPr>
          <p:cNvPr id="11" name="Text 9"/>
          <p:cNvSpPr/>
          <p:nvPr/>
        </p:nvSpPr>
        <p:spPr>
          <a:xfrm>
            <a:off x="6373368" y="1298448"/>
            <a:ext cx="4937760" cy="256032"/>
          </a:xfrm>
          <a:prstGeom prst="rect">
            <a:avLst/>
          </a:prstGeom>
          <a:noFill/>
          <a:ln/>
        </p:spPr>
        <p:txBody>
          <a:bodyPr wrap="square" lIns="0" tIns="0" rIns="0" bIns="0" rtlCol="0" anchor="ctr"/>
          <a:lstStyle/>
          <a:p>
            <a:pPr marL="0" indent="0">
              <a:buNone/>
            </a:pPr>
            <a:r>
              <a:rPr lang="en-US" sz="1450" b="1" dirty="0">
                <a:solidFill>
                  <a:srgbClr val="1F1F1F"/>
                </a:solidFill>
              </a:rPr>
              <a:t>Percepción superior a los criterios</a:t>
            </a:r>
            <a:endParaRPr lang="en-US" sz="1450" dirty="0"/>
          </a:p>
        </p:txBody>
      </p:sp>
      <p:sp>
        <p:nvSpPr>
          <p:cNvPr id="12" name="Text 10"/>
          <p:cNvSpPr/>
          <p:nvPr/>
        </p:nvSpPr>
        <p:spPr>
          <a:xfrm>
            <a:off x="6373368" y="1645920"/>
            <a:ext cx="4937760" cy="576072"/>
          </a:xfrm>
          <a:prstGeom prst="rect">
            <a:avLst/>
          </a:prstGeom>
          <a:noFill/>
          <a:ln/>
        </p:spPr>
        <p:txBody>
          <a:bodyPr wrap="square" lIns="254" tIns="254" rIns="254" bIns="254" rtlCol="0" anchor="t">
            <a:normAutofit/>
          </a:bodyPr>
          <a:lstStyle/>
          <a:p>
            <a:pPr marL="0" indent="0">
              <a:buNone/>
            </a:pPr>
            <a:r>
              <a:rPr lang="en-US" sz="1150" dirty="0">
                <a:solidFill>
                  <a:srgbClr val="666666"/>
                </a:solidFill>
              </a:rPr>
              <a:t>La persona puede considerar que la situación es avanzada, pero el nivel exige condiciones observables que aún no se cumplen. Reconocer lo que sí está implantado, mostrar la diferencia concreta con el siguiente nivel y acordar el score contra el criterio, no contra la percepción.</a:t>
            </a:r>
            <a:endParaRPr lang="en-US" sz="1150" dirty="0"/>
          </a:p>
        </p:txBody>
      </p:sp>
      <p:sp>
        <p:nvSpPr>
          <p:cNvPr id="13" name="Shape 11"/>
          <p:cNvSpPr/>
          <p:nvPr/>
        </p:nvSpPr>
        <p:spPr>
          <a:xfrm>
            <a:off x="594360" y="2606040"/>
            <a:ext cx="5230368" cy="1170432"/>
          </a:xfrm>
          <a:prstGeom prst="roundRect">
            <a:avLst>
              <a:gd name="adj" fmla="val 4688"/>
            </a:avLst>
          </a:prstGeom>
          <a:solidFill>
            <a:srgbClr val="FAFAFA"/>
          </a:solidFill>
          <a:ln w="10160">
            <a:solidFill>
              <a:srgbClr val="D9D9D9"/>
            </a:solidFill>
            <a:prstDash val="solid"/>
          </a:ln>
        </p:spPr>
      </p:sp>
      <p:sp>
        <p:nvSpPr>
          <p:cNvPr id="14" name="Shape 12"/>
          <p:cNvSpPr/>
          <p:nvPr/>
        </p:nvSpPr>
        <p:spPr>
          <a:xfrm>
            <a:off x="594360" y="2606040"/>
            <a:ext cx="64008" cy="1170432"/>
          </a:xfrm>
          <a:prstGeom prst="rect">
            <a:avLst/>
          </a:prstGeom>
          <a:solidFill>
            <a:srgbClr val="7F8C8D"/>
          </a:solidFill>
          <a:ln w="12700">
            <a:solidFill>
              <a:srgbClr val="7F8C8D"/>
            </a:solidFill>
            <a:prstDash val="solid"/>
          </a:ln>
        </p:spPr>
      </p:sp>
      <p:sp>
        <p:nvSpPr>
          <p:cNvPr id="15" name="Text 13"/>
          <p:cNvSpPr/>
          <p:nvPr/>
        </p:nvSpPr>
        <p:spPr>
          <a:xfrm>
            <a:off x="777240" y="2734056"/>
            <a:ext cx="4937760" cy="256032"/>
          </a:xfrm>
          <a:prstGeom prst="rect">
            <a:avLst/>
          </a:prstGeom>
          <a:noFill/>
          <a:ln/>
        </p:spPr>
        <p:txBody>
          <a:bodyPr wrap="square" lIns="0" tIns="0" rIns="0" bIns="0" rtlCol="0" anchor="ctr"/>
          <a:lstStyle/>
          <a:p>
            <a:pPr marL="0" indent="0">
              <a:buNone/>
            </a:pPr>
            <a:r>
              <a:rPr lang="en-US" sz="1450" b="1" dirty="0">
                <a:solidFill>
                  <a:srgbClr val="1F1F1F"/>
                </a:solidFill>
              </a:rPr>
              <a:t>Diferencias relevantes en la votación</a:t>
            </a:r>
            <a:endParaRPr lang="en-US" sz="1450" dirty="0"/>
          </a:p>
        </p:txBody>
      </p:sp>
      <p:sp>
        <p:nvSpPr>
          <p:cNvPr id="16" name="Text 14"/>
          <p:cNvSpPr/>
          <p:nvPr/>
        </p:nvSpPr>
        <p:spPr>
          <a:xfrm>
            <a:off x="777240" y="3081528"/>
            <a:ext cx="4937760" cy="576072"/>
          </a:xfrm>
          <a:prstGeom prst="rect">
            <a:avLst/>
          </a:prstGeom>
          <a:noFill/>
          <a:ln/>
        </p:spPr>
        <p:txBody>
          <a:bodyPr wrap="square" lIns="254" tIns="254" rIns="254" bIns="254" rtlCol="0" anchor="t">
            <a:normAutofit/>
          </a:bodyPr>
          <a:lstStyle/>
          <a:p>
            <a:pPr marL="0" indent="0">
              <a:buNone/>
            </a:pPr>
            <a:r>
              <a:rPr lang="en-US" sz="1150" dirty="0">
                <a:solidFill>
                  <a:srgbClr val="666666"/>
                </a:solidFill>
              </a:rPr>
              <a:t>Pedir a las puntuaciones más alta y más baja que expliquen qué hechos sustentan su valoración. Volver a los criterios y re-votar si la discusión aporta información nueva.</a:t>
            </a:r>
            <a:endParaRPr lang="en-US" sz="1150" dirty="0"/>
          </a:p>
        </p:txBody>
      </p:sp>
      <p:sp>
        <p:nvSpPr>
          <p:cNvPr id="17" name="Shape 15"/>
          <p:cNvSpPr/>
          <p:nvPr/>
        </p:nvSpPr>
        <p:spPr>
          <a:xfrm>
            <a:off x="6190488" y="2606040"/>
            <a:ext cx="5230368" cy="1170432"/>
          </a:xfrm>
          <a:prstGeom prst="roundRect">
            <a:avLst>
              <a:gd name="adj" fmla="val 4688"/>
            </a:avLst>
          </a:prstGeom>
          <a:solidFill>
            <a:srgbClr val="FAFAFA"/>
          </a:solidFill>
          <a:ln w="10160">
            <a:solidFill>
              <a:srgbClr val="D9D9D9"/>
            </a:solidFill>
            <a:prstDash val="solid"/>
          </a:ln>
        </p:spPr>
      </p:sp>
      <p:sp>
        <p:nvSpPr>
          <p:cNvPr id="18" name="Shape 16"/>
          <p:cNvSpPr/>
          <p:nvPr/>
        </p:nvSpPr>
        <p:spPr>
          <a:xfrm>
            <a:off x="6190488" y="2606040"/>
            <a:ext cx="64008" cy="1170432"/>
          </a:xfrm>
          <a:prstGeom prst="rect">
            <a:avLst/>
          </a:prstGeom>
          <a:solidFill>
            <a:srgbClr val="2F7E7E"/>
          </a:solidFill>
          <a:ln w="12700">
            <a:solidFill>
              <a:srgbClr val="2F7E7E"/>
            </a:solidFill>
            <a:prstDash val="solid"/>
          </a:ln>
        </p:spPr>
      </p:sp>
      <p:sp>
        <p:nvSpPr>
          <p:cNvPr id="19" name="Text 17"/>
          <p:cNvSpPr/>
          <p:nvPr/>
        </p:nvSpPr>
        <p:spPr>
          <a:xfrm>
            <a:off x="6373368" y="2734056"/>
            <a:ext cx="4937760" cy="256032"/>
          </a:xfrm>
          <a:prstGeom prst="rect">
            <a:avLst/>
          </a:prstGeom>
          <a:noFill/>
          <a:ln/>
        </p:spPr>
        <p:txBody>
          <a:bodyPr wrap="square" lIns="0" tIns="0" rIns="0" bIns="0" rtlCol="0" anchor="ctr"/>
          <a:lstStyle/>
          <a:p>
            <a:pPr marL="0" indent="0">
              <a:buNone/>
            </a:pPr>
            <a:r>
              <a:rPr lang="en-US" sz="1450" b="1" dirty="0">
                <a:solidFill>
                  <a:srgbClr val="1F1F1F"/>
                </a:solidFill>
              </a:rPr>
              <a:t>No hay tiempo suficiente</a:t>
            </a:r>
            <a:endParaRPr lang="en-US" sz="1450" dirty="0"/>
          </a:p>
        </p:txBody>
      </p:sp>
      <p:sp>
        <p:nvSpPr>
          <p:cNvPr id="20" name="Text 18"/>
          <p:cNvSpPr/>
          <p:nvPr/>
        </p:nvSpPr>
        <p:spPr>
          <a:xfrm>
            <a:off x="6373368" y="3081528"/>
            <a:ext cx="4937760" cy="576072"/>
          </a:xfrm>
          <a:prstGeom prst="rect">
            <a:avLst/>
          </a:prstGeom>
          <a:noFill/>
          <a:ln/>
        </p:spPr>
        <p:txBody>
          <a:bodyPr wrap="square" lIns="254" tIns="254" rIns="254" bIns="254" rtlCol="0" anchor="t">
            <a:normAutofit/>
          </a:bodyPr>
          <a:lstStyle/>
          <a:p>
            <a:pPr marL="0" indent="0">
              <a:buNone/>
            </a:pPr>
            <a:r>
              <a:rPr lang="en-US" sz="1150" dirty="0">
                <a:solidFill>
                  <a:srgbClr val="666666"/>
                </a:solidFill>
              </a:rPr>
              <a:t>Priorizar las subcapacidades más materiales, proteger el timebox por capacidad y llevar a parking lot cuestiones que no cambien el score.</a:t>
            </a:r>
            <a:endParaRPr lang="en-US" sz="1150" dirty="0"/>
          </a:p>
        </p:txBody>
      </p:sp>
      <p:sp>
        <p:nvSpPr>
          <p:cNvPr id="21" name="Shape 19"/>
          <p:cNvSpPr/>
          <p:nvPr/>
        </p:nvSpPr>
        <p:spPr>
          <a:xfrm>
            <a:off x="594360" y="4041648"/>
            <a:ext cx="5230368" cy="1170432"/>
          </a:xfrm>
          <a:prstGeom prst="roundRect">
            <a:avLst>
              <a:gd name="adj" fmla="val 4688"/>
            </a:avLst>
          </a:prstGeom>
          <a:solidFill>
            <a:srgbClr val="FFFFFF"/>
          </a:solidFill>
          <a:ln w="10160">
            <a:solidFill>
              <a:srgbClr val="D9D9D9"/>
            </a:solidFill>
            <a:prstDash val="solid"/>
          </a:ln>
        </p:spPr>
      </p:sp>
      <p:sp>
        <p:nvSpPr>
          <p:cNvPr id="22" name="Shape 20"/>
          <p:cNvSpPr/>
          <p:nvPr/>
        </p:nvSpPr>
        <p:spPr>
          <a:xfrm>
            <a:off x="594360" y="4041648"/>
            <a:ext cx="64008" cy="1170432"/>
          </a:xfrm>
          <a:prstGeom prst="rect">
            <a:avLst/>
          </a:prstGeom>
          <a:solidFill>
            <a:srgbClr val="70AD47"/>
          </a:solidFill>
          <a:ln w="12700">
            <a:solidFill>
              <a:srgbClr val="70AD47"/>
            </a:solidFill>
            <a:prstDash val="solid"/>
          </a:ln>
        </p:spPr>
      </p:sp>
      <p:sp>
        <p:nvSpPr>
          <p:cNvPr id="23" name="Text 21"/>
          <p:cNvSpPr/>
          <p:nvPr/>
        </p:nvSpPr>
        <p:spPr>
          <a:xfrm>
            <a:off x="777240" y="4169664"/>
            <a:ext cx="4937760" cy="256032"/>
          </a:xfrm>
          <a:prstGeom prst="rect">
            <a:avLst/>
          </a:prstGeom>
          <a:noFill/>
          <a:ln/>
        </p:spPr>
        <p:txBody>
          <a:bodyPr wrap="square" lIns="0" tIns="0" rIns="0" bIns="0" rtlCol="0" anchor="ctr"/>
          <a:lstStyle/>
          <a:p>
            <a:pPr marL="0" indent="0">
              <a:buNone/>
            </a:pPr>
            <a:r>
              <a:rPr lang="en-US" sz="1450" b="1" dirty="0">
                <a:solidFill>
                  <a:srgbClr val="1F1F1F"/>
                </a:solidFill>
              </a:rPr>
              <a:t>Una sola persona participa</a:t>
            </a:r>
            <a:endParaRPr lang="en-US" sz="1450" dirty="0"/>
          </a:p>
        </p:txBody>
      </p:sp>
      <p:sp>
        <p:nvSpPr>
          <p:cNvPr id="24" name="Text 22"/>
          <p:cNvSpPr/>
          <p:nvPr/>
        </p:nvSpPr>
        <p:spPr>
          <a:xfrm>
            <a:off x="777240" y="4517136"/>
            <a:ext cx="4937760" cy="576072"/>
          </a:xfrm>
          <a:prstGeom prst="rect">
            <a:avLst/>
          </a:prstGeom>
          <a:noFill/>
          <a:ln/>
        </p:spPr>
        <p:txBody>
          <a:bodyPr wrap="square" lIns="254" tIns="254" rIns="254" bIns="254" rtlCol="0" anchor="t">
            <a:normAutofit/>
          </a:bodyPr>
          <a:lstStyle/>
          <a:p>
            <a:pPr marL="0" indent="0">
              <a:buNone/>
            </a:pPr>
            <a:r>
              <a:rPr lang="en-US" sz="1150" dirty="0">
                <a:solidFill>
                  <a:srgbClr val="666666"/>
                </a:solidFill>
              </a:rPr>
              <a:t>No realizar votación individual. Discutir directamente P/O, Procesos y Tecnología y confirmar de forma explícita el score y su justificación.</a:t>
            </a:r>
            <a:endParaRPr lang="en-US" sz="1150" dirty="0"/>
          </a:p>
        </p:txBody>
      </p:sp>
      <p:sp>
        <p:nvSpPr>
          <p:cNvPr id="25" name="Shape 23"/>
          <p:cNvSpPr/>
          <p:nvPr/>
        </p:nvSpPr>
        <p:spPr>
          <a:xfrm>
            <a:off x="6190488" y="4041648"/>
            <a:ext cx="5230368" cy="1170432"/>
          </a:xfrm>
          <a:prstGeom prst="roundRect">
            <a:avLst>
              <a:gd name="adj" fmla="val 4688"/>
            </a:avLst>
          </a:prstGeom>
          <a:solidFill>
            <a:srgbClr val="FFFFFF"/>
          </a:solidFill>
          <a:ln w="10160">
            <a:solidFill>
              <a:srgbClr val="D9D9D9"/>
            </a:solidFill>
            <a:prstDash val="solid"/>
          </a:ln>
        </p:spPr>
      </p:sp>
      <p:sp>
        <p:nvSpPr>
          <p:cNvPr id="26" name="Shape 24"/>
          <p:cNvSpPr/>
          <p:nvPr/>
        </p:nvSpPr>
        <p:spPr>
          <a:xfrm>
            <a:off x="6190488" y="4041648"/>
            <a:ext cx="64008" cy="1170432"/>
          </a:xfrm>
          <a:prstGeom prst="rect">
            <a:avLst/>
          </a:prstGeom>
          <a:solidFill>
            <a:srgbClr val="A5A5A5"/>
          </a:solidFill>
          <a:ln w="12700">
            <a:solidFill>
              <a:srgbClr val="A5A5A5"/>
            </a:solidFill>
            <a:prstDash val="solid"/>
          </a:ln>
        </p:spPr>
      </p:sp>
      <p:sp>
        <p:nvSpPr>
          <p:cNvPr id="27" name="Text 25"/>
          <p:cNvSpPr/>
          <p:nvPr/>
        </p:nvSpPr>
        <p:spPr>
          <a:xfrm>
            <a:off x="6373368" y="4169664"/>
            <a:ext cx="4937760" cy="256032"/>
          </a:xfrm>
          <a:prstGeom prst="rect">
            <a:avLst/>
          </a:prstGeom>
          <a:noFill/>
          <a:ln/>
        </p:spPr>
        <p:txBody>
          <a:bodyPr wrap="square" lIns="0" tIns="0" rIns="0" bIns="0" rtlCol="0" anchor="ctr"/>
          <a:lstStyle/>
          <a:p>
            <a:pPr marL="0" indent="0">
              <a:buNone/>
            </a:pPr>
            <a:r>
              <a:rPr lang="en-US" sz="1450" b="1" dirty="0">
                <a:solidFill>
                  <a:srgbClr val="1F1F1F"/>
                </a:solidFill>
              </a:rPr>
              <a:t>El grupo no alcanza acuerdo</a:t>
            </a:r>
            <a:endParaRPr lang="en-US" sz="1450" dirty="0"/>
          </a:p>
        </p:txBody>
      </p:sp>
      <p:sp>
        <p:nvSpPr>
          <p:cNvPr id="28" name="Text 26"/>
          <p:cNvSpPr/>
          <p:nvPr/>
        </p:nvSpPr>
        <p:spPr>
          <a:xfrm>
            <a:off x="6373368" y="4517136"/>
            <a:ext cx="4937760" cy="576072"/>
          </a:xfrm>
          <a:prstGeom prst="rect">
            <a:avLst/>
          </a:prstGeom>
          <a:noFill/>
          <a:ln/>
        </p:spPr>
        <p:txBody>
          <a:bodyPr wrap="square" lIns="254" tIns="254" rIns="254" bIns="254" rtlCol="0" anchor="t">
            <a:normAutofit/>
          </a:bodyPr>
          <a:lstStyle/>
          <a:p>
            <a:pPr marL="0" indent="0">
              <a:buNone/>
            </a:pPr>
            <a:r>
              <a:rPr lang="en-US" sz="1150" dirty="0">
                <a:solidFill>
                  <a:srgbClr val="666666"/>
                </a:solidFill>
              </a:rPr>
              <a:t>Aclarar qué criterio o hecho impide cerrar el nivel. Si falta una validación concreta, dejar el punto identificado y acordar con los participantes cómo se cerrará, evitando que el equipo consultor decida unilateralmente.</a:t>
            </a:r>
            <a:endParaRPr lang="en-US" sz="1150" dirty="0"/>
          </a:p>
        </p:txBody>
      </p:sp>
      <p:sp>
        <p:nvSpPr>
          <p:cNvPr id="29" name="Shape 27"/>
          <p:cNvSpPr/>
          <p:nvPr/>
        </p:nvSpPr>
        <p:spPr>
          <a:xfrm>
            <a:off x="594360" y="5623560"/>
            <a:ext cx="10826496" cy="475488"/>
          </a:xfrm>
          <a:prstGeom prst="roundRect">
            <a:avLst>
              <a:gd name="adj" fmla="val 9615"/>
            </a:avLst>
          </a:prstGeom>
          <a:solidFill>
            <a:srgbClr val="FFF8E7"/>
          </a:solidFill>
          <a:ln w="10160">
            <a:solidFill>
              <a:srgbClr val="E7C76A"/>
            </a:solidFill>
            <a:prstDash val="solid"/>
          </a:ln>
        </p:spPr>
      </p:sp>
      <p:sp>
        <p:nvSpPr>
          <p:cNvPr id="30" name="Text 28"/>
          <p:cNvSpPr/>
          <p:nvPr/>
        </p:nvSpPr>
        <p:spPr>
          <a:xfrm>
            <a:off x="740664" y="5751576"/>
            <a:ext cx="1005840" cy="164592"/>
          </a:xfrm>
          <a:prstGeom prst="rect">
            <a:avLst/>
          </a:prstGeom>
          <a:noFill/>
          <a:ln/>
        </p:spPr>
        <p:txBody>
          <a:bodyPr wrap="square" lIns="0" tIns="0" rIns="0" bIns="0" rtlCol="0" anchor="ctr"/>
          <a:lstStyle/>
          <a:p>
            <a:pPr marL="0" indent="0">
              <a:buNone/>
            </a:pPr>
            <a:r>
              <a:rPr lang="en-US" sz="850" b="1" dirty="0">
                <a:solidFill>
                  <a:srgbClr val="8B6508"/>
                </a:solidFill>
              </a:rPr>
              <a:t>PUNTO CRÍTICO</a:t>
            </a:r>
            <a:endParaRPr lang="en-US" sz="850" dirty="0"/>
          </a:p>
        </p:txBody>
      </p:sp>
      <p:sp>
        <p:nvSpPr>
          <p:cNvPr id="31" name="Text 29"/>
          <p:cNvSpPr/>
          <p:nvPr/>
        </p:nvSpPr>
        <p:spPr>
          <a:xfrm>
            <a:off x="1783080" y="5715000"/>
            <a:ext cx="9500616" cy="256032"/>
          </a:xfrm>
          <a:prstGeom prst="rect">
            <a:avLst/>
          </a:prstGeom>
          <a:noFill/>
          <a:ln/>
        </p:spPr>
        <p:txBody>
          <a:bodyPr wrap="square" lIns="0" tIns="0" rIns="0" bIns="0" rtlCol="0" anchor="ctr">
            <a:normAutofit/>
          </a:bodyPr>
          <a:lstStyle/>
          <a:p>
            <a:pPr marL="0" indent="0">
              <a:buNone/>
            </a:pPr>
            <a:r>
              <a:rPr lang="en-US" sz="1100" dirty="0">
                <a:solidFill>
                  <a:srgbClr val="1F1F1F"/>
                </a:solidFill>
              </a:rPr>
              <a:t>El facilitador debe hacer visible la conexión entre hechos, criterios y score. El consenso no consiste en promediar opiniones, sino en acordar qué nivel representa mejor la realidad evaluada.</a:t>
            </a:r>
            <a:endParaRPr lang="en-US" sz="1100" dirty="0"/>
          </a:p>
        </p:txBody>
      </p:sp>
      <p:sp>
        <p:nvSpPr>
          <p:cNvPr id="32" name="Slide Number Placeholder 0"/>
          <p:cNvSpPr>
            <a:spLocks noGrp="1"/>
          </p:cNvSpPr>
          <p:nvPr>
            <p:ph type="sldNum" sz="quarter" idx="4294967295"/>
          </p:nvPr>
        </p:nvSpPr>
        <p:spPr>
          <a:xfrm>
            <a:off x="11686032" y="6537960"/>
            <a:ext cx="201168"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66666"/>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502920" y="310896"/>
            <a:ext cx="11064240" cy="384048"/>
          </a:xfrm>
          <a:prstGeom prst="rect">
            <a:avLst/>
          </a:prstGeom>
          <a:noFill/>
          <a:ln/>
        </p:spPr>
        <p:txBody>
          <a:bodyPr wrap="square" lIns="0" tIns="0" rIns="0" bIns="0" rtlCol="0" anchor="ctr"/>
          <a:lstStyle/>
          <a:p>
            <a:pPr marL="0" indent="0">
              <a:buNone/>
            </a:pPr>
            <a:r>
              <a:rPr lang="en-US" sz="2500" b="1" dirty="0">
                <a:solidFill>
                  <a:srgbClr val="1F1F1F"/>
                </a:solidFill>
                <a:latin typeface="Aptos Display" pitchFamily="34" charset="0"/>
                <a:ea typeface="Aptos Display" pitchFamily="34" charset="-122"/>
                <a:cs typeface="Aptos Display" pitchFamily="34" charset="-120"/>
              </a:rPr>
              <a:t>Fase 3 | Trabajo posterior al workshop</a:t>
            </a:r>
            <a:endParaRPr lang="en-US" sz="2500" dirty="0"/>
          </a:p>
        </p:txBody>
      </p:sp>
      <p:sp>
        <p:nvSpPr>
          <p:cNvPr id="3" name="Shape 1"/>
          <p:cNvSpPr/>
          <p:nvPr/>
        </p:nvSpPr>
        <p:spPr>
          <a:xfrm>
            <a:off x="502920" y="795528"/>
            <a:ext cx="594360" cy="1"/>
          </a:xfrm>
          <a:prstGeom prst="line">
            <a:avLst/>
          </a:prstGeom>
          <a:noFill/>
          <a:ln w="50800">
            <a:solidFill>
              <a:srgbClr val="86BC25"/>
            </a:solidFill>
            <a:prstDash val="solid"/>
          </a:ln>
        </p:spPr>
      </p:sp>
      <p:sp>
        <p:nvSpPr>
          <p:cNvPr id="4" name="Text 2"/>
          <p:cNvSpPr/>
          <p:nvPr/>
        </p:nvSpPr>
        <p:spPr>
          <a:xfrm>
            <a:off x="1207008" y="704088"/>
            <a:ext cx="10149840" cy="228600"/>
          </a:xfrm>
          <a:prstGeom prst="rect">
            <a:avLst/>
          </a:prstGeom>
          <a:noFill/>
          <a:ln/>
        </p:spPr>
        <p:txBody>
          <a:bodyPr wrap="square" lIns="0" tIns="0" rIns="0" bIns="0" rtlCol="0" anchor="ctr"/>
          <a:lstStyle/>
          <a:p>
            <a:pPr marL="0" indent="0">
              <a:buNone/>
            </a:pPr>
            <a:r>
              <a:rPr lang="en-US" sz="1200" dirty="0">
                <a:solidFill>
                  <a:srgbClr val="666666"/>
                </a:solidFill>
              </a:rPr>
              <a:t>Objetivo: formalizar el resultado acordado, completar la trazabilidad y convertir los scores en insights accionables</a:t>
            </a:r>
            <a:endParaRPr lang="en-US" sz="1200" dirty="0"/>
          </a:p>
        </p:txBody>
      </p:sp>
      <p:sp>
        <p:nvSpPr>
          <p:cNvPr id="5" name="Shape 3"/>
          <p:cNvSpPr/>
          <p:nvPr/>
        </p:nvSpPr>
        <p:spPr>
          <a:xfrm>
            <a:off x="502920" y="1417320"/>
            <a:ext cx="1965960" cy="2423160"/>
          </a:xfrm>
          <a:prstGeom prst="roundRect">
            <a:avLst>
              <a:gd name="adj" fmla="val 2326"/>
            </a:avLst>
          </a:prstGeom>
          <a:solidFill>
            <a:srgbClr val="FFFFFF"/>
          </a:solidFill>
          <a:ln w="10160">
            <a:solidFill>
              <a:srgbClr val="D9D9D9"/>
            </a:solidFill>
            <a:prstDash val="solid"/>
          </a:ln>
          <a:effectLst/>
        </p:spPr>
      </p:sp>
      <p:sp>
        <p:nvSpPr>
          <p:cNvPr id="6" name="Text 4"/>
          <p:cNvSpPr/>
          <p:nvPr/>
        </p:nvSpPr>
        <p:spPr>
          <a:xfrm>
            <a:off x="667512" y="1627632"/>
            <a:ext cx="365760" cy="274320"/>
          </a:xfrm>
          <a:prstGeom prst="rect">
            <a:avLst/>
          </a:prstGeom>
          <a:noFill/>
          <a:ln/>
        </p:spPr>
        <p:txBody>
          <a:bodyPr wrap="square" lIns="0" tIns="0" rIns="0" bIns="0" rtlCol="0" anchor="ctr"/>
          <a:lstStyle/>
          <a:p>
            <a:pPr marL="0" indent="0">
              <a:buNone/>
            </a:pPr>
            <a:r>
              <a:rPr lang="en-US" sz="1800" b="1" dirty="0">
                <a:solidFill>
                  <a:srgbClr val="86BC25"/>
                </a:solidFill>
              </a:rPr>
              <a:t>1</a:t>
            </a:r>
            <a:endParaRPr lang="en-US" sz="1800" dirty="0"/>
          </a:p>
        </p:txBody>
      </p:sp>
      <p:sp>
        <p:nvSpPr>
          <p:cNvPr id="7" name="Text 5"/>
          <p:cNvSpPr/>
          <p:nvPr/>
        </p:nvSpPr>
        <p:spPr>
          <a:xfrm>
            <a:off x="667512" y="2084832"/>
            <a:ext cx="1600200" cy="201168"/>
          </a:xfrm>
          <a:prstGeom prst="rect">
            <a:avLst/>
          </a:prstGeom>
          <a:noFill/>
          <a:ln/>
        </p:spPr>
        <p:txBody>
          <a:bodyPr wrap="square" lIns="0" tIns="0" rIns="0" bIns="0" rtlCol="0" anchor="ctr"/>
          <a:lstStyle/>
          <a:p>
            <a:pPr marL="0" indent="0">
              <a:buNone/>
            </a:pPr>
            <a:r>
              <a:rPr lang="en-US" sz="1100" b="1" dirty="0">
                <a:solidFill>
                  <a:srgbClr val="1F1F1F"/>
                </a:solidFill>
              </a:rPr>
              <a:t>CONSOLIDAR</a:t>
            </a:r>
            <a:endParaRPr lang="en-US" sz="1100" dirty="0"/>
          </a:p>
        </p:txBody>
      </p:sp>
      <p:sp>
        <p:nvSpPr>
          <p:cNvPr id="8" name="Text 6"/>
          <p:cNvSpPr/>
          <p:nvPr/>
        </p:nvSpPr>
        <p:spPr>
          <a:xfrm>
            <a:off x="667512" y="2523744"/>
            <a:ext cx="1600200" cy="914400"/>
          </a:xfrm>
          <a:prstGeom prst="rect">
            <a:avLst/>
          </a:prstGeom>
          <a:noFill/>
          <a:ln/>
        </p:spPr>
        <p:txBody>
          <a:bodyPr wrap="square" lIns="0" tIns="0" rIns="0" bIns="0" rtlCol="0" anchor="ctr">
            <a:normAutofit/>
          </a:bodyPr>
          <a:lstStyle/>
          <a:p>
            <a:pPr marL="0" indent="0">
              <a:buNone/>
            </a:pPr>
            <a:r>
              <a:rPr lang="en-US" sz="1200" dirty="0">
                <a:solidFill>
                  <a:srgbClr val="666666"/>
                </a:solidFill>
              </a:rPr>
              <a:t>Volcar scores acordados, distribución, justificación del score y evidencias citadas.</a:t>
            </a:r>
            <a:endParaRPr lang="en-US" sz="1200" dirty="0"/>
          </a:p>
        </p:txBody>
      </p:sp>
      <p:sp>
        <p:nvSpPr>
          <p:cNvPr id="9" name="Shape 7"/>
          <p:cNvSpPr/>
          <p:nvPr/>
        </p:nvSpPr>
        <p:spPr>
          <a:xfrm>
            <a:off x="2487168" y="2377440"/>
            <a:ext cx="310896" cy="411480"/>
          </a:xfrm>
          <a:prstGeom prst="chevron">
            <a:avLst/>
          </a:prstGeom>
          <a:solidFill>
            <a:srgbClr val="AFCB72"/>
          </a:solidFill>
          <a:ln w="12700">
            <a:solidFill>
              <a:srgbClr val="AFCB72"/>
            </a:solidFill>
            <a:prstDash val="solid"/>
          </a:ln>
        </p:spPr>
      </p:sp>
      <p:sp>
        <p:nvSpPr>
          <p:cNvPr id="10" name="Shape 8"/>
          <p:cNvSpPr/>
          <p:nvPr/>
        </p:nvSpPr>
        <p:spPr>
          <a:xfrm>
            <a:off x="2816352" y="1417320"/>
            <a:ext cx="1965960" cy="2423160"/>
          </a:xfrm>
          <a:prstGeom prst="roundRect">
            <a:avLst>
              <a:gd name="adj" fmla="val 2326"/>
            </a:avLst>
          </a:prstGeom>
          <a:solidFill>
            <a:srgbClr val="FFFFFF"/>
          </a:solidFill>
          <a:ln w="10160">
            <a:solidFill>
              <a:srgbClr val="D9D9D9"/>
            </a:solidFill>
            <a:prstDash val="solid"/>
          </a:ln>
          <a:effectLst/>
        </p:spPr>
      </p:sp>
      <p:sp>
        <p:nvSpPr>
          <p:cNvPr id="11" name="Text 9"/>
          <p:cNvSpPr/>
          <p:nvPr/>
        </p:nvSpPr>
        <p:spPr>
          <a:xfrm>
            <a:off x="2980944" y="1627632"/>
            <a:ext cx="365760" cy="274320"/>
          </a:xfrm>
          <a:prstGeom prst="rect">
            <a:avLst/>
          </a:prstGeom>
          <a:noFill/>
          <a:ln/>
        </p:spPr>
        <p:txBody>
          <a:bodyPr wrap="square" lIns="0" tIns="0" rIns="0" bIns="0" rtlCol="0" anchor="ctr"/>
          <a:lstStyle/>
          <a:p>
            <a:pPr marL="0" indent="0">
              <a:buNone/>
            </a:pPr>
            <a:r>
              <a:rPr lang="en-US" sz="1800" b="1" dirty="0">
                <a:solidFill>
                  <a:srgbClr val="86BC25"/>
                </a:solidFill>
              </a:rPr>
              <a:t>2</a:t>
            </a:r>
            <a:endParaRPr lang="en-US" sz="1800" dirty="0"/>
          </a:p>
        </p:txBody>
      </p:sp>
      <p:sp>
        <p:nvSpPr>
          <p:cNvPr id="12" name="Text 10"/>
          <p:cNvSpPr/>
          <p:nvPr/>
        </p:nvSpPr>
        <p:spPr>
          <a:xfrm>
            <a:off x="2980944" y="2084832"/>
            <a:ext cx="1600200" cy="201168"/>
          </a:xfrm>
          <a:prstGeom prst="rect">
            <a:avLst/>
          </a:prstGeom>
          <a:noFill/>
          <a:ln/>
        </p:spPr>
        <p:txBody>
          <a:bodyPr wrap="square" lIns="0" tIns="0" rIns="0" bIns="0" rtlCol="0" anchor="ctr"/>
          <a:lstStyle/>
          <a:p>
            <a:pPr marL="0" indent="0">
              <a:buNone/>
            </a:pPr>
            <a:r>
              <a:rPr lang="en-US" sz="1100" b="1" dirty="0">
                <a:solidFill>
                  <a:srgbClr val="1F1F1F"/>
                </a:solidFill>
              </a:rPr>
              <a:t>DOCUMENTAR</a:t>
            </a:r>
            <a:endParaRPr lang="en-US" sz="1100" dirty="0"/>
          </a:p>
        </p:txBody>
      </p:sp>
      <p:sp>
        <p:nvSpPr>
          <p:cNvPr id="13" name="Text 11"/>
          <p:cNvSpPr/>
          <p:nvPr/>
        </p:nvSpPr>
        <p:spPr>
          <a:xfrm>
            <a:off x="2980944" y="2523744"/>
            <a:ext cx="1600200" cy="914400"/>
          </a:xfrm>
          <a:prstGeom prst="rect">
            <a:avLst/>
          </a:prstGeom>
          <a:noFill/>
          <a:ln/>
        </p:spPr>
        <p:txBody>
          <a:bodyPr wrap="square" lIns="0" tIns="0" rIns="0" bIns="0" rtlCol="0" anchor="ctr">
            <a:normAutofit/>
          </a:bodyPr>
          <a:lstStyle/>
          <a:p>
            <a:pPr marL="0" indent="0">
              <a:buNone/>
            </a:pPr>
            <a:r>
              <a:rPr lang="en-US" sz="1200" dirty="0">
                <a:solidFill>
                  <a:srgbClr val="666666"/>
                </a:solidFill>
              </a:rPr>
              <a:t>Recoger excepciones, diferencias por BU/país y decisiones tomadas.</a:t>
            </a:r>
            <a:endParaRPr lang="en-US" sz="1200" dirty="0"/>
          </a:p>
        </p:txBody>
      </p:sp>
      <p:sp>
        <p:nvSpPr>
          <p:cNvPr id="14" name="Shape 12"/>
          <p:cNvSpPr/>
          <p:nvPr/>
        </p:nvSpPr>
        <p:spPr>
          <a:xfrm>
            <a:off x="4800600" y="2377440"/>
            <a:ext cx="310896" cy="411480"/>
          </a:xfrm>
          <a:prstGeom prst="chevron">
            <a:avLst/>
          </a:prstGeom>
          <a:solidFill>
            <a:srgbClr val="AFCB72"/>
          </a:solidFill>
          <a:ln w="12700">
            <a:solidFill>
              <a:srgbClr val="AFCB72"/>
            </a:solidFill>
            <a:prstDash val="solid"/>
          </a:ln>
        </p:spPr>
      </p:sp>
      <p:sp>
        <p:nvSpPr>
          <p:cNvPr id="15" name="Shape 13"/>
          <p:cNvSpPr/>
          <p:nvPr/>
        </p:nvSpPr>
        <p:spPr>
          <a:xfrm>
            <a:off x="5129784" y="1417320"/>
            <a:ext cx="1965960" cy="2423160"/>
          </a:xfrm>
          <a:prstGeom prst="roundRect">
            <a:avLst>
              <a:gd name="adj" fmla="val 2326"/>
            </a:avLst>
          </a:prstGeom>
          <a:solidFill>
            <a:srgbClr val="FFFFFF"/>
          </a:solidFill>
          <a:ln w="10160">
            <a:solidFill>
              <a:srgbClr val="D9D9D9"/>
            </a:solidFill>
            <a:prstDash val="solid"/>
          </a:ln>
          <a:effectLst/>
        </p:spPr>
      </p:sp>
      <p:sp>
        <p:nvSpPr>
          <p:cNvPr id="16" name="Text 14"/>
          <p:cNvSpPr/>
          <p:nvPr/>
        </p:nvSpPr>
        <p:spPr>
          <a:xfrm>
            <a:off x="5294376" y="1627632"/>
            <a:ext cx="365760" cy="274320"/>
          </a:xfrm>
          <a:prstGeom prst="rect">
            <a:avLst/>
          </a:prstGeom>
          <a:noFill/>
          <a:ln/>
        </p:spPr>
        <p:txBody>
          <a:bodyPr wrap="square" lIns="0" tIns="0" rIns="0" bIns="0" rtlCol="0" anchor="ctr"/>
          <a:lstStyle/>
          <a:p>
            <a:pPr marL="0" indent="0">
              <a:buNone/>
            </a:pPr>
            <a:r>
              <a:rPr lang="en-US" sz="1800" b="1" dirty="0">
                <a:solidFill>
                  <a:srgbClr val="86BC25"/>
                </a:solidFill>
              </a:rPr>
              <a:t>3</a:t>
            </a:r>
            <a:endParaRPr lang="en-US" sz="1800" dirty="0"/>
          </a:p>
        </p:txBody>
      </p:sp>
      <p:sp>
        <p:nvSpPr>
          <p:cNvPr id="17" name="Text 15"/>
          <p:cNvSpPr/>
          <p:nvPr/>
        </p:nvSpPr>
        <p:spPr>
          <a:xfrm>
            <a:off x="5294376" y="2084832"/>
            <a:ext cx="1600200" cy="201168"/>
          </a:xfrm>
          <a:prstGeom prst="rect">
            <a:avLst/>
          </a:prstGeom>
          <a:noFill/>
          <a:ln/>
        </p:spPr>
        <p:txBody>
          <a:bodyPr wrap="square" lIns="0" tIns="0" rIns="0" bIns="0" rtlCol="0" anchor="ctr"/>
          <a:lstStyle/>
          <a:p>
            <a:pPr marL="0" indent="0">
              <a:buNone/>
            </a:pPr>
            <a:r>
              <a:rPr lang="en-US" sz="1100" b="1" dirty="0">
                <a:solidFill>
                  <a:srgbClr val="1F1F1F"/>
                </a:solidFill>
              </a:rPr>
              <a:t>QA</a:t>
            </a:r>
            <a:endParaRPr lang="en-US" sz="1100" dirty="0"/>
          </a:p>
        </p:txBody>
      </p:sp>
      <p:sp>
        <p:nvSpPr>
          <p:cNvPr id="18" name="Text 16"/>
          <p:cNvSpPr/>
          <p:nvPr/>
        </p:nvSpPr>
        <p:spPr>
          <a:xfrm>
            <a:off x="5294376" y="2523744"/>
            <a:ext cx="1600200" cy="914400"/>
          </a:xfrm>
          <a:prstGeom prst="rect">
            <a:avLst/>
          </a:prstGeom>
          <a:noFill/>
          <a:ln/>
        </p:spPr>
        <p:txBody>
          <a:bodyPr wrap="square" lIns="0" tIns="0" rIns="0" bIns="0" rtlCol="0" anchor="ctr">
            <a:normAutofit/>
          </a:bodyPr>
          <a:lstStyle/>
          <a:p>
            <a:pPr marL="0" indent="0">
              <a:buNone/>
            </a:pPr>
            <a:r>
              <a:rPr lang="en-US" sz="1200" dirty="0">
                <a:solidFill>
                  <a:srgbClr val="666666"/>
                </a:solidFill>
              </a:rPr>
              <a:t>Comprobar completitud, coherencia aritmética y aplicación uniforme del framework.</a:t>
            </a:r>
            <a:endParaRPr lang="en-US" sz="1200" dirty="0"/>
          </a:p>
        </p:txBody>
      </p:sp>
      <p:sp>
        <p:nvSpPr>
          <p:cNvPr id="19" name="Shape 17"/>
          <p:cNvSpPr/>
          <p:nvPr/>
        </p:nvSpPr>
        <p:spPr>
          <a:xfrm>
            <a:off x="7114032" y="2377440"/>
            <a:ext cx="310896" cy="411480"/>
          </a:xfrm>
          <a:prstGeom prst="chevron">
            <a:avLst/>
          </a:prstGeom>
          <a:solidFill>
            <a:srgbClr val="AFCB72"/>
          </a:solidFill>
          <a:ln w="12700">
            <a:solidFill>
              <a:srgbClr val="AFCB72"/>
            </a:solidFill>
            <a:prstDash val="solid"/>
          </a:ln>
        </p:spPr>
      </p:sp>
      <p:sp>
        <p:nvSpPr>
          <p:cNvPr id="20" name="Shape 18"/>
          <p:cNvSpPr/>
          <p:nvPr/>
        </p:nvSpPr>
        <p:spPr>
          <a:xfrm>
            <a:off x="7443216" y="1417320"/>
            <a:ext cx="1965960" cy="2423160"/>
          </a:xfrm>
          <a:prstGeom prst="roundRect">
            <a:avLst>
              <a:gd name="adj" fmla="val 2326"/>
            </a:avLst>
          </a:prstGeom>
          <a:solidFill>
            <a:srgbClr val="F2F7E9"/>
          </a:solidFill>
          <a:ln w="16510">
            <a:solidFill>
              <a:srgbClr val="86BC25"/>
            </a:solidFill>
            <a:prstDash val="solid"/>
          </a:ln>
          <a:effectLst/>
        </p:spPr>
      </p:sp>
      <p:sp>
        <p:nvSpPr>
          <p:cNvPr id="21" name="Text 19"/>
          <p:cNvSpPr/>
          <p:nvPr/>
        </p:nvSpPr>
        <p:spPr>
          <a:xfrm>
            <a:off x="7607808" y="1627632"/>
            <a:ext cx="365760" cy="274320"/>
          </a:xfrm>
          <a:prstGeom prst="rect">
            <a:avLst/>
          </a:prstGeom>
          <a:noFill/>
          <a:ln/>
        </p:spPr>
        <p:txBody>
          <a:bodyPr wrap="square" lIns="0" tIns="0" rIns="0" bIns="0" rtlCol="0" anchor="ctr"/>
          <a:lstStyle/>
          <a:p>
            <a:pPr marL="0" indent="0">
              <a:buNone/>
            </a:pPr>
            <a:r>
              <a:rPr lang="en-US" sz="1800" b="1" dirty="0">
                <a:solidFill>
                  <a:srgbClr val="86BC25"/>
                </a:solidFill>
              </a:rPr>
              <a:t>4</a:t>
            </a:r>
            <a:endParaRPr lang="en-US" sz="1800" dirty="0"/>
          </a:p>
        </p:txBody>
      </p:sp>
      <p:sp>
        <p:nvSpPr>
          <p:cNvPr id="22" name="Text 20"/>
          <p:cNvSpPr/>
          <p:nvPr/>
        </p:nvSpPr>
        <p:spPr>
          <a:xfrm>
            <a:off x="7607808" y="2084832"/>
            <a:ext cx="1600200" cy="201168"/>
          </a:xfrm>
          <a:prstGeom prst="rect">
            <a:avLst/>
          </a:prstGeom>
          <a:noFill/>
          <a:ln/>
        </p:spPr>
        <p:txBody>
          <a:bodyPr wrap="square" lIns="0" tIns="0" rIns="0" bIns="0" rtlCol="0" anchor="ctr"/>
          <a:lstStyle/>
          <a:p>
            <a:pPr marL="0" indent="0">
              <a:buNone/>
            </a:pPr>
            <a:r>
              <a:rPr lang="en-US" sz="1100" b="1" dirty="0">
                <a:solidFill>
                  <a:srgbClr val="1F1F1F"/>
                </a:solidFill>
              </a:rPr>
              <a:t>CONFIRMAR</a:t>
            </a:r>
            <a:endParaRPr lang="en-US" sz="1100" dirty="0"/>
          </a:p>
        </p:txBody>
      </p:sp>
      <p:sp>
        <p:nvSpPr>
          <p:cNvPr id="23" name="Text 21"/>
          <p:cNvSpPr/>
          <p:nvPr/>
        </p:nvSpPr>
        <p:spPr>
          <a:xfrm>
            <a:off x="7607808" y="2523744"/>
            <a:ext cx="1600200" cy="914400"/>
          </a:xfrm>
          <a:prstGeom prst="rect">
            <a:avLst/>
          </a:prstGeom>
          <a:noFill/>
          <a:ln/>
        </p:spPr>
        <p:txBody>
          <a:bodyPr wrap="square" lIns="0" tIns="0" rIns="0" bIns="0" rtlCol="0" anchor="ctr">
            <a:normAutofit/>
          </a:bodyPr>
          <a:lstStyle/>
          <a:p>
            <a:pPr marL="0" indent="0">
              <a:buNone/>
            </a:pPr>
            <a:r>
              <a:rPr lang="en-US" sz="1200" dirty="0">
                <a:solidFill>
                  <a:srgbClr val="666666"/>
                </a:solidFill>
              </a:rPr>
              <a:t>Circular un read-out breve o acta; corregir errores factuales, no reinterpretar el score.</a:t>
            </a:r>
            <a:endParaRPr lang="en-US" sz="1200" dirty="0"/>
          </a:p>
        </p:txBody>
      </p:sp>
      <p:sp>
        <p:nvSpPr>
          <p:cNvPr id="24" name="Shape 22"/>
          <p:cNvSpPr/>
          <p:nvPr/>
        </p:nvSpPr>
        <p:spPr>
          <a:xfrm>
            <a:off x="9427464" y="2377440"/>
            <a:ext cx="310896" cy="411480"/>
          </a:xfrm>
          <a:prstGeom prst="chevron">
            <a:avLst/>
          </a:prstGeom>
          <a:solidFill>
            <a:srgbClr val="AFCB72"/>
          </a:solidFill>
          <a:ln w="12700">
            <a:solidFill>
              <a:srgbClr val="AFCB72"/>
            </a:solidFill>
            <a:prstDash val="solid"/>
          </a:ln>
        </p:spPr>
      </p:sp>
      <p:sp>
        <p:nvSpPr>
          <p:cNvPr id="25" name="Shape 23"/>
          <p:cNvSpPr/>
          <p:nvPr/>
        </p:nvSpPr>
        <p:spPr>
          <a:xfrm>
            <a:off x="9756648" y="1417320"/>
            <a:ext cx="1965960" cy="2423160"/>
          </a:xfrm>
          <a:prstGeom prst="roundRect">
            <a:avLst>
              <a:gd name="adj" fmla="val 2326"/>
            </a:avLst>
          </a:prstGeom>
          <a:solidFill>
            <a:srgbClr val="FFFFFF"/>
          </a:solidFill>
          <a:ln w="10160">
            <a:solidFill>
              <a:srgbClr val="D9D9D9"/>
            </a:solidFill>
            <a:prstDash val="solid"/>
          </a:ln>
          <a:effectLst/>
        </p:spPr>
      </p:sp>
      <p:sp>
        <p:nvSpPr>
          <p:cNvPr id="26" name="Text 24"/>
          <p:cNvSpPr/>
          <p:nvPr/>
        </p:nvSpPr>
        <p:spPr>
          <a:xfrm>
            <a:off x="9921240" y="1627632"/>
            <a:ext cx="365760" cy="274320"/>
          </a:xfrm>
          <a:prstGeom prst="rect">
            <a:avLst/>
          </a:prstGeom>
          <a:noFill/>
          <a:ln/>
        </p:spPr>
        <p:txBody>
          <a:bodyPr wrap="square" lIns="0" tIns="0" rIns="0" bIns="0" rtlCol="0" anchor="ctr"/>
          <a:lstStyle/>
          <a:p>
            <a:pPr marL="0" indent="0">
              <a:buNone/>
            </a:pPr>
            <a:r>
              <a:rPr lang="en-US" sz="1800" b="1" dirty="0">
                <a:solidFill>
                  <a:srgbClr val="86BC25"/>
                </a:solidFill>
              </a:rPr>
              <a:t>5</a:t>
            </a:r>
            <a:endParaRPr lang="en-US" sz="1800" dirty="0"/>
          </a:p>
        </p:txBody>
      </p:sp>
      <p:sp>
        <p:nvSpPr>
          <p:cNvPr id="27" name="Text 25"/>
          <p:cNvSpPr/>
          <p:nvPr/>
        </p:nvSpPr>
        <p:spPr>
          <a:xfrm>
            <a:off x="9921240" y="2084832"/>
            <a:ext cx="1600200" cy="201168"/>
          </a:xfrm>
          <a:prstGeom prst="rect">
            <a:avLst/>
          </a:prstGeom>
          <a:noFill/>
          <a:ln/>
        </p:spPr>
        <p:txBody>
          <a:bodyPr wrap="square" lIns="0" tIns="0" rIns="0" bIns="0" rtlCol="0" anchor="ctr"/>
          <a:lstStyle/>
          <a:p>
            <a:pPr marL="0" indent="0">
              <a:buNone/>
            </a:pPr>
            <a:r>
              <a:rPr lang="en-US" sz="1100" b="1" dirty="0">
                <a:solidFill>
                  <a:srgbClr val="1F1F1F"/>
                </a:solidFill>
              </a:rPr>
              <a:t>PREPARAR</a:t>
            </a:r>
            <a:endParaRPr lang="en-US" sz="1100" dirty="0"/>
          </a:p>
        </p:txBody>
      </p:sp>
      <p:sp>
        <p:nvSpPr>
          <p:cNvPr id="28" name="Text 26"/>
          <p:cNvSpPr/>
          <p:nvPr/>
        </p:nvSpPr>
        <p:spPr>
          <a:xfrm>
            <a:off x="9921240" y="2523744"/>
            <a:ext cx="1600200" cy="914400"/>
          </a:xfrm>
          <a:prstGeom prst="rect">
            <a:avLst/>
          </a:prstGeom>
          <a:noFill/>
          <a:ln/>
        </p:spPr>
        <p:txBody>
          <a:bodyPr wrap="square" lIns="0" tIns="0" rIns="0" bIns="0" rtlCol="0" anchor="ctr">
            <a:normAutofit/>
          </a:bodyPr>
          <a:lstStyle/>
          <a:p>
            <a:pPr marL="0" indent="0">
              <a:buNone/>
            </a:pPr>
            <a:r>
              <a:rPr lang="en-US" sz="1200" dirty="0">
                <a:solidFill>
                  <a:srgbClr val="666666"/>
                </a:solidFill>
              </a:rPr>
              <a:t>Current, Target, Gap, insights y mensajes para la devolución ejecutiva.</a:t>
            </a:r>
            <a:endParaRPr lang="en-US" sz="1200" dirty="0"/>
          </a:p>
        </p:txBody>
      </p:sp>
      <p:sp>
        <p:nvSpPr>
          <p:cNvPr id="29" name="Shape 27"/>
          <p:cNvSpPr/>
          <p:nvPr/>
        </p:nvSpPr>
        <p:spPr>
          <a:xfrm>
            <a:off x="685800" y="4233672"/>
            <a:ext cx="10835640" cy="1024128"/>
          </a:xfrm>
          <a:prstGeom prst="roundRect">
            <a:avLst>
              <a:gd name="adj" fmla="val 4464"/>
            </a:avLst>
          </a:prstGeom>
          <a:solidFill>
            <a:srgbClr val="F7F7F7"/>
          </a:solidFill>
          <a:ln w="10160">
            <a:solidFill>
              <a:srgbClr val="D9D9D9"/>
            </a:solidFill>
            <a:prstDash val="solid"/>
          </a:ln>
        </p:spPr>
      </p:sp>
      <p:sp>
        <p:nvSpPr>
          <p:cNvPr id="30" name="Text 28"/>
          <p:cNvSpPr/>
          <p:nvPr/>
        </p:nvSpPr>
        <p:spPr>
          <a:xfrm>
            <a:off x="914400" y="4489704"/>
            <a:ext cx="2057400" cy="201168"/>
          </a:xfrm>
          <a:prstGeom prst="rect">
            <a:avLst/>
          </a:prstGeom>
          <a:noFill/>
          <a:ln/>
        </p:spPr>
        <p:txBody>
          <a:bodyPr wrap="square" lIns="0" tIns="0" rIns="0" bIns="0" rtlCol="0" anchor="ctr"/>
          <a:lstStyle/>
          <a:p>
            <a:pPr marL="0" indent="0">
              <a:buNone/>
            </a:pPr>
            <a:r>
              <a:rPr lang="en-US" sz="1050" b="1" dirty="0">
                <a:solidFill>
                  <a:srgbClr val="1F1F1F"/>
                </a:solidFill>
              </a:rPr>
              <a:t>OUTPUT MÍNIMO POR SUBCAPACIDAD</a:t>
            </a:r>
            <a:endParaRPr lang="en-US" sz="1050" dirty="0"/>
          </a:p>
        </p:txBody>
      </p:sp>
      <p:sp>
        <p:nvSpPr>
          <p:cNvPr id="31" name="Text 29"/>
          <p:cNvSpPr/>
          <p:nvPr/>
        </p:nvSpPr>
        <p:spPr>
          <a:xfrm>
            <a:off x="3017520" y="4416552"/>
            <a:ext cx="8092440" cy="347472"/>
          </a:xfrm>
          <a:prstGeom prst="rect">
            <a:avLst/>
          </a:prstGeom>
          <a:noFill/>
          <a:ln/>
        </p:spPr>
        <p:txBody>
          <a:bodyPr wrap="square" lIns="0" tIns="0" rIns="0" bIns="0" rtlCol="0" anchor="ctr">
            <a:normAutofit/>
          </a:bodyPr>
          <a:lstStyle/>
          <a:p>
            <a:pPr marL="0" indent="0">
              <a:buNone/>
            </a:pPr>
            <a:r>
              <a:rPr lang="en-US" sz="1200" dirty="0">
                <a:solidFill>
                  <a:srgbClr val="666666"/>
                </a:solidFill>
              </a:rPr>
              <a:t>Current score · Target score · Gap · P/O / Process / Technology · confidence · justificación breve del score · evidencias · open actions</a:t>
            </a:r>
            <a:endParaRPr lang="en-US" sz="1200" dirty="0"/>
          </a:p>
        </p:txBody>
      </p:sp>
      <p:sp>
        <p:nvSpPr>
          <p:cNvPr id="32" name="Shape 30"/>
          <p:cNvSpPr/>
          <p:nvPr/>
        </p:nvSpPr>
        <p:spPr>
          <a:xfrm>
            <a:off x="594360" y="5870448"/>
            <a:ext cx="10972800" cy="429768"/>
          </a:xfrm>
          <a:prstGeom prst="roundRect">
            <a:avLst>
              <a:gd name="adj" fmla="val 8511"/>
            </a:avLst>
          </a:prstGeom>
          <a:solidFill>
            <a:srgbClr val="1F1F1F"/>
          </a:solidFill>
          <a:ln w="12700">
            <a:solidFill>
              <a:srgbClr val="1F1F1F"/>
            </a:solidFill>
            <a:prstDash val="solid"/>
          </a:ln>
        </p:spPr>
      </p:sp>
      <p:sp>
        <p:nvSpPr>
          <p:cNvPr id="33" name="Text 31"/>
          <p:cNvSpPr/>
          <p:nvPr/>
        </p:nvSpPr>
        <p:spPr>
          <a:xfrm>
            <a:off x="868680" y="5980176"/>
            <a:ext cx="10424160" cy="182880"/>
          </a:xfrm>
          <a:prstGeom prst="rect">
            <a:avLst/>
          </a:prstGeom>
          <a:noFill/>
          <a:ln/>
        </p:spPr>
        <p:txBody>
          <a:bodyPr wrap="square" lIns="0" tIns="0" rIns="0" bIns="0" rtlCol="0" anchor="ctr">
            <a:normAutofit/>
          </a:bodyPr>
          <a:lstStyle/>
          <a:p>
            <a:pPr marL="0" indent="0" algn="ctr">
              <a:buNone/>
            </a:pPr>
            <a:r>
              <a:rPr lang="en-US" sz="1130" b="1" dirty="0">
                <a:solidFill>
                  <a:srgbClr val="FFFFFF"/>
                </a:solidFill>
              </a:rPr>
              <a:t>Principio de control: el post-work formaliza y revisa la consistencia del resultado; no modifica unilateralmente el score acordado en sesión.</a:t>
            </a:r>
            <a:endParaRPr lang="en-US" sz="1130" dirty="0"/>
          </a:p>
        </p:txBody>
      </p:sp>
      <p:sp>
        <p:nvSpPr>
          <p:cNvPr id="34" name="Slide Number Placeholder 0"/>
          <p:cNvSpPr>
            <a:spLocks noGrp="1"/>
          </p:cNvSpPr>
          <p:nvPr>
            <p:ph type="sldNum" sz="quarter" idx="4294967295"/>
          </p:nvPr>
        </p:nvSpPr>
        <p:spPr>
          <a:xfrm>
            <a:off x="11686032" y="6537960"/>
            <a:ext cx="201168"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66666"/>
                </a:solidFill>
                <a:latin typeface="Aptos"/>
                <a:ea typeface="Aptos"/>
                <a:cs typeface="Apto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502920" y="310896"/>
            <a:ext cx="11064240" cy="384048"/>
          </a:xfrm>
          <a:prstGeom prst="rect">
            <a:avLst/>
          </a:prstGeom>
          <a:noFill/>
          <a:ln/>
        </p:spPr>
        <p:txBody>
          <a:bodyPr wrap="square" lIns="0" tIns="0" rIns="0" bIns="0" rtlCol="0" anchor="ctr"/>
          <a:lstStyle/>
          <a:p>
            <a:pPr marL="0" indent="0">
              <a:buNone/>
            </a:pPr>
            <a:r>
              <a:rPr lang="en-US" sz="2500" b="1" dirty="0">
                <a:solidFill>
                  <a:srgbClr val="1F1F1F"/>
                </a:solidFill>
                <a:latin typeface="Aptos Display" pitchFamily="34" charset="0"/>
                <a:ea typeface="Aptos Display" pitchFamily="34" charset="-122"/>
                <a:cs typeface="Aptos Display" pitchFamily="34" charset="-120"/>
              </a:rPr>
              <a:t>Equipo consultor y activos necesarios</a:t>
            </a:r>
            <a:endParaRPr lang="en-US" sz="2500" dirty="0"/>
          </a:p>
        </p:txBody>
      </p:sp>
      <p:sp>
        <p:nvSpPr>
          <p:cNvPr id="3" name="Shape 1"/>
          <p:cNvSpPr/>
          <p:nvPr/>
        </p:nvSpPr>
        <p:spPr>
          <a:xfrm>
            <a:off x="502920" y="795528"/>
            <a:ext cx="594360" cy="1"/>
          </a:xfrm>
          <a:prstGeom prst="line">
            <a:avLst/>
          </a:prstGeom>
          <a:noFill/>
          <a:ln w="50800">
            <a:solidFill>
              <a:srgbClr val="86BC25"/>
            </a:solidFill>
            <a:prstDash val="solid"/>
          </a:ln>
        </p:spPr>
      </p:sp>
      <p:sp>
        <p:nvSpPr>
          <p:cNvPr id="4" name="Text 2"/>
          <p:cNvSpPr/>
          <p:nvPr/>
        </p:nvSpPr>
        <p:spPr>
          <a:xfrm>
            <a:off x="1207008" y="704088"/>
            <a:ext cx="10149840" cy="228600"/>
          </a:xfrm>
          <a:prstGeom prst="rect">
            <a:avLst/>
          </a:prstGeom>
          <a:noFill/>
          <a:ln/>
        </p:spPr>
        <p:txBody>
          <a:bodyPr wrap="square" lIns="0" tIns="0" rIns="0" bIns="0" rtlCol="0" anchor="ctr"/>
          <a:lstStyle/>
          <a:p>
            <a:pPr marL="0" indent="0">
              <a:buNone/>
            </a:pPr>
            <a:r>
              <a:rPr lang="en-US" sz="1200" dirty="0">
                <a:solidFill>
                  <a:srgbClr val="666666"/>
                </a:solidFill>
              </a:rPr>
              <a:t>Tres responsabilidades que deben estar cubiertas para que la sesión sea fluida, aunque dos personas puedan combinar roles</a:t>
            </a:r>
            <a:endParaRPr lang="en-US" sz="1200" dirty="0"/>
          </a:p>
        </p:txBody>
      </p:sp>
      <p:sp>
        <p:nvSpPr>
          <p:cNvPr id="5" name="Shape 3"/>
          <p:cNvSpPr/>
          <p:nvPr/>
        </p:nvSpPr>
        <p:spPr>
          <a:xfrm>
            <a:off x="594360" y="1234440"/>
            <a:ext cx="3456432" cy="1828800"/>
          </a:xfrm>
          <a:prstGeom prst="roundRect">
            <a:avLst>
              <a:gd name="adj" fmla="val 3000"/>
            </a:avLst>
          </a:prstGeom>
          <a:solidFill>
            <a:srgbClr val="FFFFFF"/>
          </a:solidFill>
          <a:ln w="10160">
            <a:solidFill>
              <a:srgbClr val="D9D9D9"/>
            </a:solidFill>
            <a:prstDash val="solid"/>
          </a:ln>
          <a:effectLst/>
        </p:spPr>
      </p:sp>
      <p:sp>
        <p:nvSpPr>
          <p:cNvPr id="6" name="Shape 4"/>
          <p:cNvSpPr/>
          <p:nvPr/>
        </p:nvSpPr>
        <p:spPr>
          <a:xfrm>
            <a:off x="594360" y="1234440"/>
            <a:ext cx="64008" cy="1828800"/>
          </a:xfrm>
          <a:prstGeom prst="rect">
            <a:avLst/>
          </a:prstGeom>
          <a:solidFill>
            <a:srgbClr val="86BC25"/>
          </a:solidFill>
          <a:ln w="12700">
            <a:solidFill>
              <a:srgbClr val="86BC25"/>
            </a:solidFill>
            <a:prstDash val="solid"/>
          </a:ln>
        </p:spPr>
      </p:sp>
      <p:sp>
        <p:nvSpPr>
          <p:cNvPr id="7" name="Text 5"/>
          <p:cNvSpPr/>
          <p:nvPr/>
        </p:nvSpPr>
        <p:spPr>
          <a:xfrm>
            <a:off x="777240" y="1362456"/>
            <a:ext cx="3163824" cy="256032"/>
          </a:xfrm>
          <a:prstGeom prst="rect">
            <a:avLst/>
          </a:prstGeom>
          <a:noFill/>
          <a:ln/>
        </p:spPr>
        <p:txBody>
          <a:bodyPr wrap="square" lIns="0" tIns="0" rIns="0" bIns="0" rtlCol="0" anchor="ctr"/>
          <a:lstStyle/>
          <a:p>
            <a:pPr marL="0" indent="0">
              <a:buNone/>
            </a:pPr>
            <a:r>
              <a:rPr lang="en-US" sz="1450" b="1" dirty="0">
                <a:solidFill>
                  <a:srgbClr val="1F1F1F"/>
                </a:solidFill>
              </a:rPr>
              <a:t>Lead Facilitator</a:t>
            </a:r>
            <a:endParaRPr lang="en-US" sz="1450" dirty="0"/>
          </a:p>
        </p:txBody>
      </p:sp>
      <p:sp>
        <p:nvSpPr>
          <p:cNvPr id="8" name="Text 6"/>
          <p:cNvSpPr/>
          <p:nvPr/>
        </p:nvSpPr>
        <p:spPr>
          <a:xfrm>
            <a:off x="777240" y="1709928"/>
            <a:ext cx="3163824" cy="1234440"/>
          </a:xfrm>
          <a:prstGeom prst="rect">
            <a:avLst/>
          </a:prstGeom>
          <a:noFill/>
          <a:ln/>
        </p:spPr>
        <p:txBody>
          <a:bodyPr wrap="square" lIns="254" tIns="254" rIns="254" bIns="254" rtlCol="0" anchor="t">
            <a:normAutofit/>
          </a:bodyPr>
          <a:lstStyle/>
          <a:p>
            <a:pPr marL="0" indent="0">
              <a:buNone/>
            </a:pPr>
            <a:r>
              <a:rPr lang="en-US" sz="1150" dirty="0">
                <a:solidFill>
                  <a:srgbClr val="666666"/>
                </a:solidFill>
              </a:rPr>
              <a:t>Conduce la conversación, protege el tiempo, realiza playback y gestiona stakeholders.</a:t>
            </a:r>
            <a:endParaRPr lang="en-US" sz="1150" dirty="0"/>
          </a:p>
        </p:txBody>
      </p:sp>
      <p:sp>
        <p:nvSpPr>
          <p:cNvPr id="9" name="Shape 7"/>
          <p:cNvSpPr/>
          <p:nvPr/>
        </p:nvSpPr>
        <p:spPr>
          <a:xfrm>
            <a:off x="4361688" y="1234440"/>
            <a:ext cx="3456432" cy="1828800"/>
          </a:xfrm>
          <a:prstGeom prst="roundRect">
            <a:avLst>
              <a:gd name="adj" fmla="val 3000"/>
            </a:avLst>
          </a:prstGeom>
          <a:solidFill>
            <a:srgbClr val="FFFFFF"/>
          </a:solidFill>
          <a:ln w="10160">
            <a:solidFill>
              <a:srgbClr val="D9D9D9"/>
            </a:solidFill>
            <a:prstDash val="solid"/>
          </a:ln>
          <a:effectLst/>
        </p:spPr>
      </p:sp>
      <p:sp>
        <p:nvSpPr>
          <p:cNvPr id="10" name="Shape 8"/>
          <p:cNvSpPr/>
          <p:nvPr/>
        </p:nvSpPr>
        <p:spPr>
          <a:xfrm>
            <a:off x="4361688" y="1234440"/>
            <a:ext cx="64008" cy="1828800"/>
          </a:xfrm>
          <a:prstGeom prst="rect">
            <a:avLst/>
          </a:prstGeom>
          <a:solidFill>
            <a:srgbClr val="2F7E7E"/>
          </a:solidFill>
          <a:ln w="12700">
            <a:solidFill>
              <a:srgbClr val="2F7E7E"/>
            </a:solidFill>
            <a:prstDash val="solid"/>
          </a:ln>
        </p:spPr>
      </p:sp>
      <p:sp>
        <p:nvSpPr>
          <p:cNvPr id="11" name="Text 9"/>
          <p:cNvSpPr/>
          <p:nvPr/>
        </p:nvSpPr>
        <p:spPr>
          <a:xfrm>
            <a:off x="4544568" y="1362456"/>
            <a:ext cx="3163824" cy="256032"/>
          </a:xfrm>
          <a:prstGeom prst="rect">
            <a:avLst/>
          </a:prstGeom>
          <a:noFill/>
          <a:ln/>
        </p:spPr>
        <p:txBody>
          <a:bodyPr wrap="square" lIns="0" tIns="0" rIns="0" bIns="0" rtlCol="0" anchor="ctr"/>
          <a:lstStyle/>
          <a:p>
            <a:pPr marL="0" indent="0">
              <a:buNone/>
            </a:pPr>
            <a:r>
              <a:rPr lang="en-US" sz="1450" b="1" dirty="0">
                <a:solidFill>
                  <a:srgbClr val="1F1F1F"/>
                </a:solidFill>
              </a:rPr>
              <a:t>Finance SME / Challenger</a:t>
            </a:r>
            <a:endParaRPr lang="en-US" sz="1450" dirty="0"/>
          </a:p>
        </p:txBody>
      </p:sp>
      <p:sp>
        <p:nvSpPr>
          <p:cNvPr id="12" name="Text 10"/>
          <p:cNvSpPr/>
          <p:nvPr/>
        </p:nvSpPr>
        <p:spPr>
          <a:xfrm>
            <a:off x="4544568" y="1709928"/>
            <a:ext cx="3163824" cy="1234440"/>
          </a:xfrm>
          <a:prstGeom prst="rect">
            <a:avLst/>
          </a:prstGeom>
          <a:noFill/>
          <a:ln/>
        </p:spPr>
        <p:txBody>
          <a:bodyPr wrap="square" lIns="254" tIns="254" rIns="254" bIns="254" rtlCol="0" anchor="t">
            <a:normAutofit/>
          </a:bodyPr>
          <a:lstStyle/>
          <a:p>
            <a:pPr marL="0" indent="0">
              <a:buNone/>
            </a:pPr>
            <a:r>
              <a:rPr lang="en-US" sz="1150" dirty="0">
                <a:solidFill>
                  <a:srgbClr val="666666"/>
                </a:solidFill>
              </a:rPr>
              <a:t>Formula probes, detecta incoherencias y conecta hechos y evidencias con criterios de maturity y ayuda a cerrar consenso.</a:t>
            </a:r>
            <a:endParaRPr lang="en-US" sz="1150" dirty="0"/>
          </a:p>
        </p:txBody>
      </p:sp>
      <p:sp>
        <p:nvSpPr>
          <p:cNvPr id="13" name="Shape 11"/>
          <p:cNvSpPr/>
          <p:nvPr/>
        </p:nvSpPr>
        <p:spPr>
          <a:xfrm>
            <a:off x="8129016" y="1234440"/>
            <a:ext cx="3456432" cy="1828800"/>
          </a:xfrm>
          <a:prstGeom prst="roundRect">
            <a:avLst>
              <a:gd name="adj" fmla="val 3000"/>
            </a:avLst>
          </a:prstGeom>
          <a:solidFill>
            <a:srgbClr val="FFFFFF"/>
          </a:solidFill>
          <a:ln w="10160">
            <a:solidFill>
              <a:srgbClr val="D9D9D9"/>
            </a:solidFill>
            <a:prstDash val="solid"/>
          </a:ln>
          <a:effectLst/>
        </p:spPr>
      </p:sp>
      <p:sp>
        <p:nvSpPr>
          <p:cNvPr id="14" name="Shape 12"/>
          <p:cNvSpPr/>
          <p:nvPr/>
        </p:nvSpPr>
        <p:spPr>
          <a:xfrm>
            <a:off x="8129016" y="1234440"/>
            <a:ext cx="64008" cy="1828800"/>
          </a:xfrm>
          <a:prstGeom prst="rect">
            <a:avLst/>
          </a:prstGeom>
          <a:solidFill>
            <a:srgbClr val="4472C4"/>
          </a:solidFill>
          <a:ln w="12700">
            <a:solidFill>
              <a:srgbClr val="4472C4"/>
            </a:solidFill>
            <a:prstDash val="solid"/>
          </a:ln>
        </p:spPr>
      </p:sp>
      <p:sp>
        <p:nvSpPr>
          <p:cNvPr id="15" name="Text 13"/>
          <p:cNvSpPr/>
          <p:nvPr/>
        </p:nvSpPr>
        <p:spPr>
          <a:xfrm>
            <a:off x="8311896" y="1362456"/>
            <a:ext cx="3163824" cy="256032"/>
          </a:xfrm>
          <a:prstGeom prst="rect">
            <a:avLst/>
          </a:prstGeom>
          <a:noFill/>
          <a:ln/>
        </p:spPr>
        <p:txBody>
          <a:bodyPr wrap="square" lIns="0" tIns="0" rIns="0" bIns="0" rtlCol="0" anchor="ctr"/>
          <a:lstStyle/>
          <a:p>
            <a:pPr marL="0" indent="0">
              <a:buNone/>
            </a:pPr>
            <a:r>
              <a:rPr lang="en-US" sz="1450" b="1" dirty="0">
                <a:solidFill>
                  <a:srgbClr val="1F1F1F"/>
                </a:solidFill>
              </a:rPr>
              <a:t>Assessment &amp; Evidence Lead</a:t>
            </a:r>
            <a:endParaRPr lang="en-US" sz="1450" dirty="0"/>
          </a:p>
        </p:txBody>
      </p:sp>
      <p:sp>
        <p:nvSpPr>
          <p:cNvPr id="16" name="Text 14"/>
          <p:cNvSpPr/>
          <p:nvPr/>
        </p:nvSpPr>
        <p:spPr>
          <a:xfrm>
            <a:off x="8311896" y="1709928"/>
            <a:ext cx="3163824" cy="1234440"/>
          </a:xfrm>
          <a:prstGeom prst="rect">
            <a:avLst/>
          </a:prstGeom>
          <a:noFill/>
          <a:ln/>
        </p:spPr>
        <p:txBody>
          <a:bodyPr wrap="square" lIns="254" tIns="254" rIns="254" bIns="254" rtlCol="0" anchor="t">
            <a:normAutofit/>
          </a:bodyPr>
          <a:lstStyle/>
          <a:p>
            <a:pPr marL="0" indent="0">
              <a:buNone/>
            </a:pPr>
            <a:r>
              <a:rPr lang="en-US" sz="1150" dirty="0">
                <a:solidFill>
                  <a:srgbClr val="666666"/>
                </a:solidFill>
              </a:rPr>
              <a:t>Marca cobertura, registra evidencia, distribución de votos, score acordado, justificación del score, excepciones y follow-ups.</a:t>
            </a:r>
            <a:endParaRPr lang="en-US" sz="1150" dirty="0"/>
          </a:p>
        </p:txBody>
      </p:sp>
      <p:sp>
        <p:nvSpPr>
          <p:cNvPr id="17" name="Text 15"/>
          <p:cNvSpPr/>
          <p:nvPr/>
        </p:nvSpPr>
        <p:spPr>
          <a:xfrm>
            <a:off x="658368" y="3401568"/>
            <a:ext cx="7498080" cy="228600"/>
          </a:xfrm>
          <a:prstGeom prst="rect">
            <a:avLst/>
          </a:prstGeom>
          <a:noFill/>
          <a:ln/>
        </p:spPr>
        <p:txBody>
          <a:bodyPr wrap="square" lIns="0" tIns="0" rIns="0" bIns="0" rtlCol="0" anchor="ctr"/>
          <a:lstStyle/>
          <a:p>
            <a:pPr marL="0" indent="0">
              <a:buNone/>
            </a:pPr>
            <a:r>
              <a:rPr lang="en-US" sz="1300" b="1" dirty="0">
                <a:solidFill>
                  <a:srgbClr val="1F1F1F"/>
                </a:solidFill>
              </a:rPr>
              <a:t>MATERIALES QUE DEBEN ESTAR LISTOS ANTES DE LANZAR LAS SESIONES</a:t>
            </a:r>
            <a:endParaRPr lang="en-US" sz="1300" dirty="0"/>
          </a:p>
        </p:txBody>
      </p:sp>
      <p:sp>
        <p:nvSpPr>
          <p:cNvPr id="18" name="Shape 16"/>
          <p:cNvSpPr/>
          <p:nvPr/>
        </p:nvSpPr>
        <p:spPr>
          <a:xfrm>
            <a:off x="685800" y="3858768"/>
            <a:ext cx="182880" cy="182880"/>
          </a:xfrm>
          <a:prstGeom prst="ellipse">
            <a:avLst/>
          </a:prstGeom>
          <a:solidFill>
            <a:srgbClr val="86BC25"/>
          </a:solidFill>
          <a:ln w="12700">
            <a:solidFill>
              <a:srgbClr val="86BC25"/>
            </a:solidFill>
            <a:prstDash val="solid"/>
          </a:ln>
        </p:spPr>
      </p:sp>
      <p:sp>
        <p:nvSpPr>
          <p:cNvPr id="19" name="Text 17"/>
          <p:cNvSpPr/>
          <p:nvPr/>
        </p:nvSpPr>
        <p:spPr>
          <a:xfrm>
            <a:off x="1005840" y="3822192"/>
            <a:ext cx="3063240" cy="329184"/>
          </a:xfrm>
          <a:prstGeom prst="rect">
            <a:avLst/>
          </a:prstGeom>
          <a:noFill/>
          <a:ln/>
        </p:spPr>
        <p:txBody>
          <a:bodyPr wrap="square" lIns="0" tIns="0" rIns="0" bIns="0" rtlCol="0" anchor="ctr">
            <a:normAutofit/>
          </a:bodyPr>
          <a:lstStyle/>
          <a:p>
            <a:pPr marL="0" indent="0">
              <a:buNone/>
            </a:pPr>
            <a:r>
              <a:rPr lang="en-US" sz="1170" dirty="0">
                <a:solidFill>
                  <a:srgbClr val="1F1F1F"/>
                </a:solidFill>
              </a:rPr>
              <a:t>Ficha resumen por capacidad y documentación</a:t>
            </a:r>
            <a:endParaRPr lang="en-US" sz="1170" dirty="0"/>
          </a:p>
        </p:txBody>
      </p:sp>
      <p:sp>
        <p:nvSpPr>
          <p:cNvPr id="20" name="Shape 18"/>
          <p:cNvSpPr/>
          <p:nvPr/>
        </p:nvSpPr>
        <p:spPr>
          <a:xfrm>
            <a:off x="4389120" y="3858768"/>
            <a:ext cx="182880" cy="182880"/>
          </a:xfrm>
          <a:prstGeom prst="ellipse">
            <a:avLst/>
          </a:prstGeom>
          <a:solidFill>
            <a:srgbClr val="86BC25"/>
          </a:solidFill>
          <a:ln w="12700">
            <a:solidFill>
              <a:srgbClr val="86BC25"/>
            </a:solidFill>
            <a:prstDash val="solid"/>
          </a:ln>
        </p:spPr>
      </p:sp>
      <p:sp>
        <p:nvSpPr>
          <p:cNvPr id="21" name="Text 19"/>
          <p:cNvSpPr/>
          <p:nvPr/>
        </p:nvSpPr>
        <p:spPr>
          <a:xfrm>
            <a:off x="4709160" y="3822192"/>
            <a:ext cx="3063240" cy="329184"/>
          </a:xfrm>
          <a:prstGeom prst="rect">
            <a:avLst/>
          </a:prstGeom>
          <a:noFill/>
          <a:ln/>
        </p:spPr>
        <p:txBody>
          <a:bodyPr wrap="square" lIns="0" tIns="0" rIns="0" bIns="0" rtlCol="0" anchor="ctr">
            <a:normAutofit/>
          </a:bodyPr>
          <a:lstStyle/>
          <a:p>
            <a:pPr marL="0" indent="0">
              <a:buNone/>
            </a:pPr>
            <a:r>
              <a:rPr lang="en-US" sz="1170" dirty="0">
                <a:solidFill>
                  <a:srgbClr val="1F1F1F"/>
                </a:solidFill>
              </a:rPr>
              <a:t>Preguntas de apertura y discusión</a:t>
            </a:r>
            <a:endParaRPr lang="en-US" sz="1170" dirty="0"/>
          </a:p>
        </p:txBody>
      </p:sp>
      <p:sp>
        <p:nvSpPr>
          <p:cNvPr id="22" name="Shape 20"/>
          <p:cNvSpPr/>
          <p:nvPr/>
        </p:nvSpPr>
        <p:spPr>
          <a:xfrm>
            <a:off x="8092440" y="3858768"/>
            <a:ext cx="182880" cy="182880"/>
          </a:xfrm>
          <a:prstGeom prst="ellipse">
            <a:avLst/>
          </a:prstGeom>
          <a:solidFill>
            <a:srgbClr val="86BC25"/>
          </a:solidFill>
          <a:ln w="12700">
            <a:solidFill>
              <a:srgbClr val="86BC25"/>
            </a:solidFill>
            <a:prstDash val="solid"/>
          </a:ln>
        </p:spPr>
      </p:sp>
      <p:sp>
        <p:nvSpPr>
          <p:cNvPr id="23" name="Text 21"/>
          <p:cNvSpPr/>
          <p:nvPr/>
        </p:nvSpPr>
        <p:spPr>
          <a:xfrm>
            <a:off x="8412480" y="3822192"/>
            <a:ext cx="3063240" cy="329184"/>
          </a:xfrm>
          <a:prstGeom prst="rect">
            <a:avLst/>
          </a:prstGeom>
          <a:noFill/>
          <a:ln/>
        </p:spPr>
        <p:txBody>
          <a:bodyPr wrap="square" lIns="0" tIns="0" rIns="0" bIns="0" rtlCol="0" anchor="ctr">
            <a:normAutofit/>
          </a:bodyPr>
          <a:lstStyle/>
          <a:p>
            <a:pPr marL="0" indent="0">
              <a:buNone/>
            </a:pPr>
            <a:r>
              <a:rPr lang="en-US" sz="1170" dirty="0">
                <a:solidFill>
                  <a:srgbClr val="1F1F1F"/>
                </a:solidFill>
              </a:rPr>
              <a:t>Vista de votación y distribución</a:t>
            </a:r>
            <a:endParaRPr lang="en-US" sz="1170" dirty="0"/>
          </a:p>
        </p:txBody>
      </p:sp>
      <p:sp>
        <p:nvSpPr>
          <p:cNvPr id="24" name="Shape 22"/>
          <p:cNvSpPr/>
          <p:nvPr/>
        </p:nvSpPr>
        <p:spPr>
          <a:xfrm>
            <a:off x="685800" y="4517136"/>
            <a:ext cx="182880" cy="182880"/>
          </a:xfrm>
          <a:prstGeom prst="ellipse">
            <a:avLst/>
          </a:prstGeom>
          <a:solidFill>
            <a:srgbClr val="86BC25"/>
          </a:solidFill>
          <a:ln w="12700">
            <a:solidFill>
              <a:srgbClr val="86BC25"/>
            </a:solidFill>
            <a:prstDash val="solid"/>
          </a:ln>
        </p:spPr>
      </p:sp>
      <p:sp>
        <p:nvSpPr>
          <p:cNvPr id="25" name="Text 23"/>
          <p:cNvSpPr/>
          <p:nvPr/>
        </p:nvSpPr>
        <p:spPr>
          <a:xfrm>
            <a:off x="1005840" y="4480560"/>
            <a:ext cx="3063240" cy="329184"/>
          </a:xfrm>
          <a:prstGeom prst="rect">
            <a:avLst/>
          </a:prstGeom>
          <a:noFill/>
          <a:ln/>
        </p:spPr>
        <p:txBody>
          <a:bodyPr wrap="square" lIns="0" tIns="0" rIns="0" bIns="0" rtlCol="0" anchor="ctr">
            <a:normAutofit/>
          </a:bodyPr>
          <a:lstStyle/>
          <a:p>
            <a:pPr marL="0" indent="0">
              <a:buNone/>
            </a:pPr>
            <a:r>
              <a:rPr lang="en-US" sz="1170" dirty="0">
                <a:solidFill>
                  <a:srgbClr val="1F1F1F"/>
                </a:solidFill>
              </a:rPr>
              <a:t>Plantilla de acta de reunión</a:t>
            </a:r>
            <a:endParaRPr lang="en-US" sz="1170" dirty="0"/>
          </a:p>
        </p:txBody>
      </p:sp>
      <p:sp>
        <p:nvSpPr>
          <p:cNvPr id="26" name="Shape 24"/>
          <p:cNvSpPr/>
          <p:nvPr/>
        </p:nvSpPr>
        <p:spPr>
          <a:xfrm>
            <a:off x="4389120" y="4517136"/>
            <a:ext cx="182880" cy="182880"/>
          </a:xfrm>
          <a:prstGeom prst="ellipse">
            <a:avLst/>
          </a:prstGeom>
          <a:solidFill>
            <a:srgbClr val="86BC25"/>
          </a:solidFill>
          <a:ln w="12700">
            <a:solidFill>
              <a:srgbClr val="86BC25"/>
            </a:solidFill>
            <a:prstDash val="solid"/>
          </a:ln>
        </p:spPr>
      </p:sp>
      <p:sp>
        <p:nvSpPr>
          <p:cNvPr id="27" name="Text 25"/>
          <p:cNvSpPr/>
          <p:nvPr/>
        </p:nvSpPr>
        <p:spPr>
          <a:xfrm>
            <a:off x="4709160" y="4480560"/>
            <a:ext cx="3063240" cy="329184"/>
          </a:xfrm>
          <a:prstGeom prst="rect">
            <a:avLst/>
          </a:prstGeom>
          <a:noFill/>
          <a:ln/>
        </p:spPr>
        <p:txBody>
          <a:bodyPr wrap="square" lIns="0" tIns="0" rIns="0" bIns="0" rtlCol="0" anchor="ctr">
            <a:normAutofit/>
          </a:bodyPr>
          <a:lstStyle/>
          <a:p>
            <a:pPr marL="0" indent="0">
              <a:buNone/>
            </a:pPr>
            <a:r>
              <a:rPr lang="en-US" sz="1170" dirty="0">
                <a:solidFill>
                  <a:srgbClr val="1F1F1F"/>
                </a:solidFill>
              </a:rPr>
              <a:t>Guía orientativa de tiempos</a:t>
            </a:r>
            <a:endParaRPr lang="en-US" sz="1170" dirty="0"/>
          </a:p>
        </p:txBody>
      </p:sp>
      <p:sp>
        <p:nvSpPr>
          <p:cNvPr id="28" name="Shape 26"/>
          <p:cNvSpPr/>
          <p:nvPr/>
        </p:nvSpPr>
        <p:spPr>
          <a:xfrm>
            <a:off x="685800" y="5276088"/>
            <a:ext cx="10835640" cy="475488"/>
          </a:xfrm>
          <a:prstGeom prst="roundRect">
            <a:avLst>
              <a:gd name="adj" fmla="val 9615"/>
            </a:avLst>
          </a:prstGeom>
          <a:solidFill>
            <a:srgbClr val="FFF8E7"/>
          </a:solidFill>
          <a:ln w="10160">
            <a:solidFill>
              <a:srgbClr val="E7C76A"/>
            </a:solidFill>
            <a:prstDash val="solid"/>
          </a:ln>
        </p:spPr>
      </p:sp>
      <p:sp>
        <p:nvSpPr>
          <p:cNvPr id="29" name="Text 27"/>
          <p:cNvSpPr/>
          <p:nvPr/>
        </p:nvSpPr>
        <p:spPr>
          <a:xfrm>
            <a:off x="832104" y="5404104"/>
            <a:ext cx="1005840" cy="164592"/>
          </a:xfrm>
          <a:prstGeom prst="rect">
            <a:avLst/>
          </a:prstGeom>
          <a:noFill/>
          <a:ln/>
        </p:spPr>
        <p:txBody>
          <a:bodyPr wrap="square" lIns="0" tIns="0" rIns="0" bIns="0" rtlCol="0" anchor="ctr"/>
          <a:lstStyle/>
          <a:p>
            <a:pPr marL="0" indent="0">
              <a:buNone/>
            </a:pPr>
            <a:r>
              <a:rPr lang="en-US" sz="850" b="1" dirty="0">
                <a:solidFill>
                  <a:srgbClr val="8B6508"/>
                </a:solidFill>
              </a:rPr>
              <a:t>PUNTO CRÍTICO</a:t>
            </a:r>
            <a:endParaRPr lang="en-US" sz="850" dirty="0"/>
          </a:p>
        </p:txBody>
      </p:sp>
      <p:sp>
        <p:nvSpPr>
          <p:cNvPr id="30" name="Text 28"/>
          <p:cNvSpPr/>
          <p:nvPr/>
        </p:nvSpPr>
        <p:spPr>
          <a:xfrm>
            <a:off x="1874520" y="5367528"/>
            <a:ext cx="9509760" cy="256032"/>
          </a:xfrm>
          <a:prstGeom prst="rect">
            <a:avLst/>
          </a:prstGeom>
          <a:noFill/>
          <a:ln/>
        </p:spPr>
        <p:txBody>
          <a:bodyPr wrap="square" lIns="0" tIns="0" rIns="0" bIns="0" rtlCol="0" anchor="ctr">
            <a:normAutofit/>
          </a:bodyPr>
          <a:lstStyle/>
          <a:p>
            <a:pPr marL="0" indent="0">
              <a:buNone/>
            </a:pPr>
            <a:r>
              <a:rPr lang="en-US" sz="1100" dirty="0">
                <a:solidFill>
                  <a:srgbClr val="1F1F1F"/>
                </a:solidFill>
              </a:rPr>
              <a:t>La ficha resumen por capacidad integra la documentación útil que debe solicitarse y la lectura obtenida durante el pre-work. Puede utilizarse como slide de apertura para presentar lo conocido y los puntos a contrastar. El acta se completa en sesión y se formaliza para su envío en el post-work.</a:t>
            </a:r>
            <a:endParaRPr lang="en-US" sz="1100" dirty="0"/>
          </a:p>
        </p:txBody>
      </p:sp>
      <p:sp>
        <p:nvSpPr>
          <p:cNvPr id="31" name="Slide Number Placeholder 0"/>
          <p:cNvSpPr>
            <a:spLocks noGrp="1"/>
          </p:cNvSpPr>
          <p:nvPr>
            <p:ph type="sldNum" sz="quarter" idx="4294967295"/>
          </p:nvPr>
        </p:nvSpPr>
        <p:spPr>
          <a:xfrm>
            <a:off x="11686032" y="6537960"/>
            <a:ext cx="201168"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66666"/>
                </a:solidFill>
                <a:latin typeface="Aptos"/>
                <a:ea typeface="Aptos"/>
                <a:cs typeface="Apto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502920" y="310896"/>
            <a:ext cx="11064240" cy="384048"/>
          </a:xfrm>
          <a:prstGeom prst="rect">
            <a:avLst/>
          </a:prstGeom>
          <a:noFill/>
          <a:ln/>
        </p:spPr>
        <p:txBody>
          <a:bodyPr wrap="square" lIns="0" tIns="0" rIns="0" bIns="0" rtlCol="0" anchor="ctr"/>
          <a:lstStyle/>
          <a:p>
            <a:pPr marL="0" indent="0">
              <a:buNone/>
            </a:pPr>
            <a:r>
              <a:rPr lang="en-US" sz="2500" b="1" dirty="0">
                <a:solidFill>
                  <a:srgbClr val="1F1F1F"/>
                </a:solidFill>
                <a:latin typeface="Aptos Display" pitchFamily="34" charset="0"/>
                <a:ea typeface="Aptos Display" pitchFamily="34" charset="-122"/>
                <a:cs typeface="Aptos Display" pitchFamily="34" charset="-120"/>
              </a:rPr>
              <a:t>Así se debe dimensionar cada sesión</a:t>
            </a:r>
            <a:endParaRPr lang="en-US" sz="2500" dirty="0"/>
          </a:p>
        </p:txBody>
      </p:sp>
      <p:sp>
        <p:nvSpPr>
          <p:cNvPr id="3" name="Shape 1"/>
          <p:cNvSpPr/>
          <p:nvPr/>
        </p:nvSpPr>
        <p:spPr>
          <a:xfrm>
            <a:off x="502920" y="795528"/>
            <a:ext cx="594360" cy="1"/>
          </a:xfrm>
          <a:prstGeom prst="line">
            <a:avLst/>
          </a:prstGeom>
          <a:noFill/>
          <a:ln w="50800">
            <a:solidFill>
              <a:srgbClr val="86BC25"/>
            </a:solidFill>
            <a:prstDash val="solid"/>
          </a:ln>
        </p:spPr>
      </p:sp>
      <p:sp>
        <p:nvSpPr>
          <p:cNvPr id="4" name="Text 2"/>
          <p:cNvSpPr/>
          <p:nvPr/>
        </p:nvSpPr>
        <p:spPr>
          <a:xfrm>
            <a:off x="1207008" y="704088"/>
            <a:ext cx="10149840" cy="228600"/>
          </a:xfrm>
          <a:prstGeom prst="rect">
            <a:avLst/>
          </a:prstGeom>
          <a:noFill/>
          <a:ln/>
        </p:spPr>
        <p:txBody>
          <a:bodyPr wrap="square" lIns="0" tIns="0" rIns="0" bIns="0" rtlCol="0" anchor="ctr"/>
          <a:lstStyle/>
          <a:p>
            <a:pPr marL="0" indent="0">
              <a:buNone/>
            </a:pPr>
            <a:r>
              <a:rPr lang="en-US" sz="1200" dirty="0">
                <a:solidFill>
                  <a:srgbClr val="666666"/>
                </a:solidFill>
              </a:rPr>
              <a:t>Timings orientativos preparados según capacidades, subcapacidades y complejidad</a:t>
            </a:r>
            <a:endParaRPr lang="en-US" sz="1200" dirty="0"/>
          </a:p>
        </p:txBody>
      </p:sp>
      <p:sp>
        <p:nvSpPr>
          <p:cNvPr id="5" name="Shape 3"/>
          <p:cNvSpPr/>
          <p:nvPr/>
        </p:nvSpPr>
        <p:spPr>
          <a:xfrm>
            <a:off x="640080" y="1234440"/>
            <a:ext cx="914400" cy="594360"/>
          </a:xfrm>
          <a:prstGeom prst="roundRect">
            <a:avLst>
              <a:gd name="adj" fmla="val 7692"/>
            </a:avLst>
          </a:prstGeom>
          <a:solidFill>
            <a:srgbClr val="1F1F1F"/>
          </a:solidFill>
          <a:ln w="12700">
            <a:solidFill>
              <a:srgbClr val="1F1F1F"/>
            </a:solidFill>
            <a:prstDash val="solid"/>
          </a:ln>
        </p:spPr>
      </p:sp>
      <p:sp>
        <p:nvSpPr>
          <p:cNvPr id="6" name="Text 4"/>
          <p:cNvSpPr/>
          <p:nvPr/>
        </p:nvSpPr>
        <p:spPr>
          <a:xfrm>
            <a:off x="640080" y="1417320"/>
            <a:ext cx="914400" cy="164592"/>
          </a:xfrm>
          <a:prstGeom prst="rect">
            <a:avLst/>
          </a:prstGeom>
          <a:noFill/>
          <a:ln/>
        </p:spPr>
        <p:txBody>
          <a:bodyPr wrap="square" lIns="0" tIns="0" rIns="0" bIns="0" rtlCol="0" anchor="ctr"/>
          <a:lstStyle/>
          <a:p>
            <a:pPr marL="0" indent="0" algn="ctr">
              <a:buNone/>
            </a:pPr>
            <a:r>
              <a:rPr lang="en-US" sz="1100" b="1" dirty="0">
                <a:solidFill>
                  <a:srgbClr val="FFFFFF"/>
                </a:solidFill>
              </a:rPr>
              <a:t>~10%</a:t>
            </a:r>
            <a:endParaRPr lang="en-US" sz="1100" dirty="0"/>
          </a:p>
        </p:txBody>
      </p:sp>
      <p:sp>
        <p:nvSpPr>
          <p:cNvPr id="7" name="Text 5"/>
          <p:cNvSpPr/>
          <p:nvPr/>
        </p:nvSpPr>
        <p:spPr>
          <a:xfrm>
            <a:off x="1828800" y="1289304"/>
            <a:ext cx="2057400" cy="228600"/>
          </a:xfrm>
          <a:prstGeom prst="rect">
            <a:avLst/>
          </a:prstGeom>
          <a:noFill/>
          <a:ln/>
        </p:spPr>
        <p:txBody>
          <a:bodyPr wrap="square" lIns="0" tIns="0" rIns="0" bIns="0" rtlCol="0" anchor="ctr"/>
          <a:lstStyle/>
          <a:p>
            <a:pPr marL="0" indent="0">
              <a:buNone/>
            </a:pPr>
            <a:r>
              <a:rPr lang="en-US" sz="1300" b="1" dirty="0">
                <a:solidFill>
                  <a:srgbClr val="1F1F1F"/>
                </a:solidFill>
              </a:rPr>
              <a:t>Apertura y contexto</a:t>
            </a:r>
            <a:endParaRPr lang="en-US" sz="1300" dirty="0"/>
          </a:p>
        </p:txBody>
      </p:sp>
      <p:sp>
        <p:nvSpPr>
          <p:cNvPr id="8" name="Text 6"/>
          <p:cNvSpPr/>
          <p:nvPr/>
        </p:nvSpPr>
        <p:spPr>
          <a:xfrm>
            <a:off x="3931920" y="1271016"/>
            <a:ext cx="7269480" cy="329184"/>
          </a:xfrm>
          <a:prstGeom prst="rect">
            <a:avLst/>
          </a:prstGeom>
          <a:noFill/>
          <a:ln/>
        </p:spPr>
        <p:txBody>
          <a:bodyPr wrap="square" lIns="0" tIns="0" rIns="0" bIns="0" rtlCol="0" anchor="ctr">
            <a:normAutofit/>
          </a:bodyPr>
          <a:lstStyle/>
          <a:p>
            <a:pPr marL="0" indent="0">
              <a:buNone/>
            </a:pPr>
            <a:r>
              <a:rPr lang="en-US" sz="1180" dirty="0">
                <a:solidFill>
                  <a:srgbClr val="666666"/>
                </a:solidFill>
              </a:rPr>
              <a:t>Objetivo, scope, participantes, escala y dinámica de consenso.</a:t>
            </a:r>
            <a:endParaRPr lang="en-US" sz="1180" dirty="0"/>
          </a:p>
        </p:txBody>
      </p:sp>
      <p:sp>
        <p:nvSpPr>
          <p:cNvPr id="9" name="Shape 7"/>
          <p:cNvSpPr/>
          <p:nvPr/>
        </p:nvSpPr>
        <p:spPr>
          <a:xfrm>
            <a:off x="640080" y="2084832"/>
            <a:ext cx="914400" cy="594360"/>
          </a:xfrm>
          <a:prstGeom prst="roundRect">
            <a:avLst>
              <a:gd name="adj" fmla="val 7692"/>
            </a:avLst>
          </a:prstGeom>
          <a:solidFill>
            <a:srgbClr val="1F1F1F"/>
          </a:solidFill>
          <a:ln w="12700">
            <a:solidFill>
              <a:srgbClr val="1F1F1F"/>
            </a:solidFill>
            <a:prstDash val="solid"/>
          </a:ln>
        </p:spPr>
      </p:sp>
      <p:sp>
        <p:nvSpPr>
          <p:cNvPr id="10" name="Text 8"/>
          <p:cNvSpPr/>
          <p:nvPr/>
        </p:nvSpPr>
        <p:spPr>
          <a:xfrm>
            <a:off x="640080" y="2267712"/>
            <a:ext cx="914400" cy="164592"/>
          </a:xfrm>
          <a:prstGeom prst="rect">
            <a:avLst/>
          </a:prstGeom>
          <a:noFill/>
          <a:ln/>
        </p:spPr>
        <p:txBody>
          <a:bodyPr wrap="square" lIns="0" tIns="0" rIns="0" bIns="0" rtlCol="0" anchor="ctr"/>
          <a:lstStyle/>
          <a:p>
            <a:pPr marL="0" indent="0" algn="ctr">
              <a:buNone/>
            </a:pPr>
            <a:r>
              <a:rPr lang="en-US" sz="1100" b="1" dirty="0">
                <a:solidFill>
                  <a:srgbClr val="FFFFFF"/>
                </a:solidFill>
              </a:rPr>
              <a:t>~70%</a:t>
            </a:r>
            <a:endParaRPr lang="en-US" sz="1100" dirty="0"/>
          </a:p>
        </p:txBody>
      </p:sp>
      <p:sp>
        <p:nvSpPr>
          <p:cNvPr id="11" name="Text 9"/>
          <p:cNvSpPr/>
          <p:nvPr/>
        </p:nvSpPr>
        <p:spPr>
          <a:xfrm>
            <a:off x="1828800" y="2139696"/>
            <a:ext cx="2057400" cy="228600"/>
          </a:xfrm>
          <a:prstGeom prst="rect">
            <a:avLst/>
          </a:prstGeom>
          <a:noFill/>
          <a:ln/>
        </p:spPr>
        <p:txBody>
          <a:bodyPr wrap="square" lIns="0" tIns="0" rIns="0" bIns="0" rtlCol="0" anchor="ctr"/>
          <a:lstStyle/>
          <a:p>
            <a:pPr marL="0" indent="0">
              <a:buNone/>
            </a:pPr>
            <a:r>
              <a:rPr lang="en-US" sz="1300" b="1" dirty="0">
                <a:solidFill>
                  <a:srgbClr val="1F1F1F"/>
                </a:solidFill>
              </a:rPr>
              <a:t>Bloques por capacidad</a:t>
            </a:r>
            <a:endParaRPr lang="en-US" sz="1300" dirty="0"/>
          </a:p>
        </p:txBody>
      </p:sp>
      <p:sp>
        <p:nvSpPr>
          <p:cNvPr id="12" name="Text 10"/>
          <p:cNvSpPr/>
          <p:nvPr/>
        </p:nvSpPr>
        <p:spPr>
          <a:xfrm>
            <a:off x="3931920" y="2121408"/>
            <a:ext cx="7269480" cy="329184"/>
          </a:xfrm>
          <a:prstGeom prst="rect">
            <a:avLst/>
          </a:prstGeom>
          <a:noFill/>
          <a:ln/>
        </p:spPr>
        <p:txBody>
          <a:bodyPr wrap="square" lIns="0" tIns="0" rIns="0" bIns="0" rtlCol="0" anchor="ctr">
            <a:normAutofit/>
          </a:bodyPr>
          <a:lstStyle/>
          <a:p>
            <a:pPr marL="0" indent="0">
              <a:buNone/>
            </a:pPr>
            <a:r>
              <a:rPr lang="en-US" sz="1180" dirty="0">
                <a:solidFill>
                  <a:srgbClr val="666666"/>
                </a:solidFill>
              </a:rPr>
              <a:t>Asignar un timebox orientativo a cada capacidad según nº de subcapacidades y complejidad.</a:t>
            </a:r>
            <a:endParaRPr lang="en-US" sz="1180" dirty="0"/>
          </a:p>
        </p:txBody>
      </p:sp>
      <p:sp>
        <p:nvSpPr>
          <p:cNvPr id="13" name="Shape 11"/>
          <p:cNvSpPr/>
          <p:nvPr/>
        </p:nvSpPr>
        <p:spPr>
          <a:xfrm>
            <a:off x="640080" y="2935224"/>
            <a:ext cx="914400" cy="594360"/>
          </a:xfrm>
          <a:prstGeom prst="roundRect">
            <a:avLst>
              <a:gd name="adj" fmla="val 7692"/>
            </a:avLst>
          </a:prstGeom>
          <a:solidFill>
            <a:srgbClr val="86BC25"/>
          </a:solidFill>
          <a:ln w="12700">
            <a:solidFill>
              <a:srgbClr val="86BC25"/>
            </a:solidFill>
            <a:prstDash val="solid"/>
          </a:ln>
        </p:spPr>
      </p:sp>
      <p:sp>
        <p:nvSpPr>
          <p:cNvPr id="14" name="Text 12"/>
          <p:cNvSpPr/>
          <p:nvPr/>
        </p:nvSpPr>
        <p:spPr>
          <a:xfrm>
            <a:off x="640080" y="3118104"/>
            <a:ext cx="914400" cy="164592"/>
          </a:xfrm>
          <a:prstGeom prst="rect">
            <a:avLst/>
          </a:prstGeom>
          <a:noFill/>
          <a:ln/>
        </p:spPr>
        <p:txBody>
          <a:bodyPr wrap="square" lIns="0" tIns="0" rIns="0" bIns="0" rtlCol="0" anchor="ctr"/>
          <a:lstStyle/>
          <a:p>
            <a:pPr marL="0" indent="0" algn="ctr">
              <a:buNone/>
            </a:pPr>
            <a:r>
              <a:rPr lang="en-US" sz="1100" b="1" dirty="0">
                <a:solidFill>
                  <a:srgbClr val="FFFFFF"/>
                </a:solidFill>
              </a:rPr>
              <a:t>Flexible</a:t>
            </a:r>
            <a:endParaRPr lang="en-US" sz="1100" dirty="0"/>
          </a:p>
        </p:txBody>
      </p:sp>
      <p:sp>
        <p:nvSpPr>
          <p:cNvPr id="15" name="Text 13"/>
          <p:cNvSpPr/>
          <p:nvPr/>
        </p:nvSpPr>
        <p:spPr>
          <a:xfrm>
            <a:off x="1828800" y="2990088"/>
            <a:ext cx="2057400" cy="228600"/>
          </a:xfrm>
          <a:prstGeom prst="rect">
            <a:avLst/>
          </a:prstGeom>
          <a:noFill/>
          <a:ln/>
        </p:spPr>
        <p:txBody>
          <a:bodyPr wrap="square" lIns="0" tIns="0" rIns="0" bIns="0" rtlCol="0" anchor="ctr"/>
          <a:lstStyle/>
          <a:p>
            <a:pPr marL="0" indent="0">
              <a:buNone/>
            </a:pPr>
            <a:r>
              <a:rPr lang="en-US" sz="1300" b="1" dirty="0">
                <a:solidFill>
                  <a:srgbClr val="1F1F1F"/>
                </a:solidFill>
              </a:rPr>
              <a:t>Gestión de excepciones</a:t>
            </a:r>
            <a:endParaRPr lang="en-US" sz="1300" dirty="0"/>
          </a:p>
        </p:txBody>
      </p:sp>
      <p:sp>
        <p:nvSpPr>
          <p:cNvPr id="16" name="Text 14"/>
          <p:cNvSpPr/>
          <p:nvPr/>
        </p:nvSpPr>
        <p:spPr>
          <a:xfrm>
            <a:off x="3931920" y="2971800"/>
            <a:ext cx="7269480" cy="329184"/>
          </a:xfrm>
          <a:prstGeom prst="rect">
            <a:avLst/>
          </a:prstGeom>
          <a:noFill/>
          <a:ln/>
        </p:spPr>
        <p:txBody>
          <a:bodyPr wrap="square" lIns="0" tIns="0" rIns="0" bIns="0" rtlCol="0" anchor="ctr">
            <a:normAutofit/>
          </a:bodyPr>
          <a:lstStyle/>
          <a:p>
            <a:pPr marL="0" indent="0">
              <a:buNone/>
            </a:pPr>
            <a:r>
              <a:rPr lang="en-US" sz="1180" dirty="0">
                <a:solidFill>
                  <a:srgbClr val="666666"/>
                </a:solidFill>
              </a:rPr>
              <a:t>Reservar margen para capacidades complejas o dispersión alta sin romper toda la agenda.</a:t>
            </a:r>
            <a:endParaRPr lang="en-US" sz="1180" dirty="0"/>
          </a:p>
        </p:txBody>
      </p:sp>
      <p:sp>
        <p:nvSpPr>
          <p:cNvPr id="17" name="Shape 15"/>
          <p:cNvSpPr/>
          <p:nvPr/>
        </p:nvSpPr>
        <p:spPr>
          <a:xfrm>
            <a:off x="640080" y="3785616"/>
            <a:ext cx="914400" cy="594360"/>
          </a:xfrm>
          <a:prstGeom prst="roundRect">
            <a:avLst>
              <a:gd name="adj" fmla="val 7692"/>
            </a:avLst>
          </a:prstGeom>
          <a:solidFill>
            <a:srgbClr val="1F1F1F"/>
          </a:solidFill>
          <a:ln w="12700">
            <a:solidFill>
              <a:srgbClr val="1F1F1F"/>
            </a:solidFill>
            <a:prstDash val="solid"/>
          </a:ln>
        </p:spPr>
      </p:sp>
      <p:sp>
        <p:nvSpPr>
          <p:cNvPr id="18" name="Text 16"/>
          <p:cNvSpPr/>
          <p:nvPr/>
        </p:nvSpPr>
        <p:spPr>
          <a:xfrm>
            <a:off x="640080" y="3968496"/>
            <a:ext cx="914400" cy="164592"/>
          </a:xfrm>
          <a:prstGeom prst="rect">
            <a:avLst/>
          </a:prstGeom>
          <a:noFill/>
          <a:ln/>
        </p:spPr>
        <p:txBody>
          <a:bodyPr wrap="square" lIns="0" tIns="0" rIns="0" bIns="0" rtlCol="0" anchor="ctr"/>
          <a:lstStyle/>
          <a:p>
            <a:pPr marL="0" indent="0" algn="ctr">
              <a:buNone/>
            </a:pPr>
            <a:r>
              <a:rPr lang="en-US" sz="1100" b="1" dirty="0">
                <a:solidFill>
                  <a:srgbClr val="FFFFFF"/>
                </a:solidFill>
              </a:rPr>
              <a:t>~10%</a:t>
            </a:r>
            <a:endParaRPr lang="en-US" sz="1100" dirty="0"/>
          </a:p>
        </p:txBody>
      </p:sp>
      <p:sp>
        <p:nvSpPr>
          <p:cNvPr id="19" name="Text 17"/>
          <p:cNvSpPr/>
          <p:nvPr/>
        </p:nvSpPr>
        <p:spPr>
          <a:xfrm>
            <a:off x="1828800" y="3840480"/>
            <a:ext cx="2057400" cy="228600"/>
          </a:xfrm>
          <a:prstGeom prst="rect">
            <a:avLst/>
          </a:prstGeom>
          <a:noFill/>
          <a:ln/>
        </p:spPr>
        <p:txBody>
          <a:bodyPr wrap="square" lIns="0" tIns="0" rIns="0" bIns="0" rtlCol="0" anchor="ctr"/>
          <a:lstStyle/>
          <a:p>
            <a:pPr marL="0" indent="0">
              <a:buNone/>
            </a:pPr>
            <a:r>
              <a:rPr lang="en-US" sz="1300" b="1" dirty="0">
                <a:solidFill>
                  <a:srgbClr val="1F1F1F"/>
                </a:solidFill>
              </a:rPr>
              <a:t>Lectura transversal</a:t>
            </a:r>
            <a:endParaRPr lang="en-US" sz="1300" dirty="0"/>
          </a:p>
        </p:txBody>
      </p:sp>
      <p:sp>
        <p:nvSpPr>
          <p:cNvPr id="20" name="Text 18"/>
          <p:cNvSpPr/>
          <p:nvPr/>
        </p:nvSpPr>
        <p:spPr>
          <a:xfrm>
            <a:off x="3931920" y="3822192"/>
            <a:ext cx="7269480" cy="329184"/>
          </a:xfrm>
          <a:prstGeom prst="rect">
            <a:avLst/>
          </a:prstGeom>
          <a:noFill/>
          <a:ln/>
        </p:spPr>
        <p:txBody>
          <a:bodyPr wrap="square" lIns="0" tIns="0" rIns="0" bIns="0" rtlCol="0" anchor="ctr">
            <a:normAutofit/>
          </a:bodyPr>
          <a:lstStyle/>
          <a:p>
            <a:pPr marL="0" indent="0">
              <a:buNone/>
            </a:pPr>
            <a:r>
              <a:rPr lang="en-US" sz="1180" dirty="0">
                <a:solidFill>
                  <a:srgbClr val="666666"/>
                </a:solidFill>
              </a:rPr>
              <a:t>Fortalezas, gaps, diferencias de adopción y temas comunes.</a:t>
            </a:r>
            <a:endParaRPr lang="en-US" sz="1180" dirty="0"/>
          </a:p>
        </p:txBody>
      </p:sp>
      <p:sp>
        <p:nvSpPr>
          <p:cNvPr id="21" name="Shape 19"/>
          <p:cNvSpPr/>
          <p:nvPr/>
        </p:nvSpPr>
        <p:spPr>
          <a:xfrm>
            <a:off x="640080" y="4636008"/>
            <a:ext cx="914400" cy="594360"/>
          </a:xfrm>
          <a:prstGeom prst="roundRect">
            <a:avLst>
              <a:gd name="adj" fmla="val 7692"/>
            </a:avLst>
          </a:prstGeom>
          <a:solidFill>
            <a:srgbClr val="1F1F1F"/>
          </a:solidFill>
          <a:ln w="12700">
            <a:solidFill>
              <a:srgbClr val="1F1F1F"/>
            </a:solidFill>
            <a:prstDash val="solid"/>
          </a:ln>
        </p:spPr>
      </p:sp>
      <p:sp>
        <p:nvSpPr>
          <p:cNvPr id="22" name="Text 20"/>
          <p:cNvSpPr/>
          <p:nvPr/>
        </p:nvSpPr>
        <p:spPr>
          <a:xfrm>
            <a:off x="640080" y="4818888"/>
            <a:ext cx="914400" cy="164592"/>
          </a:xfrm>
          <a:prstGeom prst="rect">
            <a:avLst/>
          </a:prstGeom>
          <a:noFill/>
          <a:ln/>
        </p:spPr>
        <p:txBody>
          <a:bodyPr wrap="square" lIns="0" tIns="0" rIns="0" bIns="0" rtlCol="0" anchor="ctr"/>
          <a:lstStyle/>
          <a:p>
            <a:pPr marL="0" indent="0" algn="ctr">
              <a:buNone/>
            </a:pPr>
            <a:r>
              <a:rPr lang="en-US" sz="1100" b="1" dirty="0">
                <a:solidFill>
                  <a:srgbClr val="FFFFFF"/>
                </a:solidFill>
              </a:rPr>
              <a:t>~10%</a:t>
            </a:r>
            <a:endParaRPr lang="en-US" sz="1100" dirty="0"/>
          </a:p>
        </p:txBody>
      </p:sp>
      <p:sp>
        <p:nvSpPr>
          <p:cNvPr id="23" name="Text 21"/>
          <p:cNvSpPr/>
          <p:nvPr/>
        </p:nvSpPr>
        <p:spPr>
          <a:xfrm>
            <a:off x="1828800" y="4690872"/>
            <a:ext cx="2057400" cy="228600"/>
          </a:xfrm>
          <a:prstGeom prst="rect">
            <a:avLst/>
          </a:prstGeom>
          <a:noFill/>
          <a:ln/>
        </p:spPr>
        <p:txBody>
          <a:bodyPr wrap="square" lIns="0" tIns="0" rIns="0" bIns="0" rtlCol="0" anchor="ctr"/>
          <a:lstStyle/>
          <a:p>
            <a:pPr marL="0" indent="0">
              <a:buNone/>
            </a:pPr>
            <a:r>
              <a:rPr lang="en-US" sz="1300" b="1" dirty="0">
                <a:solidFill>
                  <a:srgbClr val="1F1F1F"/>
                </a:solidFill>
              </a:rPr>
              <a:t>Cierre</a:t>
            </a:r>
            <a:endParaRPr lang="en-US" sz="1300" dirty="0"/>
          </a:p>
        </p:txBody>
      </p:sp>
      <p:sp>
        <p:nvSpPr>
          <p:cNvPr id="24" name="Text 22"/>
          <p:cNvSpPr/>
          <p:nvPr/>
        </p:nvSpPr>
        <p:spPr>
          <a:xfrm>
            <a:off x="3931920" y="4672584"/>
            <a:ext cx="7269480" cy="329184"/>
          </a:xfrm>
          <a:prstGeom prst="rect">
            <a:avLst/>
          </a:prstGeom>
          <a:noFill/>
          <a:ln/>
        </p:spPr>
        <p:txBody>
          <a:bodyPr wrap="square" lIns="0" tIns="0" rIns="0" bIns="0" rtlCol="0" anchor="ctr">
            <a:normAutofit/>
          </a:bodyPr>
          <a:lstStyle/>
          <a:p>
            <a:pPr marL="0" indent="0">
              <a:buNone/>
            </a:pPr>
            <a:r>
              <a:rPr lang="en-US" sz="1180" dirty="0">
                <a:solidFill>
                  <a:srgbClr val="666666"/>
                </a:solidFill>
              </a:rPr>
              <a:t>Recap de scores acordados, evidencias citadas, decisiones y próximos pasos.</a:t>
            </a:r>
            <a:endParaRPr lang="en-US" sz="1180" dirty="0"/>
          </a:p>
        </p:txBody>
      </p:sp>
      <p:sp>
        <p:nvSpPr>
          <p:cNvPr id="25" name="Shape 23"/>
          <p:cNvSpPr/>
          <p:nvPr/>
        </p:nvSpPr>
        <p:spPr>
          <a:xfrm>
            <a:off x="640080" y="5532120"/>
            <a:ext cx="10972800" cy="502920"/>
          </a:xfrm>
          <a:prstGeom prst="roundRect">
            <a:avLst>
              <a:gd name="adj" fmla="val 7273"/>
            </a:avLst>
          </a:prstGeom>
          <a:solidFill>
            <a:srgbClr val="F2F7E9"/>
          </a:solidFill>
          <a:ln w="10160">
            <a:solidFill>
              <a:srgbClr val="C9DCA2"/>
            </a:solidFill>
            <a:prstDash val="solid"/>
          </a:ln>
        </p:spPr>
      </p:sp>
      <p:sp>
        <p:nvSpPr>
          <p:cNvPr id="26" name="Text 24"/>
          <p:cNvSpPr/>
          <p:nvPr/>
        </p:nvSpPr>
        <p:spPr>
          <a:xfrm>
            <a:off x="914400" y="5678424"/>
            <a:ext cx="10424160" cy="182880"/>
          </a:xfrm>
          <a:prstGeom prst="rect">
            <a:avLst/>
          </a:prstGeom>
          <a:noFill/>
          <a:ln/>
        </p:spPr>
        <p:txBody>
          <a:bodyPr wrap="square" lIns="0" tIns="0" rIns="0" bIns="0" rtlCol="0" anchor="ctr"/>
          <a:lstStyle/>
          <a:p>
            <a:pPr marL="0" indent="0" algn="ctr">
              <a:buNone/>
            </a:pPr>
            <a:r>
              <a:rPr lang="en-US" sz="1200" b="1" dirty="0">
                <a:solidFill>
                  <a:srgbClr val="527A12"/>
                </a:solidFill>
              </a:rPr>
              <a:t>TIP DE PREPARACIÓN = distribuir el tiempo antes de la sesión: p. ej., 6 capacidades × ~20 min, más introducción y cierre, ajustando por complejidad</a:t>
            </a:r>
            <a:endParaRPr lang="en-US" sz="1200" dirty="0"/>
          </a:p>
        </p:txBody>
      </p:sp>
      <p:sp>
        <p:nvSpPr>
          <p:cNvPr id="27" name="Slide Number Placeholder 0"/>
          <p:cNvSpPr>
            <a:spLocks noGrp="1"/>
          </p:cNvSpPr>
          <p:nvPr>
            <p:ph type="sldNum" sz="quarter" idx="4294967295"/>
          </p:nvPr>
        </p:nvSpPr>
        <p:spPr>
          <a:xfrm>
            <a:off x="11686032" y="6537960"/>
            <a:ext cx="201168"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66666"/>
                </a:solidFill>
                <a:latin typeface="Aptos"/>
                <a:ea typeface="Aptos"/>
                <a:cs typeface="Aptos"/>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a60d57e-af5b-4752-ac57-3e4f28ca11dc}" enabled="1" method="Privilege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Finance Strategy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Finance Maturity Assessment | Enfoque de sesiones</dc:title>
  <dc:subject>Metodología de sesiones para Finance Maturity Assessment</dc:subject>
  <dc:creator>Hernandez Luis, Eduardo</dc:creator>
  <cp:lastModifiedBy>Hernandez Luis, Eduardo</cp:lastModifiedBy>
  <cp:revision>6</cp:revision>
  <dcterms:created xsi:type="dcterms:W3CDTF">2026-10-23T10:26:46Z</dcterms:created>
  <dcterms:modified xsi:type="dcterms:W3CDTF">2026-10-26T16:35:40Z</dcterms:modified>
</cp:coreProperties>
</file>